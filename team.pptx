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905695" cy="6858000"/>
  <p:notesSz cx="6858000" cy="9905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06cec301-2b34-8b2e-3f9b-70a6914a8764}">
          <p14:sldIdLst>
            <p14:sldId id="256"/>
            <p14:sldId id="257"/>
          </p14:sldIdLst>
        </p14:section>
        <p14:section name="チームの20年" id="{ba87a4d6-ac93-fd60-09dc-36be4e95d926}">
          <p14:sldIdLst>
            <p14:sldId id="258"/>
          </p14:sldIdLst>
        </p14:section>
        <p14:section name="統合のきっかけ" id="{fc9034e6-2854-2756-1323-34364a9ef0a7}">
          <p14:sldIdLst>
            <p14:sldId id="259"/>
            <p14:sldId id="260"/>
            <p14:sldId id="261"/>
            <p14:sldId id="262"/>
          </p14:sldIdLst>
        </p14:section>
        <p14:section name="やってきたこと" id="{af74fe73-0def-f3d9-e5d1-e9da1e2ab831}">
          <p14:sldIdLst>
            <p14:sldId id="263"/>
            <p14:sldId id="264"/>
            <p14:sldId id="265"/>
          </p14:sldIdLst>
        </p14:section>
        <p14:section name="課題と次の一手" id="{38ec850a-b5b0-a93d-7feb-50ed51a7d594}">
          <p14:sldIdLst>
            <p14:sldId id="266"/>
            <p14:sldId id="267"/>
            <p14:sldId id="268"/>
          </p14:sldIdLst>
        </p14:section>
        <p14:section name="まとめ" id="{203ecc83-f855-f29b-1e44-24fd5e903437}">
          <p14:sldIdLst>
            <p14:sldId id="269"/>
            <p14:sldId id="270"/>
          </p14:sldIdLst>
        </p14:section>
        <p14:section name="付録" id="{9bf25f8d-4349-b6c4-ae1a-dcbc65bb19e0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認定の作業</c:v>
                </c:pt>
              </c:strCache>
            </c:strRef>
          </c:tx>
          <c:spPr>
            <a:solidFill>
              <a:srgbClr val="008A9E"/>
            </a:solidFill>
            <a:ln w="31750" cap="flat">
              <a:solidFill>
                <a:srgbClr val="008A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8A9E"/>
              </a:solidFill>
              <a:ln w="9525" cap="flat">
                <a:solidFill>
                  <a:srgbClr val="008A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9月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</c:v>
                </c:pt>
                <c:pt idx="1">
                  <c:v>55</c:v>
                </c:pt>
                <c:pt idx="2">
                  <c:v>57</c:v>
                </c:pt>
                <c:pt idx="3">
                  <c:v>59</c:v>
                </c:pt>
                <c:pt idx="4">
                  <c:v>45</c:v>
                </c:pt>
                <c:pt idx="5">
                  <c:v>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研修・マニュアル確認・ミーティング</c:v>
                </c:pt>
              </c:strCache>
            </c:strRef>
          </c:tx>
          <c:spPr>
            <a:solidFill>
              <a:srgbClr val="D9661A"/>
            </a:solidFill>
            <a:ln w="31750" cap="flat">
              <a:solidFill>
                <a:srgbClr val="D966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661A"/>
              </a:solidFill>
              <a:ln w="9525" cap="flat">
                <a:solidFill>
                  <a:srgbClr val="D966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9月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14</c:v>
                </c:pt>
                <c:pt idx="5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3E7E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defRPr>
            </a:lvl1pPr>
          </a:lstStyle>
          <a:p>
            <a:pPr algn="l" indent="0" marL="0">
              <a:buNone/>
            </a:pPr>
            <a:endParaRPr lang="ja-JP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正規職員チーム</a:t>
            </a:r>
            <a:endParaRPr lang="ja-JP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4754880" cy="4754880"/>
          </a:xfrm>
          <a:prstGeom prst="ellipse">
            <a:avLst/>
          </a:prstGeom>
          <a:solidFill>
            <a:srgbClr val="1B6B78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06240"/>
            <a:ext cx="3108960" cy="3108960"/>
          </a:xfrm>
          <a:prstGeom prst="ellipse">
            <a:avLst/>
          </a:prstGeom>
          <a:solidFill>
            <a:srgbClr val="2C8C99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F2B27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正規職員チーム紹介</a:t>
            </a:r>
            <a:endParaRPr lang="ja-JP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正規職員チームの</a:t>
            </a:r>
            <a:endParaRPr lang="ja-JP" sz="4000" dirty="0"/>
          </a:p>
          <a:p>
            <a:pPr indent="0" marL="0">
              <a:buNone/>
            </a:pPr>
            <a:r>
              <a:rPr lang="ja-JP" altLang="en-US" sz="4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変遷とこれから</a:t>
            </a:r>
            <a:endParaRPr lang="ja-JP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dirty="0">
                <a:solidFill>
                  <a:srgbClr val="D6E8E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統合のきっかけと、いま取り組んでいること</a:t>
            </a:r>
            <a:endParaRPr lang="ja-JP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D6E8E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2026年10月　正規職員チーム</a:t>
            </a:r>
            <a:endParaRPr lang="ja-JP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今日お伝えしたいこと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808415" cy="1325880"/>
          </a:xfrm>
          <a:prstGeom prst="roundRect">
            <a:avLst>
              <a:gd name="adj" fmla="val 5517"/>
            </a:avLst>
          </a:prstGeom>
          <a:solidFill>
            <a:srgbClr val="F1F6F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0E4F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554480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075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いま</a:t>
            </a:r>
            <a:endParaRPr lang="ja-JP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788920" y="1325880"/>
            <a:ext cx="62938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8月、工数の偏りを解消するために、認定と電話対応を統合しました。</a:t>
            </a:r>
            <a:endParaRPr lang="ja-JP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電話に出られる人は </a:t>
            </a:r>
            <a:pPr indent="0" marL="0">
              <a:lnSpc>
                <a:spcPct val="130000"/>
              </a:lnSpc>
              <a:buNone/>
            </a:pPr>
            <a:r>
              <a:rPr lang="ja-JP" altLang="en-US" sz="155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4人 → 7人</a:t>
            </a:r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 になりました。</a:t>
            </a:r>
            <a:endParaRPr lang="ja-JP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あわせて、業務の仕組み化にも取り組んでいます。</a:t>
            </a:r>
            <a:endParaRPr lang="ja-JP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8808415" cy="1325880"/>
          </a:xfrm>
          <a:prstGeom prst="roundRect">
            <a:avLst>
              <a:gd name="adj" fmla="val 5517"/>
            </a:avLst>
          </a:prstGeom>
          <a:solidFill>
            <a:srgbClr val="F1F6F7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34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0E4F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3063240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5844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次の3か月</a:t>
            </a:r>
            <a:endParaRPr lang="ja-JP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2834640"/>
            <a:ext cx="62938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残案件やゴール、進み具合を、</a:t>
            </a:r>
            <a:endParaRPr lang="ja-JP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チーム内で見えるようにします。</a:t>
            </a:r>
            <a:endParaRPr lang="ja-JP" sz="15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8808415" cy="132588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" y="43434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D9661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572000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50932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お願い</a:t>
            </a:r>
            <a:endParaRPr lang="ja-JP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2788920" y="4343400"/>
            <a:ext cx="62938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いまは、お互いのチームの状況がよく見えていません。</a:t>
            </a:r>
            <a:endParaRPr lang="ja-JP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共有の仕組みができたら、ぜひ協力をお願いします。</a:t>
            </a:r>
            <a:endParaRPr lang="ja-JP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この20年の業務の変遷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874520"/>
            <a:ext cx="7162495" cy="0"/>
          </a:xfrm>
          <a:prstGeom prst="line">
            <a:avLst/>
          </a:prstGeom>
          <a:noFill/>
          <a:ln w="25400">
            <a:solidFill>
              <a:srgbClr val="C9D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52728" y="1755648"/>
            <a:ext cx="237744" cy="237744"/>
          </a:xfrm>
          <a:prstGeom prst="ellipse">
            <a:avLst/>
          </a:prstGeom>
          <a:solidFill>
            <a:srgbClr val="0E4F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約20年前</a:t>
            </a:r>
            <a:endParaRPr lang="ja-JP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プロジェクトチーム</a:t>
            </a:r>
            <a:endParaRPr lang="ja-JP" sz="1200" dirty="0"/>
          </a:p>
          <a:p>
            <a:pPr algn="ctr"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立ち上げ</a:t>
            </a:r>
            <a:endParaRPr lang="ja-JP" sz="1200" dirty="0"/>
          </a:p>
        </p:txBody>
      </p:sp>
      <p:sp>
        <p:nvSpPr>
          <p:cNvPr id="7" name="Shape 5"/>
          <p:cNvSpPr/>
          <p:nvPr/>
        </p:nvSpPr>
        <p:spPr>
          <a:xfrm>
            <a:off x="3043352" y="1755648"/>
            <a:ext cx="237744" cy="237744"/>
          </a:xfrm>
          <a:prstGeom prst="ellipse">
            <a:avLst/>
          </a:prstGeom>
          <a:solidFill>
            <a:srgbClr val="0E4F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39264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2021年</a:t>
            </a:r>
            <a:endParaRPr lang="ja-JP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93544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財形貯蓄</a:t>
            </a:r>
            <a:endParaRPr lang="ja-JP" sz="1200" dirty="0"/>
          </a:p>
          <a:p>
            <a:pPr algn="ctr"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廃止</a:t>
            </a:r>
            <a:endParaRPr lang="ja-JP" sz="1200" dirty="0"/>
          </a:p>
        </p:txBody>
      </p:sp>
      <p:sp>
        <p:nvSpPr>
          <p:cNvPr id="10" name="Shape 8"/>
          <p:cNvSpPr/>
          <p:nvPr/>
        </p:nvSpPr>
        <p:spPr>
          <a:xfrm>
            <a:off x="4833976" y="1755648"/>
            <a:ext cx="237744" cy="237744"/>
          </a:xfrm>
          <a:prstGeom prst="ellipse">
            <a:avLst/>
          </a:prstGeom>
          <a:solidFill>
            <a:srgbClr val="0E4F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29888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2022年</a:t>
            </a:r>
            <a:endParaRPr lang="ja-JP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84168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共通物品</a:t>
            </a:r>
            <a:endParaRPr lang="ja-JP" sz="1200" dirty="0"/>
          </a:p>
          <a:p>
            <a:pPr algn="ctr"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廃止</a:t>
            </a:r>
            <a:endParaRPr lang="ja-JP" sz="1200" dirty="0"/>
          </a:p>
        </p:txBody>
      </p:sp>
      <p:sp>
        <p:nvSpPr>
          <p:cNvPr id="13" name="Shape 11"/>
          <p:cNvSpPr/>
          <p:nvPr/>
        </p:nvSpPr>
        <p:spPr>
          <a:xfrm>
            <a:off x="6624599" y="1755648"/>
            <a:ext cx="237744" cy="237744"/>
          </a:xfrm>
          <a:prstGeom prst="ellipse">
            <a:avLst/>
          </a:prstGeom>
          <a:solidFill>
            <a:srgbClr val="D966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20511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2026年8月</a:t>
            </a:r>
            <a:endParaRPr lang="ja-JP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74791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認定と電話対応を</a:t>
            </a:r>
            <a:endParaRPr lang="ja-JP" sz="1200" dirty="0"/>
          </a:p>
          <a:p>
            <a:pPr algn="ctr"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統合</a:t>
            </a:r>
            <a:endParaRPr lang="ja-JP" sz="1200" dirty="0"/>
          </a:p>
        </p:txBody>
      </p:sp>
      <p:sp>
        <p:nvSpPr>
          <p:cNvPr id="16" name="Shape 14"/>
          <p:cNvSpPr/>
          <p:nvPr/>
        </p:nvSpPr>
        <p:spPr>
          <a:xfrm>
            <a:off x="8415223" y="1755648"/>
            <a:ext cx="237744" cy="237744"/>
          </a:xfrm>
          <a:prstGeom prst="ellipse">
            <a:avLst/>
          </a:prstGeom>
          <a:solidFill>
            <a:srgbClr val="0E4F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11135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2027年〜</a:t>
            </a:r>
            <a:endParaRPr lang="ja-JP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65415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被服貸与を</a:t>
            </a:r>
            <a:endParaRPr lang="ja-JP" sz="1200" dirty="0"/>
          </a:p>
          <a:p>
            <a:pPr algn="ctr"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年1回に</a:t>
            </a:r>
            <a:endParaRPr lang="ja-JP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063240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担ってきた主な業務（それぞれの認定と、システム操作の電話対応）</a:t>
            </a:r>
            <a:endParaRPr lang="ja-JP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30975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※開始年は不明、廃止・変更年は概数</a:t>
            </a:r>
            <a:endParaRPr lang="ja-JP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2064944" cy="777240"/>
          </a:xfrm>
          <a:prstGeom prst="roundRect">
            <a:avLst>
              <a:gd name="adj" fmla="val 9412"/>
            </a:avLst>
          </a:prstGeom>
          <a:solidFill>
            <a:srgbClr val="F1F6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3630168"/>
            <a:ext cx="173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給与手当</a:t>
            </a:r>
            <a:endParaRPr lang="ja-JP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3977640"/>
            <a:ext cx="173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2C8C9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継続</a:t>
            </a:r>
            <a:endParaRPr lang="ja-JP" sz="1100" dirty="0"/>
          </a:p>
        </p:txBody>
      </p:sp>
      <p:sp>
        <p:nvSpPr>
          <p:cNvPr id="24" name="Shape 22"/>
          <p:cNvSpPr/>
          <p:nvPr/>
        </p:nvSpPr>
        <p:spPr>
          <a:xfrm>
            <a:off x="2796464" y="3520440"/>
            <a:ext cx="2064944" cy="777240"/>
          </a:xfrm>
          <a:prstGeom prst="roundRect">
            <a:avLst>
              <a:gd name="adj" fmla="val 9412"/>
            </a:avLst>
          </a:prstGeom>
          <a:solidFill>
            <a:srgbClr val="F1F6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961056" y="3630168"/>
            <a:ext cx="173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勤怠・出勤簿</a:t>
            </a:r>
            <a:endParaRPr lang="ja-JP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961056" y="3977640"/>
            <a:ext cx="173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2C8C9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継続</a:t>
            </a:r>
            <a:endParaRPr lang="ja-JP" sz="1100" dirty="0"/>
          </a:p>
        </p:txBody>
      </p:sp>
      <p:sp>
        <p:nvSpPr>
          <p:cNvPr id="27" name="Shape 25"/>
          <p:cNvSpPr/>
          <p:nvPr/>
        </p:nvSpPr>
        <p:spPr>
          <a:xfrm>
            <a:off x="5044288" y="3520440"/>
            <a:ext cx="2064944" cy="777240"/>
          </a:xfrm>
          <a:prstGeom prst="roundRect">
            <a:avLst>
              <a:gd name="adj" fmla="val 9412"/>
            </a:avLst>
          </a:prstGeom>
          <a:solidFill>
            <a:srgbClr val="F1F6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08880" y="3630168"/>
            <a:ext cx="173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年末調整</a:t>
            </a:r>
            <a:endParaRPr lang="ja-JP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208880" y="3977640"/>
            <a:ext cx="173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2C8C9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継続</a:t>
            </a:r>
            <a:endParaRPr lang="ja-JP" sz="1100" dirty="0"/>
          </a:p>
        </p:txBody>
      </p:sp>
      <p:sp>
        <p:nvSpPr>
          <p:cNvPr id="30" name="Shape 28"/>
          <p:cNvSpPr/>
          <p:nvPr/>
        </p:nvSpPr>
        <p:spPr>
          <a:xfrm>
            <a:off x="7292111" y="3520440"/>
            <a:ext cx="2064944" cy="777240"/>
          </a:xfrm>
          <a:prstGeom prst="roundRect">
            <a:avLst>
              <a:gd name="adj" fmla="val 9412"/>
            </a:avLst>
          </a:prstGeom>
          <a:solidFill>
            <a:srgbClr val="F1F6F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56703" y="3630168"/>
            <a:ext cx="173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新採用</a:t>
            </a:r>
            <a:endParaRPr lang="ja-JP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456703" y="3977640"/>
            <a:ext cx="173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2C8C9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継続</a:t>
            </a:r>
            <a:endParaRPr lang="ja-JP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462272"/>
            <a:ext cx="2064944" cy="777240"/>
          </a:xfrm>
          <a:prstGeom prst="roundRect">
            <a:avLst>
              <a:gd name="adj" fmla="val 9412"/>
            </a:avLst>
          </a:prstGeom>
          <a:solidFill>
            <a:srgbClr val="F1F6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" y="4572000"/>
            <a:ext cx="173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被服貸与</a:t>
            </a:r>
            <a:endParaRPr lang="ja-JP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4919472"/>
            <a:ext cx="173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2027〜年1回</a:t>
            </a:r>
            <a:endParaRPr lang="ja-JP" sz="1100" dirty="0"/>
          </a:p>
        </p:txBody>
      </p:sp>
      <p:sp>
        <p:nvSpPr>
          <p:cNvPr id="36" name="Shape 34"/>
          <p:cNvSpPr/>
          <p:nvPr/>
        </p:nvSpPr>
        <p:spPr>
          <a:xfrm>
            <a:off x="2796464" y="4462272"/>
            <a:ext cx="2064944" cy="777240"/>
          </a:xfrm>
          <a:prstGeom prst="roundRect">
            <a:avLst>
              <a:gd name="adj" fmla="val 9412"/>
            </a:avLst>
          </a:prstGeom>
          <a:solidFill>
            <a:srgbClr val="EEF1F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961056" y="4572000"/>
            <a:ext cx="173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共通物品</a:t>
            </a:r>
            <a:endParaRPr lang="ja-JP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2961056" y="4919472"/>
            <a:ext cx="173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2022 廃止</a:t>
            </a:r>
            <a:endParaRPr lang="ja-JP" sz="1100" dirty="0"/>
          </a:p>
        </p:txBody>
      </p:sp>
      <p:sp>
        <p:nvSpPr>
          <p:cNvPr id="39" name="Shape 37"/>
          <p:cNvSpPr/>
          <p:nvPr/>
        </p:nvSpPr>
        <p:spPr>
          <a:xfrm>
            <a:off x="5044288" y="4462272"/>
            <a:ext cx="2064944" cy="777240"/>
          </a:xfrm>
          <a:prstGeom prst="roundRect">
            <a:avLst>
              <a:gd name="adj" fmla="val 9412"/>
            </a:avLst>
          </a:prstGeom>
          <a:solidFill>
            <a:srgbClr val="EEF1F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208880" y="4572000"/>
            <a:ext cx="173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財形貯蓄</a:t>
            </a:r>
            <a:endParaRPr lang="ja-JP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208880" y="4919472"/>
            <a:ext cx="173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2021 廃止</a:t>
            </a:r>
            <a:endParaRPr lang="ja-JP" sz="1100" dirty="0"/>
          </a:p>
        </p:txBody>
      </p:sp>
      <p:sp>
        <p:nvSpPr>
          <p:cNvPr id="42" name="Shape 40"/>
          <p:cNvSpPr/>
          <p:nvPr/>
        </p:nvSpPr>
        <p:spPr>
          <a:xfrm>
            <a:off x="7292111" y="4462272"/>
            <a:ext cx="2064944" cy="777240"/>
          </a:xfrm>
          <a:prstGeom prst="roundRect">
            <a:avLst>
              <a:gd name="adj" fmla="val 9412"/>
            </a:avLst>
          </a:prstGeom>
          <a:solidFill>
            <a:srgbClr val="F1F6F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456703" y="4572000"/>
            <a:ext cx="173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ほか多数</a:t>
            </a:r>
            <a:endParaRPr lang="ja-JP" sz="1500" dirty="0"/>
          </a:p>
        </p:txBody>
      </p:sp>
      <p:sp>
        <p:nvSpPr>
          <p:cNvPr id="44" name="Shape 42"/>
          <p:cNvSpPr/>
          <p:nvPr/>
        </p:nvSpPr>
        <p:spPr>
          <a:xfrm>
            <a:off x="548640" y="5486400"/>
            <a:ext cx="8808415" cy="548640"/>
          </a:xfrm>
          <a:prstGeom prst="roundRect">
            <a:avLst>
              <a:gd name="adj" fmla="val 13333"/>
            </a:avLst>
          </a:prstGeom>
          <a:solidFill>
            <a:srgbClr val="FCEBD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77240" y="5486400"/>
            <a:ext cx="8351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業務や制度が変わるたびに、個人の経験で対応してきた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統合のきっかけ：チーム内の工数の偏り</a:t>
            </a:r>
            <a:endParaRPr lang="ja-JP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統合前のイメージ（1週間）</a:t>
            </a:r>
            <a:endParaRPr lang="ja-JP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6002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月</a:t>
            </a:r>
            <a:endParaRPr lang="ja-JP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779776" y="16002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火</a:t>
            </a:r>
            <a:endParaRPr lang="ja-JP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39312" y="16002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水</a:t>
            </a:r>
            <a:endParaRPr lang="ja-JP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98848" y="16002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木</a:t>
            </a:r>
            <a:endParaRPr lang="ja-JP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58384" y="16002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金</a:t>
            </a:r>
            <a:endParaRPr lang="ja-JP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659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認定担当</a:t>
            </a:r>
            <a:endParaRPr lang="ja-JP" sz="1400" dirty="0"/>
          </a:p>
        </p:txBody>
      </p:sp>
      <p:sp>
        <p:nvSpPr>
          <p:cNvPr id="10" name="Shape 8"/>
          <p:cNvSpPr/>
          <p:nvPr/>
        </p:nvSpPr>
        <p:spPr>
          <a:xfrm>
            <a:off x="1920240" y="1965960"/>
            <a:ext cx="786384" cy="685800"/>
          </a:xfrm>
          <a:prstGeom prst="roundRect">
            <a:avLst>
              <a:gd name="adj" fmla="val 10667"/>
            </a:avLst>
          </a:prstGeom>
          <a:solidFill>
            <a:srgbClr val="D966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920240" y="1965960"/>
            <a:ext cx="78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忙しい</a:t>
            </a:r>
            <a:endParaRPr lang="ja-JP" sz="1150" dirty="0"/>
          </a:p>
        </p:txBody>
      </p:sp>
      <p:sp>
        <p:nvSpPr>
          <p:cNvPr id="12" name="Shape 10"/>
          <p:cNvSpPr/>
          <p:nvPr/>
        </p:nvSpPr>
        <p:spPr>
          <a:xfrm>
            <a:off x="2779776" y="1965960"/>
            <a:ext cx="786384" cy="685800"/>
          </a:xfrm>
          <a:prstGeom prst="roundRect">
            <a:avLst>
              <a:gd name="adj" fmla="val 10667"/>
            </a:avLst>
          </a:prstGeom>
          <a:solidFill>
            <a:srgbClr val="D966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79776" y="1965960"/>
            <a:ext cx="78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忙しい</a:t>
            </a:r>
            <a:endParaRPr lang="ja-JP" sz="1150" dirty="0"/>
          </a:p>
        </p:txBody>
      </p:sp>
      <p:sp>
        <p:nvSpPr>
          <p:cNvPr id="14" name="Shape 12"/>
          <p:cNvSpPr/>
          <p:nvPr/>
        </p:nvSpPr>
        <p:spPr>
          <a:xfrm>
            <a:off x="3639312" y="1965960"/>
            <a:ext cx="786384" cy="685800"/>
          </a:xfrm>
          <a:prstGeom prst="roundRect">
            <a:avLst>
              <a:gd name="adj" fmla="val 10667"/>
            </a:avLst>
          </a:prstGeom>
          <a:solidFill>
            <a:srgbClr val="E3EF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39312" y="1965960"/>
            <a:ext cx="78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余裕</a:t>
            </a:r>
            <a:endParaRPr lang="ja-JP" sz="1150" dirty="0"/>
          </a:p>
        </p:txBody>
      </p:sp>
      <p:sp>
        <p:nvSpPr>
          <p:cNvPr id="16" name="Shape 14"/>
          <p:cNvSpPr/>
          <p:nvPr/>
        </p:nvSpPr>
        <p:spPr>
          <a:xfrm>
            <a:off x="4498848" y="1965960"/>
            <a:ext cx="786384" cy="685800"/>
          </a:xfrm>
          <a:prstGeom prst="roundRect">
            <a:avLst>
              <a:gd name="adj" fmla="val 10667"/>
            </a:avLst>
          </a:prstGeom>
          <a:solidFill>
            <a:srgbClr val="E3EF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98848" y="1965960"/>
            <a:ext cx="78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余裕</a:t>
            </a:r>
            <a:endParaRPr lang="ja-JP" sz="1150" dirty="0"/>
          </a:p>
        </p:txBody>
      </p:sp>
      <p:sp>
        <p:nvSpPr>
          <p:cNvPr id="18" name="Shape 16"/>
          <p:cNvSpPr/>
          <p:nvPr/>
        </p:nvSpPr>
        <p:spPr>
          <a:xfrm>
            <a:off x="5358384" y="1965960"/>
            <a:ext cx="786384" cy="685800"/>
          </a:xfrm>
          <a:prstGeom prst="roundRect">
            <a:avLst>
              <a:gd name="adj" fmla="val 10667"/>
            </a:avLst>
          </a:prstGeom>
          <a:solidFill>
            <a:srgbClr val="D966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58384" y="1965960"/>
            <a:ext cx="78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忙しい</a:t>
            </a:r>
            <a:endParaRPr lang="ja-JP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3832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電話担当</a:t>
            </a:r>
            <a:endParaRPr lang="ja-JP" sz="1400" dirty="0"/>
          </a:p>
        </p:txBody>
      </p:sp>
      <p:sp>
        <p:nvSpPr>
          <p:cNvPr id="21" name="Shape 19"/>
          <p:cNvSpPr/>
          <p:nvPr/>
        </p:nvSpPr>
        <p:spPr>
          <a:xfrm>
            <a:off x="1920240" y="3383280"/>
            <a:ext cx="786384" cy="685800"/>
          </a:xfrm>
          <a:prstGeom prst="roundRect">
            <a:avLst>
              <a:gd name="adj" fmla="val 10667"/>
            </a:avLst>
          </a:prstGeom>
          <a:solidFill>
            <a:srgbClr val="E3EF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920240" y="3383280"/>
            <a:ext cx="78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余裕</a:t>
            </a:r>
            <a:endParaRPr lang="ja-JP" sz="1150" dirty="0"/>
          </a:p>
        </p:txBody>
      </p:sp>
      <p:sp>
        <p:nvSpPr>
          <p:cNvPr id="23" name="Shape 21"/>
          <p:cNvSpPr/>
          <p:nvPr/>
        </p:nvSpPr>
        <p:spPr>
          <a:xfrm>
            <a:off x="2779776" y="3383280"/>
            <a:ext cx="786384" cy="685800"/>
          </a:xfrm>
          <a:prstGeom prst="roundRect">
            <a:avLst>
              <a:gd name="adj" fmla="val 10667"/>
            </a:avLst>
          </a:prstGeom>
          <a:solidFill>
            <a:srgbClr val="E3EF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779776" y="3383280"/>
            <a:ext cx="78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余裕</a:t>
            </a:r>
            <a:endParaRPr lang="ja-JP" sz="1150" dirty="0"/>
          </a:p>
        </p:txBody>
      </p:sp>
      <p:sp>
        <p:nvSpPr>
          <p:cNvPr id="25" name="Shape 23"/>
          <p:cNvSpPr/>
          <p:nvPr/>
        </p:nvSpPr>
        <p:spPr>
          <a:xfrm>
            <a:off x="3639312" y="3383280"/>
            <a:ext cx="786384" cy="685800"/>
          </a:xfrm>
          <a:prstGeom prst="roundRect">
            <a:avLst>
              <a:gd name="adj" fmla="val 10667"/>
            </a:avLst>
          </a:prstGeom>
          <a:solidFill>
            <a:srgbClr val="D966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39312" y="3383280"/>
            <a:ext cx="78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忙しい</a:t>
            </a:r>
            <a:endParaRPr lang="ja-JP" sz="1150" dirty="0"/>
          </a:p>
        </p:txBody>
      </p:sp>
      <p:sp>
        <p:nvSpPr>
          <p:cNvPr id="27" name="Shape 25"/>
          <p:cNvSpPr/>
          <p:nvPr/>
        </p:nvSpPr>
        <p:spPr>
          <a:xfrm>
            <a:off x="4498848" y="3383280"/>
            <a:ext cx="786384" cy="685800"/>
          </a:xfrm>
          <a:prstGeom prst="roundRect">
            <a:avLst>
              <a:gd name="adj" fmla="val 10667"/>
            </a:avLst>
          </a:prstGeom>
          <a:solidFill>
            <a:srgbClr val="D966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98848" y="3383280"/>
            <a:ext cx="78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忙しい</a:t>
            </a:r>
            <a:endParaRPr lang="ja-JP" sz="1150" dirty="0"/>
          </a:p>
        </p:txBody>
      </p:sp>
      <p:sp>
        <p:nvSpPr>
          <p:cNvPr id="29" name="Shape 27"/>
          <p:cNvSpPr/>
          <p:nvPr/>
        </p:nvSpPr>
        <p:spPr>
          <a:xfrm>
            <a:off x="5358384" y="3383280"/>
            <a:ext cx="786384" cy="685800"/>
          </a:xfrm>
          <a:prstGeom prst="roundRect">
            <a:avLst>
              <a:gd name="adj" fmla="val 10667"/>
            </a:avLst>
          </a:prstGeom>
          <a:solidFill>
            <a:srgbClr val="E3EFF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358384" y="3383280"/>
            <a:ext cx="78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余裕</a:t>
            </a:r>
            <a:endParaRPr lang="ja-JP" sz="1150" dirty="0"/>
          </a:p>
        </p:txBody>
      </p:sp>
      <p:sp>
        <p:nvSpPr>
          <p:cNvPr id="31" name="Shape 29"/>
          <p:cNvSpPr/>
          <p:nvPr/>
        </p:nvSpPr>
        <p:spPr>
          <a:xfrm>
            <a:off x="1920240" y="2788920"/>
            <a:ext cx="422452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9661A"/>
            </a:solidFill>
            <a:prstDash val="dash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880360"/>
            <a:ext cx="274320" cy="27432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2468880" y="2788920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担当が分かれていて、ヘルプに入れない</a:t>
            </a:r>
            <a:endParaRPr lang="ja-JP" sz="1250" dirty="0"/>
          </a:p>
        </p:txBody>
      </p:sp>
      <p:sp>
        <p:nvSpPr>
          <p:cNvPr id="34" name="Shape 31"/>
          <p:cNvSpPr/>
          <p:nvPr/>
        </p:nvSpPr>
        <p:spPr>
          <a:xfrm>
            <a:off x="6400800" y="1325880"/>
            <a:ext cx="2956255" cy="3154680"/>
          </a:xfrm>
          <a:prstGeom prst="roundRect">
            <a:avLst>
              <a:gd name="adj" fmla="val 2474"/>
            </a:avLst>
          </a:prstGeom>
          <a:solidFill>
            <a:srgbClr val="0E4F5C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347472" cy="347472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6675120" y="2011680"/>
            <a:ext cx="24990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工数を適正に保て。</a:t>
            </a:r>
            <a:endParaRPr lang="ja-JP" sz="15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BFCに対して、</a:t>
            </a:r>
            <a:endParaRPr lang="ja-JP" sz="15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人のリソースが多い。</a:t>
            </a:r>
            <a:endParaRPr lang="ja-JP" sz="15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何とかしろ。</a:t>
            </a:r>
            <a:endParaRPr lang="ja-JP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6675120" y="393192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D6E8E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― 統合のきっかけになった指摘</a:t>
            </a:r>
            <a:endParaRPr lang="ja-JP" sz="1150" dirty="0"/>
          </a:p>
        </p:txBody>
      </p:sp>
      <p:sp>
        <p:nvSpPr>
          <p:cNvPr id="38" name="Shape 34"/>
          <p:cNvSpPr/>
          <p:nvPr/>
        </p:nvSpPr>
        <p:spPr>
          <a:xfrm>
            <a:off x="548640" y="4754880"/>
            <a:ext cx="8808415" cy="1280160"/>
          </a:xfrm>
          <a:prstGeom prst="roundRect">
            <a:avLst>
              <a:gd name="adj" fmla="val 5714"/>
            </a:avLst>
          </a:prstGeom>
          <a:solidFill>
            <a:srgbClr val="FCEBDD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868680" y="4754880"/>
            <a:ext cx="8168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チーム内で、工数をうまく分散できていなかった。</a:t>
            </a:r>
            <a:endParaRPr lang="ja-JP" sz="15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15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 2026年8月に認定と電話対応を統合し、全員がどちらも担当する体制にした。</a:t>
            </a:r>
            <a:endParaRPr lang="ja-JP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ヘルプに入れなかった理由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EEF1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見えていた課題</a:t>
            </a:r>
            <a:endParaRPr lang="ja-JP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3258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工数の偏り・リソース過多</a:t>
            </a:r>
            <a:endParaRPr lang="ja-JP" sz="1650" dirty="0"/>
          </a:p>
        </p:txBody>
      </p:sp>
      <p:sp>
        <p:nvSpPr>
          <p:cNvPr id="6" name="Shape 4"/>
          <p:cNvSpPr/>
          <p:nvPr/>
        </p:nvSpPr>
        <p:spPr>
          <a:xfrm>
            <a:off x="3154680" y="2286000"/>
            <a:ext cx="365760" cy="320040"/>
          </a:xfrm>
          <a:prstGeom prst="downArrow">
            <a:avLst/>
          </a:prstGeom>
          <a:solidFill>
            <a:srgbClr val="C9D3D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9748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F1F6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2C8C9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その背景</a:t>
            </a:r>
            <a:endParaRPr lang="ja-JP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546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手順や判断基準が、特定の人にしかわからない</a:t>
            </a:r>
            <a:endParaRPr lang="ja-JP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マニュアルと実際のやり方がずれ、人によってやり方が違う</a:t>
            </a:r>
            <a:endParaRPr lang="ja-JP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担当が固定され、ほかの業務を経験する機会がない</a:t>
            </a:r>
            <a:endParaRPr lang="ja-JP" sz="1350" dirty="0"/>
          </a:p>
        </p:txBody>
      </p:sp>
      <p:sp>
        <p:nvSpPr>
          <p:cNvPr id="10" name="Shape 8"/>
          <p:cNvSpPr/>
          <p:nvPr/>
        </p:nvSpPr>
        <p:spPr>
          <a:xfrm>
            <a:off x="3154680" y="4617720"/>
            <a:ext cx="365760" cy="320040"/>
          </a:xfrm>
          <a:prstGeom prst="downArrow">
            <a:avLst/>
          </a:prstGeom>
          <a:solidFill>
            <a:srgbClr val="C9D3D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502920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0E4F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0292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400" b="1" dirty="0">
                <a:solidFill>
                  <a:srgbClr val="F2B27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原因は業務の属人化</a:t>
            </a:r>
            <a:endParaRPr lang="ja-JP" sz="140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14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業務が人に紐づいていて、誰でもできる形になっていなかった</a:t>
            </a:r>
            <a:endParaRPr lang="ja-JP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325880"/>
            <a:ext cx="2956255" cy="2331720"/>
          </a:xfrm>
          <a:prstGeom prst="roundRect">
            <a:avLst>
              <a:gd name="adj" fmla="val 3137"/>
            </a:avLst>
          </a:prstGeom>
          <a:solidFill>
            <a:srgbClr val="E3EF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1325880"/>
            <a:ext cx="240761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ja-JP" altLang="en-US" sz="16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工数の偏りと属人化は、つながった課題だった。</a:t>
            </a:r>
            <a:endParaRPr lang="ja-JP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2956255" cy="2194560"/>
          </a:xfrm>
          <a:prstGeom prst="roundRect">
            <a:avLst>
              <a:gd name="adj" fmla="val 3333"/>
            </a:avLst>
          </a:prstGeom>
          <a:solidFill>
            <a:srgbClr val="FCEBD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3977640"/>
            <a:ext cx="2407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反省点</a:t>
            </a:r>
            <a:endParaRPr lang="ja-JP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343400"/>
            <a:ext cx="24076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ja-JP" altLang="en-US" sz="14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属人化は以前から課題だと感じていたが、管理する立場として手をつけられていなかった。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統合を、仕組み化のきっかけにする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EEF1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これまで</a:t>
            </a:r>
            <a:endParaRPr lang="ja-JP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課題とわかっていても、進められなかった</a:t>
            </a:r>
            <a:endParaRPr lang="ja-JP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2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日々の業務は回っていたため、やり方を変えるきっかけがなかった。</a:t>
            </a:r>
            <a:endParaRPr lang="ja-JP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880360"/>
            <a:ext cx="411480" cy="457200"/>
          </a:xfrm>
          <a:prstGeom prst="rightArrow">
            <a:avLst/>
          </a:prstGeom>
          <a:solidFill>
            <a:srgbClr val="D9661A"/>
          </a:solidFill>
          <a:ln/>
        </p:spPr>
      </p:sp>
      <p:sp>
        <p:nvSpPr>
          <p:cNvPr id="8" name="Shape 6"/>
          <p:cNvSpPr/>
          <p:nvPr/>
        </p:nvSpPr>
        <p:spPr>
          <a:xfrm>
            <a:off x="3886200" y="1325880"/>
            <a:ext cx="5470855" cy="3566160"/>
          </a:xfrm>
          <a:prstGeom prst="roundRect">
            <a:avLst>
              <a:gd name="adj" fmla="val 2051"/>
            </a:avLst>
          </a:prstGeom>
          <a:solidFill>
            <a:srgbClr val="0E4F5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53619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617720" y="1463040"/>
            <a:ext cx="4556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統合で、進められる状況になった</a:t>
            </a:r>
            <a:endParaRPr lang="ja-JP" sz="1800" dirty="0"/>
          </a:p>
        </p:txBody>
      </p:sp>
      <p:sp>
        <p:nvSpPr>
          <p:cNvPr id="11" name="Shape 8"/>
          <p:cNvSpPr/>
          <p:nvPr/>
        </p:nvSpPr>
        <p:spPr>
          <a:xfrm>
            <a:off x="4160520" y="2194560"/>
            <a:ext cx="384048" cy="384048"/>
          </a:xfrm>
          <a:prstGeom prst="ellipse">
            <a:avLst/>
          </a:prstGeom>
          <a:solidFill>
            <a:srgbClr val="D9661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1605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ja-JP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2148840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全員が両方を担当するため、手順の共有が必須になった</a:t>
            </a:r>
            <a:endParaRPr lang="ja-JP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260604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D6E8E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マニュアル・FAQの整備が避けられなくなった</a:t>
            </a:r>
            <a:endParaRPr lang="ja-JP" sz="1150" dirty="0"/>
          </a:p>
        </p:txBody>
      </p:sp>
      <p:sp>
        <p:nvSpPr>
          <p:cNvPr id="15" name="Shape 12"/>
          <p:cNvSpPr/>
          <p:nvPr/>
        </p:nvSpPr>
        <p:spPr>
          <a:xfrm>
            <a:off x="4160520" y="3063240"/>
            <a:ext cx="384048" cy="384048"/>
          </a:xfrm>
          <a:prstGeom prst="ellipse">
            <a:avLst/>
          </a:prstGeom>
          <a:solidFill>
            <a:srgbClr val="D9661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1605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ja-JP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3017520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AIなど、活用できるツールが増えた</a:t>
            </a:r>
            <a:endParaRPr lang="ja-JP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347472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D6E8E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これまでのRPA（シクリ・AI-OCR・UiPath・VBA）の経験も活かせる</a:t>
            </a:r>
            <a:endParaRPr lang="ja-JP" sz="1150" dirty="0"/>
          </a:p>
        </p:txBody>
      </p:sp>
      <p:sp>
        <p:nvSpPr>
          <p:cNvPr id="19" name="Shape 16"/>
          <p:cNvSpPr/>
          <p:nvPr/>
        </p:nvSpPr>
        <p:spPr>
          <a:xfrm>
            <a:off x="4160520" y="3931920"/>
            <a:ext cx="384048" cy="384048"/>
          </a:xfrm>
          <a:prstGeom prst="ellipse">
            <a:avLst/>
          </a:prstGeom>
          <a:solidFill>
            <a:srgbClr val="D9661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16052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ja-JP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709160" y="3886200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体制が変わる時期で、やり方も見直しやすい</a:t>
            </a:r>
            <a:endParaRPr lang="ja-JP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709160" y="434340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D6E8E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変化に合わせて、まとめて見直せる</a:t>
            </a:r>
            <a:endParaRPr lang="ja-JP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120640"/>
            <a:ext cx="8808415" cy="914400"/>
          </a:xfrm>
          <a:prstGeom prst="roundRect">
            <a:avLst>
              <a:gd name="adj" fmla="val 8000"/>
            </a:avLst>
          </a:prstGeom>
          <a:solidFill>
            <a:srgbClr val="FCEBD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68680" y="5120640"/>
            <a:ext cx="8168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統合で終わりにせず、</a:t>
            </a:r>
            <a:pPr indent="0" marL="0">
              <a:buNone/>
            </a:pPr>
            <a:r>
              <a:rPr lang="ja-JP" altLang="en-US" sz="15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工数の分散と業務の仕組み化を、あわせて進めていく。</a:t>
            </a:r>
            <a:endParaRPr lang="ja-JP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仕組みは、放っておくと元に戻ってしまう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EEF1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904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何もしないと</a:t>
            </a:r>
            <a:endParaRPr lang="ja-JP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84248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E4F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842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ルールを整備する</a:t>
            </a:r>
            <a:endParaRPr lang="ja-JP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260604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B6B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606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慣れて、確認を省く</a:t>
            </a:r>
            <a:endParaRPr lang="ja-JP" sz="1300" dirty="0"/>
          </a:p>
        </p:txBody>
      </p:sp>
      <p:sp>
        <p:nvSpPr>
          <p:cNvPr id="9" name="Shape 7"/>
          <p:cNvSpPr/>
          <p:nvPr/>
        </p:nvSpPr>
        <p:spPr>
          <a:xfrm>
            <a:off x="1600200" y="3227832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5A8A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83080" y="3227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自己流が広がる</a:t>
            </a:r>
            <a:endParaRPr lang="ja-JP" sz="1300" dirty="0"/>
          </a:p>
        </p:txBody>
      </p:sp>
      <p:sp>
        <p:nvSpPr>
          <p:cNvPr id="11" name="Shape 9"/>
          <p:cNvSpPr/>
          <p:nvPr/>
        </p:nvSpPr>
        <p:spPr>
          <a:xfrm>
            <a:off x="2011680" y="3849624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A9BEC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94560" y="384962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詳しい人に頼る</a:t>
            </a:r>
            <a:endParaRPr lang="ja-JP" sz="1300" dirty="0"/>
          </a:p>
        </p:txBody>
      </p:sp>
      <p:sp>
        <p:nvSpPr>
          <p:cNvPr id="13" name="Shape 11"/>
          <p:cNvSpPr/>
          <p:nvPr/>
        </p:nvSpPr>
        <p:spPr>
          <a:xfrm>
            <a:off x="2423160" y="4471416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D966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06040" y="447141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元に戻る（属人化）</a:t>
            </a:r>
            <a:endParaRPr lang="ja-JP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19659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過去に、実際に元に戻った時期もあった</a:t>
            </a:r>
            <a:endParaRPr lang="ja-JP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1325880"/>
            <a:ext cx="4373575" cy="3886200"/>
          </a:xfrm>
          <a:prstGeom prst="roundRect">
            <a:avLst>
              <a:gd name="adj" fmla="val 1882"/>
            </a:avLst>
          </a:prstGeom>
          <a:solidFill>
            <a:srgbClr val="E3EF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2080" y="1490472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目指したい流れ：現場の意見でルールを見直す</a:t>
            </a:r>
            <a:endParaRPr lang="ja-JP" sz="1400" dirty="0"/>
          </a:p>
        </p:txBody>
      </p:sp>
      <p:sp>
        <p:nvSpPr>
          <p:cNvPr id="18" name="Shape 16"/>
          <p:cNvSpPr/>
          <p:nvPr/>
        </p:nvSpPr>
        <p:spPr>
          <a:xfrm>
            <a:off x="5166360" y="1965960"/>
            <a:ext cx="35048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276088" y="2103120"/>
            <a:ext cx="384048" cy="384048"/>
          </a:xfrm>
          <a:prstGeom prst="ellipse">
            <a:avLst/>
          </a:prstGeom>
          <a:solidFill>
            <a:srgbClr val="0E4F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7608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ja-JP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788152" y="2029968"/>
            <a:ext cx="2773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ルールを整備する</a:t>
            </a:r>
            <a:endParaRPr lang="ja-JP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788152" y="2322576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マニュアル・FAQ・評価軸を整える</a:t>
            </a:r>
            <a:endParaRPr lang="ja-JP" sz="1100" dirty="0"/>
          </a:p>
        </p:txBody>
      </p:sp>
      <p:sp>
        <p:nvSpPr>
          <p:cNvPr id="23" name="Shape 21"/>
          <p:cNvSpPr/>
          <p:nvPr/>
        </p:nvSpPr>
        <p:spPr>
          <a:xfrm>
            <a:off x="6809080" y="2633472"/>
            <a:ext cx="219456" cy="146304"/>
          </a:xfrm>
          <a:prstGeom prst="downArrow">
            <a:avLst/>
          </a:prstGeom>
          <a:solidFill>
            <a:srgbClr val="C9D3D7"/>
          </a:solidFill>
          <a:ln/>
        </p:spPr>
      </p:sp>
      <p:sp>
        <p:nvSpPr>
          <p:cNvPr id="24" name="Shape 22"/>
          <p:cNvSpPr/>
          <p:nvPr/>
        </p:nvSpPr>
        <p:spPr>
          <a:xfrm>
            <a:off x="5166360" y="2788920"/>
            <a:ext cx="35048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276088" y="2926080"/>
            <a:ext cx="384048" cy="384048"/>
          </a:xfrm>
          <a:prstGeom prst="ellipse">
            <a:avLst/>
          </a:prstGeom>
          <a:solidFill>
            <a:srgbClr val="D966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7608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ja-JP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788152" y="2852928"/>
            <a:ext cx="2773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オペレーターが意見を出す</a:t>
            </a:r>
            <a:endParaRPr lang="ja-JP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788152" y="3145536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「ここがやりにくい」「こう変えたい」</a:t>
            </a:r>
            <a:endParaRPr lang="ja-JP" sz="1100" dirty="0"/>
          </a:p>
        </p:txBody>
      </p:sp>
      <p:sp>
        <p:nvSpPr>
          <p:cNvPr id="29" name="Shape 27"/>
          <p:cNvSpPr/>
          <p:nvPr/>
        </p:nvSpPr>
        <p:spPr>
          <a:xfrm>
            <a:off x="6809080" y="3456432"/>
            <a:ext cx="219456" cy="146304"/>
          </a:xfrm>
          <a:prstGeom prst="downArrow">
            <a:avLst/>
          </a:prstGeom>
          <a:solidFill>
            <a:srgbClr val="C9D3D7"/>
          </a:solidFill>
          <a:ln/>
        </p:spPr>
      </p:sp>
      <p:sp>
        <p:nvSpPr>
          <p:cNvPr id="30" name="Shape 28"/>
          <p:cNvSpPr/>
          <p:nvPr/>
        </p:nvSpPr>
        <p:spPr>
          <a:xfrm>
            <a:off x="5166360" y="3611880"/>
            <a:ext cx="35048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5276088" y="3749040"/>
            <a:ext cx="384048" cy="384048"/>
          </a:xfrm>
          <a:prstGeom prst="ellipse">
            <a:avLst/>
          </a:prstGeom>
          <a:solidFill>
            <a:srgbClr val="0E4F5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76088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ja-JP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788152" y="3675888"/>
            <a:ext cx="2773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受け取って判断する</a:t>
            </a:r>
            <a:endParaRPr lang="ja-JP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5788152" y="3968496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採用・見送りと、その理由を返す</a:t>
            </a:r>
            <a:endParaRPr lang="ja-JP" sz="1100" dirty="0"/>
          </a:p>
        </p:txBody>
      </p:sp>
      <p:sp>
        <p:nvSpPr>
          <p:cNvPr id="35" name="Shape 33"/>
          <p:cNvSpPr/>
          <p:nvPr/>
        </p:nvSpPr>
        <p:spPr>
          <a:xfrm>
            <a:off x="6809080" y="4279392"/>
            <a:ext cx="219456" cy="146304"/>
          </a:xfrm>
          <a:prstGeom prst="downArrow">
            <a:avLst/>
          </a:prstGeom>
          <a:solidFill>
            <a:srgbClr val="C9D3D7"/>
          </a:solidFill>
          <a:ln/>
        </p:spPr>
      </p:sp>
      <p:sp>
        <p:nvSpPr>
          <p:cNvPr id="36" name="Shape 34"/>
          <p:cNvSpPr/>
          <p:nvPr/>
        </p:nvSpPr>
        <p:spPr>
          <a:xfrm>
            <a:off x="5166360" y="4434840"/>
            <a:ext cx="35048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5276088" y="4572000"/>
            <a:ext cx="384048" cy="384048"/>
          </a:xfrm>
          <a:prstGeom prst="ellipse">
            <a:avLst/>
          </a:prstGeom>
          <a:solidFill>
            <a:srgbClr val="0E4F5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276088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</a:t>
            </a:r>
            <a:endParaRPr lang="ja-JP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788152" y="4498848"/>
            <a:ext cx="2773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ルールを変える</a:t>
            </a:r>
            <a:endParaRPr lang="ja-JP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5788152" y="4791456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マニュアル・FAQに反映し、全員で共有</a:t>
            </a:r>
            <a:endParaRPr lang="ja-JP" sz="1100" dirty="0"/>
          </a:p>
        </p:txBody>
      </p:sp>
      <p:sp>
        <p:nvSpPr>
          <p:cNvPr id="41" name="Shape 39"/>
          <p:cNvSpPr/>
          <p:nvPr/>
        </p:nvSpPr>
        <p:spPr>
          <a:xfrm>
            <a:off x="8854135" y="2103120"/>
            <a:ext cx="292608" cy="2880360"/>
          </a:xfrm>
          <a:prstGeom prst="upArrow">
            <a:avLst/>
          </a:prstGeom>
          <a:solidFill>
            <a:srgbClr val="2C8C9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671255" y="49651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950" b="1" dirty="0">
                <a:solidFill>
                  <a:srgbClr val="2C8C9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くり返す</a:t>
            </a:r>
            <a:endParaRPr lang="ja-JP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5394960"/>
            <a:ext cx="8808415" cy="685800"/>
          </a:xfrm>
          <a:prstGeom prst="roundRect">
            <a:avLst>
              <a:gd name="adj" fmla="val 10667"/>
            </a:avLst>
          </a:prstGeom>
          <a:solidFill>
            <a:srgbClr val="FCEBD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22960" y="5394960"/>
            <a:ext cx="8259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3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自然にそうなりやすいので、意見を出してルールを見直す流れを定着させる</a:t>
            </a:r>
            <a:endParaRPr lang="ja-JP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これまでの取り組みと変化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200400" cy="4709160"/>
          </a:xfrm>
          <a:prstGeom prst="roundRect">
            <a:avLst>
              <a:gd name="adj" fmla="val 2286"/>
            </a:avLst>
          </a:prstGeom>
          <a:solidFill>
            <a:srgbClr val="0E4F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F2B27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電話に出られる人</a:t>
            </a:r>
            <a:endParaRPr lang="ja-JP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3400" b="1" dirty="0">
                <a:solidFill>
                  <a:srgbClr val="D6E8E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4人 →</a:t>
            </a:r>
            <a:endParaRPr lang="ja-JP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8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7人</a:t>
            </a:r>
            <a:endParaRPr lang="ja-JP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251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300" dirty="0">
                <a:solidFill>
                  <a:srgbClr val="D6E8E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2026年8月の統合以降</a:t>
            </a:r>
            <a:endParaRPr lang="ja-JP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029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1次対応できる人は、さらに増やす予定</a:t>
            </a:r>
            <a:endParaRPr lang="ja-JP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1325880"/>
            <a:ext cx="5333695" cy="1051560"/>
          </a:xfrm>
          <a:prstGeom prst="roundRect">
            <a:avLst>
              <a:gd name="adj" fmla="val 6957"/>
            </a:avLst>
          </a:prstGeom>
          <a:solidFill>
            <a:srgbClr val="F1F6F7"/>
          </a:solidFill>
          <a:ln/>
        </p:spPr>
      </p:sp>
      <p:sp>
        <p:nvSpPr>
          <p:cNvPr id="10" name="Shape 8"/>
          <p:cNvSpPr/>
          <p:nvPr/>
        </p:nvSpPr>
        <p:spPr>
          <a:xfrm>
            <a:off x="4224528" y="1581912"/>
            <a:ext cx="530352" cy="530352"/>
          </a:xfrm>
          <a:prstGeom prst="ellipse">
            <a:avLst/>
          </a:prstGeom>
          <a:solidFill>
            <a:srgbClr val="2C8C9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7116" y="1714500"/>
            <a:ext cx="265176" cy="26517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937760" y="1481328"/>
            <a:ext cx="3139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FAQの作成</a:t>
            </a:r>
            <a:endParaRPr lang="ja-JP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1874520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よくある問い合わせと回答をまとめた</a:t>
            </a:r>
            <a:endParaRPr lang="ja-JP" sz="1200" dirty="0"/>
          </a:p>
        </p:txBody>
      </p:sp>
      <p:sp>
        <p:nvSpPr>
          <p:cNvPr id="14" name="Shape 11"/>
          <p:cNvSpPr/>
          <p:nvPr/>
        </p:nvSpPr>
        <p:spPr>
          <a:xfrm>
            <a:off x="8214055" y="167335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2C8C9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4055" y="16733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2C8C9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実施済</a:t>
            </a:r>
            <a:endParaRPr lang="ja-JP" sz="1100" dirty="0"/>
          </a:p>
        </p:txBody>
      </p:sp>
      <p:sp>
        <p:nvSpPr>
          <p:cNvPr id="16" name="Shape 13"/>
          <p:cNvSpPr/>
          <p:nvPr/>
        </p:nvSpPr>
        <p:spPr>
          <a:xfrm>
            <a:off x="4023360" y="2542032"/>
            <a:ext cx="5333695" cy="1051560"/>
          </a:xfrm>
          <a:prstGeom prst="roundRect">
            <a:avLst>
              <a:gd name="adj" fmla="val 6957"/>
            </a:avLst>
          </a:prstGeom>
          <a:solidFill>
            <a:srgbClr val="F1F6F7"/>
          </a:solidFill>
          <a:ln/>
        </p:spPr>
      </p:sp>
      <p:sp>
        <p:nvSpPr>
          <p:cNvPr id="17" name="Shape 14"/>
          <p:cNvSpPr/>
          <p:nvPr/>
        </p:nvSpPr>
        <p:spPr>
          <a:xfrm>
            <a:off x="4224528" y="2798064"/>
            <a:ext cx="530352" cy="530352"/>
          </a:xfrm>
          <a:prstGeom prst="ellipse">
            <a:avLst/>
          </a:prstGeom>
          <a:solidFill>
            <a:srgbClr val="2C8C99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2930652"/>
            <a:ext cx="265176" cy="26517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937760" y="2697480"/>
            <a:ext cx="3139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評価軸の明文化</a:t>
            </a:r>
            <a:endParaRPr lang="ja-JP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937760" y="3090672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評価の基準を文書にして共有</a:t>
            </a:r>
            <a:endParaRPr lang="ja-JP" sz="1200" dirty="0"/>
          </a:p>
        </p:txBody>
      </p:sp>
      <p:sp>
        <p:nvSpPr>
          <p:cNvPr id="21" name="Shape 17"/>
          <p:cNvSpPr/>
          <p:nvPr/>
        </p:nvSpPr>
        <p:spPr>
          <a:xfrm>
            <a:off x="8214055" y="2889504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2C8C99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214055" y="288950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2C8C9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実施済</a:t>
            </a:r>
            <a:endParaRPr lang="ja-JP" sz="1100" dirty="0"/>
          </a:p>
        </p:txBody>
      </p:sp>
      <p:sp>
        <p:nvSpPr>
          <p:cNvPr id="23" name="Shape 19"/>
          <p:cNvSpPr/>
          <p:nvPr/>
        </p:nvSpPr>
        <p:spPr>
          <a:xfrm>
            <a:off x="4023360" y="3758184"/>
            <a:ext cx="5333695" cy="1051560"/>
          </a:xfrm>
          <a:prstGeom prst="roundRect">
            <a:avLst>
              <a:gd name="adj" fmla="val 6957"/>
            </a:avLst>
          </a:prstGeom>
          <a:solidFill>
            <a:srgbClr val="F1F6F7"/>
          </a:solidFill>
          <a:ln/>
        </p:spPr>
      </p:sp>
      <p:sp>
        <p:nvSpPr>
          <p:cNvPr id="24" name="Shape 20"/>
          <p:cNvSpPr/>
          <p:nvPr/>
        </p:nvSpPr>
        <p:spPr>
          <a:xfrm>
            <a:off x="4224528" y="4014216"/>
            <a:ext cx="530352" cy="530352"/>
          </a:xfrm>
          <a:prstGeom prst="ellipse">
            <a:avLst/>
          </a:prstGeom>
          <a:solidFill>
            <a:srgbClr val="2C8C9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116" y="4146804"/>
            <a:ext cx="265176" cy="26517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937760" y="3913632"/>
            <a:ext cx="3139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OPによる2次確認</a:t>
            </a:r>
            <a:endParaRPr lang="ja-JP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4937760" y="4306824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OPが2次確認を担当する運用を開始</a:t>
            </a:r>
            <a:endParaRPr lang="ja-JP" sz="1200" dirty="0"/>
          </a:p>
        </p:txBody>
      </p:sp>
      <p:sp>
        <p:nvSpPr>
          <p:cNvPr id="28" name="Shape 23"/>
          <p:cNvSpPr/>
          <p:nvPr/>
        </p:nvSpPr>
        <p:spPr>
          <a:xfrm>
            <a:off x="8214055" y="4105656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9661A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214055" y="410565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開始</a:t>
            </a:r>
            <a:endParaRPr lang="ja-JP" sz="1100" dirty="0"/>
          </a:p>
        </p:txBody>
      </p:sp>
      <p:sp>
        <p:nvSpPr>
          <p:cNvPr id="30" name="Shape 25"/>
          <p:cNvSpPr/>
          <p:nvPr/>
        </p:nvSpPr>
        <p:spPr>
          <a:xfrm>
            <a:off x="4023360" y="4974336"/>
            <a:ext cx="5333695" cy="1051560"/>
          </a:xfrm>
          <a:prstGeom prst="roundRect">
            <a:avLst>
              <a:gd name="adj" fmla="val 6957"/>
            </a:avLst>
          </a:prstGeom>
          <a:solidFill>
            <a:srgbClr val="F1F6F7"/>
          </a:solidFill>
          <a:ln/>
        </p:spPr>
      </p:sp>
      <p:sp>
        <p:nvSpPr>
          <p:cNvPr id="31" name="Shape 26"/>
          <p:cNvSpPr/>
          <p:nvPr/>
        </p:nvSpPr>
        <p:spPr>
          <a:xfrm>
            <a:off x="4224528" y="5230368"/>
            <a:ext cx="530352" cy="530352"/>
          </a:xfrm>
          <a:prstGeom prst="ellipse">
            <a:avLst/>
          </a:prstGeom>
          <a:solidFill>
            <a:srgbClr val="2C8C99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116" y="5362956"/>
            <a:ext cx="265176" cy="26517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4937760" y="5129784"/>
            <a:ext cx="3139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マニュアルの見直し</a:t>
            </a:r>
            <a:endParaRPr lang="ja-JP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4937760" y="5522976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現在のやり方に合わせて順次更新中</a:t>
            </a:r>
            <a:endParaRPr lang="ja-JP" sz="1200" dirty="0"/>
          </a:p>
        </p:txBody>
      </p:sp>
      <p:sp>
        <p:nvSpPr>
          <p:cNvPr id="35" name="Shape 29"/>
          <p:cNvSpPr/>
          <p:nvPr/>
        </p:nvSpPr>
        <p:spPr>
          <a:xfrm>
            <a:off x="8214055" y="5321808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9661A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8214055" y="53218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進行中</a:t>
            </a:r>
            <a:endParaRPr lang="ja-JP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統合後の作業時間の変化（OP1名の例）</a:t>
            </a:r>
            <a:endParaRPr lang="ja-JP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休憩を除いた作業時間に占める割合（月別）</a:t>
            </a:r>
            <a:endParaRPr lang="ja-JP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325880"/>
            <a:ext cx="2773375" cy="1417320"/>
          </a:xfrm>
          <a:prstGeom prst="roundRect">
            <a:avLst>
              <a:gd name="adj" fmla="val 5161"/>
            </a:avLst>
          </a:prstGeom>
          <a:solidFill>
            <a:srgbClr val="F1F6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12280" y="1463040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研修・マニュアル確認など</a:t>
            </a:r>
            <a:endParaRPr lang="ja-JP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1764792"/>
            <a:ext cx="2316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3% → 14%</a:t>
            </a:r>
            <a:endParaRPr lang="ja-JP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2331720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7月 → 8月（統合月）</a:t>
            </a:r>
            <a:endParaRPr lang="ja-JP" sz="1100" dirty="0"/>
          </a:p>
        </p:txBody>
      </p:sp>
      <p:sp>
        <p:nvSpPr>
          <p:cNvPr id="9" name="Shape 6"/>
          <p:cNvSpPr/>
          <p:nvPr/>
        </p:nvSpPr>
        <p:spPr>
          <a:xfrm>
            <a:off x="6583680" y="2926080"/>
            <a:ext cx="2773375" cy="1417320"/>
          </a:xfrm>
          <a:prstGeom prst="roundRect">
            <a:avLst>
              <a:gd name="adj" fmla="val 5161"/>
            </a:avLst>
          </a:prstGeom>
          <a:solidFill>
            <a:srgbClr val="F1F6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12280" y="3063240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認定の作業</a:t>
            </a:r>
            <a:endParaRPr lang="ja-JP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3364992"/>
            <a:ext cx="2316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08A9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45% → 52%</a:t>
            </a:r>
            <a:endParaRPr lang="ja-JP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3931920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8月 → 9月</a:t>
            </a:r>
            <a:endParaRPr lang="ja-JP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4572000"/>
            <a:ext cx="2773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2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統合直後は覚えることが多く、負担が大きかった。9月以降は少しずつ慣れてきて、チームで対応できる範囲が広がっている。</a:t>
            </a:r>
            <a:endParaRPr lang="ja-JP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6928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※オペレーター1名の稼働記録（2026年4〜9月、82日分）より。処理件数集計ツールで集計。メンバー全員の傾向とは限りません。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役割分担の見直し</a:t>
            </a:r>
            <a:endParaRPr lang="ja-JP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808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867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これまで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いま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F5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E4F5C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電話対応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4人で受ける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30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7人で受ける（1次対応はさらに増やす）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E4F5C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2次確認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一部の人だけが担う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30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OP（オペレーター）も担う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E4F5C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知識・手順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詳しい人の頭の中と、昔のマニュアル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30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FAQに一本化、マニュアルを見直し中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E4F5C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評価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評価する人によって違う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30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評価軸を明文化</a:t>
                      </a:r>
                      <a:endParaRPr lang="en-US" sz="135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37160" marR="13716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92040"/>
            <a:ext cx="8808415" cy="1143000"/>
          </a:xfrm>
          <a:prstGeom prst="roundRect">
            <a:avLst>
              <a:gd name="adj" fmla="val 6400"/>
            </a:avLst>
          </a:prstGeom>
          <a:solidFill>
            <a:srgbClr val="FCEBD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4892040"/>
            <a:ext cx="81683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4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「できる人がやる」分担をやめ、決めた役割を全員で担う形に変えている。</a:t>
            </a:r>
            <a:endParaRPr lang="ja-JP" sz="14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4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任された人は経験が増え、詳しい人は仕組みづくりに時間を使えるようになる。</a:t>
            </a:r>
            <a:endParaRPr lang="ja-JP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課題：改善に使う時間が取れていない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017520" cy="3703320"/>
          </a:xfrm>
          <a:prstGeom prst="roundRect">
            <a:avLst>
              <a:gd name="adj" fmla="val 2424"/>
            </a:avLst>
          </a:prstGeom>
          <a:solidFill>
            <a:srgbClr val="FCEBD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作業時間のうち、付随事務が</a:t>
            </a:r>
            <a:endParaRPr lang="ja-JP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40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約4割</a:t>
            </a:r>
            <a:endParaRPr lang="ja-JP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2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受領の仕分け・入力、発送、封入など。毎月ほぼ同じ割合。</a:t>
            </a:r>
            <a:endParaRPr lang="ja-JP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34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0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※OP1名の稼働記録（4〜9月）</a:t>
            </a:r>
            <a:endParaRPr lang="ja-JP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1325880"/>
            <a:ext cx="5516575" cy="1325880"/>
          </a:xfrm>
          <a:prstGeom prst="roundRect">
            <a:avLst>
              <a:gd name="adj" fmla="val 5517"/>
            </a:avLst>
          </a:prstGeom>
          <a:solidFill>
            <a:srgbClr val="EEF1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14800" y="1463040"/>
            <a:ext cx="4967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現状</a:t>
            </a:r>
            <a:endParaRPr lang="ja-JP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783080"/>
            <a:ext cx="4967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3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日々の実務に追われ、改善の時間を確保できていない。業務を棚卸しして任せていく必要があると感じつつ、常にバタ足の状態。</a:t>
            </a:r>
            <a:endParaRPr lang="ja-JP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834640"/>
            <a:ext cx="5516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対応策（案）</a:t>
            </a:r>
            <a:endParaRPr lang="ja-JP" sz="1350" dirty="0"/>
          </a:p>
        </p:txBody>
      </p:sp>
      <p:sp>
        <p:nvSpPr>
          <p:cNvPr id="12" name="Shape 10"/>
          <p:cNvSpPr/>
          <p:nvPr/>
        </p:nvSpPr>
        <p:spPr>
          <a:xfrm>
            <a:off x="3840480" y="3310128"/>
            <a:ext cx="384048" cy="384048"/>
          </a:xfrm>
          <a:prstGeom prst="ellipse">
            <a:avLst/>
          </a:prstGeom>
          <a:solidFill>
            <a:srgbClr val="2C8C9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404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ja-JP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24612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業務の棚卸し</a:t>
            </a:r>
            <a:endParaRPr lang="ja-JP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520440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業務を書き出し、任せられるものから順に移す</a:t>
            </a:r>
            <a:endParaRPr lang="ja-JP" sz="1150" dirty="0"/>
          </a:p>
        </p:txBody>
      </p:sp>
      <p:sp>
        <p:nvSpPr>
          <p:cNvPr id="16" name="Shape 14"/>
          <p:cNvSpPr/>
          <p:nvPr/>
        </p:nvSpPr>
        <p:spPr>
          <a:xfrm>
            <a:off x="3840480" y="3913632"/>
            <a:ext cx="384048" cy="384048"/>
          </a:xfrm>
          <a:prstGeom prst="ellipse">
            <a:avLst/>
          </a:prstGeom>
          <a:solidFill>
            <a:srgbClr val="2C8C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84048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ja-JP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8496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改善時間の確保</a:t>
            </a:r>
            <a:endParaRPr lang="ja-JP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4123944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短時間でも、定例の時間として先に押さえる</a:t>
            </a:r>
            <a:endParaRPr lang="ja-JP" sz="1150" dirty="0"/>
          </a:p>
        </p:txBody>
      </p:sp>
      <p:sp>
        <p:nvSpPr>
          <p:cNvPr id="20" name="Shape 18"/>
          <p:cNvSpPr/>
          <p:nvPr/>
        </p:nvSpPr>
        <p:spPr>
          <a:xfrm>
            <a:off x="3840480" y="4517136"/>
            <a:ext cx="384048" cy="384048"/>
          </a:xfrm>
          <a:prstGeom prst="ellipse">
            <a:avLst/>
          </a:prstGeom>
          <a:solidFill>
            <a:srgbClr val="2C8C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84048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ja-JP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4453128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付随事務の見直し</a:t>
            </a:r>
            <a:endParaRPr lang="ja-JP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727448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RPA化や分担の見直しで時間をつくる</a:t>
            </a:r>
            <a:endParaRPr lang="ja-JP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8808415" cy="777240"/>
          </a:xfrm>
          <a:prstGeom prst="roundRect">
            <a:avLst>
              <a:gd name="adj" fmla="val 9412"/>
            </a:avLst>
          </a:prstGeom>
          <a:solidFill>
            <a:srgbClr val="0E4F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257800"/>
            <a:ext cx="8168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改善の時間は、空いたらやるのではなく、あらかじめ確保する</a:t>
            </a:r>
            <a:endParaRPr lang="ja-JP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今後3か月：チームの状況の見える化</a:t>
            </a:r>
            <a:endParaRPr lang="ja-JP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これまでは、残案件・ゴール・進み具合がチーム内で共有されていなかった。</a:t>
            </a:r>
            <a:endParaRPr lang="ja-JP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53258" cy="1417320"/>
          </a:xfrm>
          <a:prstGeom prst="roundRect">
            <a:avLst>
              <a:gd name="adj" fmla="val 5161"/>
            </a:avLst>
          </a:prstGeom>
          <a:solidFill>
            <a:srgbClr val="E3EFF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0E4F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11680"/>
            <a:ext cx="1655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残案件</a:t>
            </a:r>
            <a:endParaRPr lang="ja-JP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何がどれだけ残っているか</a:t>
            </a:r>
            <a:endParaRPr lang="ja-JP" sz="1250" dirty="0"/>
          </a:p>
        </p:txBody>
      </p:sp>
      <p:sp>
        <p:nvSpPr>
          <p:cNvPr id="9" name="Shape 6"/>
          <p:cNvSpPr/>
          <p:nvPr/>
        </p:nvSpPr>
        <p:spPr>
          <a:xfrm>
            <a:off x="3576218" y="1737360"/>
            <a:ext cx="2753258" cy="1417320"/>
          </a:xfrm>
          <a:prstGeom prst="roundRect">
            <a:avLst>
              <a:gd name="adj" fmla="val 5161"/>
            </a:avLst>
          </a:prstGeom>
          <a:solidFill>
            <a:srgbClr val="E3EFF1"/>
          </a:solidFill>
          <a:ln/>
        </p:spPr>
      </p:sp>
      <p:sp>
        <p:nvSpPr>
          <p:cNvPr id="10" name="Shape 7"/>
          <p:cNvSpPr/>
          <p:nvPr/>
        </p:nvSpPr>
        <p:spPr>
          <a:xfrm>
            <a:off x="3804818" y="1965960"/>
            <a:ext cx="548640" cy="548640"/>
          </a:xfrm>
          <a:prstGeom prst="ellipse">
            <a:avLst/>
          </a:prstGeom>
          <a:solidFill>
            <a:srgbClr val="0E4F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978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36338" y="2011680"/>
            <a:ext cx="1655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ゴール</a:t>
            </a:r>
            <a:endParaRPr lang="ja-JP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804818" y="2651760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いつまでに何をやるか</a:t>
            </a:r>
            <a:endParaRPr lang="ja-JP" sz="1250" dirty="0"/>
          </a:p>
        </p:txBody>
      </p:sp>
      <p:sp>
        <p:nvSpPr>
          <p:cNvPr id="14" name="Shape 10"/>
          <p:cNvSpPr/>
          <p:nvPr/>
        </p:nvSpPr>
        <p:spPr>
          <a:xfrm>
            <a:off x="6603797" y="1737360"/>
            <a:ext cx="2753258" cy="1417320"/>
          </a:xfrm>
          <a:prstGeom prst="roundRect">
            <a:avLst>
              <a:gd name="adj" fmla="val 5161"/>
            </a:avLst>
          </a:prstGeom>
          <a:solidFill>
            <a:srgbClr val="E3EFF1"/>
          </a:solidFill>
          <a:ln/>
        </p:spPr>
      </p:sp>
      <p:sp>
        <p:nvSpPr>
          <p:cNvPr id="15" name="Shape 11"/>
          <p:cNvSpPr/>
          <p:nvPr/>
        </p:nvSpPr>
        <p:spPr>
          <a:xfrm>
            <a:off x="6832397" y="1965960"/>
            <a:ext cx="548640" cy="548640"/>
          </a:xfrm>
          <a:prstGeom prst="ellipse">
            <a:avLst/>
          </a:prstGeom>
          <a:solidFill>
            <a:srgbClr val="0E4F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557" y="2103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563917" y="2011680"/>
            <a:ext cx="1655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進み具合</a:t>
            </a:r>
            <a:endParaRPr lang="ja-JP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832397" y="2651760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全体のうち、どこまで進んでいるか</a:t>
            </a:r>
            <a:endParaRPr lang="ja-JP" sz="1250" dirty="0"/>
          </a:p>
        </p:txBody>
      </p:sp>
      <p:sp>
        <p:nvSpPr>
          <p:cNvPr id="19" name="Shape 14"/>
          <p:cNvSpPr/>
          <p:nvPr/>
        </p:nvSpPr>
        <p:spPr>
          <a:xfrm>
            <a:off x="1097280" y="3657600"/>
            <a:ext cx="7711135" cy="0"/>
          </a:xfrm>
          <a:prstGeom prst="line">
            <a:avLst/>
          </a:prstGeom>
          <a:noFill/>
          <a:ln w="25400">
            <a:solidFill>
              <a:srgbClr val="C9D3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080717" y="3538728"/>
            <a:ext cx="237744" cy="237744"/>
          </a:xfrm>
          <a:prstGeom prst="ellipse">
            <a:avLst/>
          </a:prstGeom>
          <a:solidFill>
            <a:srgbClr val="D966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650949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10月</a:t>
            </a:r>
            <a:endParaRPr lang="ja-JP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914400" y="3886200"/>
            <a:ext cx="25703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表示する項目を決める</a:t>
            </a:r>
            <a:endParaRPr lang="ja-JP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914400" y="4251960"/>
            <a:ext cx="2570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必要な情報をチームで洗い出す</a:t>
            </a:r>
            <a:endParaRPr lang="ja-JP" sz="1150" dirty="0"/>
          </a:p>
        </p:txBody>
      </p:sp>
      <p:sp>
        <p:nvSpPr>
          <p:cNvPr id="24" name="Shape 19"/>
          <p:cNvSpPr/>
          <p:nvPr/>
        </p:nvSpPr>
        <p:spPr>
          <a:xfrm>
            <a:off x="4833976" y="3538728"/>
            <a:ext cx="237744" cy="237744"/>
          </a:xfrm>
          <a:prstGeom prst="ellipse">
            <a:avLst/>
          </a:prstGeom>
          <a:solidFill>
            <a:srgbClr val="0E4F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404208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11月</a:t>
            </a:r>
            <a:endParaRPr lang="ja-JP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3667658" y="3886200"/>
            <a:ext cx="25703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試作・試行</a:t>
            </a:r>
            <a:endParaRPr lang="ja-JP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3667658" y="4251960"/>
            <a:ext cx="2570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集計ツールをもとに試作し、試しに運用</a:t>
            </a:r>
            <a:endParaRPr lang="ja-JP" sz="1150" dirty="0"/>
          </a:p>
        </p:txBody>
      </p:sp>
      <p:sp>
        <p:nvSpPr>
          <p:cNvPr id="28" name="Shape 23"/>
          <p:cNvSpPr/>
          <p:nvPr/>
        </p:nvSpPr>
        <p:spPr>
          <a:xfrm>
            <a:off x="7587234" y="3538728"/>
            <a:ext cx="237744" cy="237744"/>
          </a:xfrm>
          <a:prstGeom prst="ellipse">
            <a:avLst/>
          </a:prstGeom>
          <a:solidFill>
            <a:srgbClr val="0E4F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157466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12月</a:t>
            </a:r>
            <a:endParaRPr lang="ja-JP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420917" y="3886200"/>
            <a:ext cx="25703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本運用・振り返り</a:t>
            </a:r>
            <a:endParaRPr lang="ja-JP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6420917" y="4251960"/>
            <a:ext cx="2570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運用しながら改善。他チームへの共有も検討</a:t>
            </a:r>
            <a:endParaRPr lang="ja-JP" sz="1150" dirty="0"/>
          </a:p>
        </p:txBody>
      </p:sp>
      <p:sp>
        <p:nvSpPr>
          <p:cNvPr id="32" name="Shape 27"/>
          <p:cNvSpPr/>
          <p:nvPr/>
        </p:nvSpPr>
        <p:spPr>
          <a:xfrm>
            <a:off x="548640" y="5120640"/>
            <a:ext cx="8808415" cy="914400"/>
          </a:xfrm>
          <a:prstGeom prst="roundRect">
            <a:avLst>
              <a:gd name="adj" fmla="val 8000"/>
            </a:avLst>
          </a:prstGeom>
          <a:solidFill>
            <a:srgbClr val="FCEBDD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76672"/>
            <a:ext cx="384048" cy="38404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417320" y="5120640"/>
            <a:ext cx="7665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活用するもの：</a:t>
            </a:r>
            <a:pPr indent="0" marL="0">
              <a:buNone/>
            </a:pPr>
            <a:r>
              <a:rPr lang="ja-JP" altLang="en-US" sz="13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既存の処理件数集計ツール（日別・週別・月別を自動集計）</a:t>
            </a:r>
            <a:endParaRPr lang="ja-JP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他チームとの連携について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267048" cy="3520440"/>
          </a:xfrm>
          <a:prstGeom prst="roundRect">
            <a:avLst>
              <a:gd name="adj" fmla="val 2078"/>
            </a:avLst>
          </a:prstGeom>
          <a:solidFill>
            <a:srgbClr val="E3EFF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0E4F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00200"/>
            <a:ext cx="307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共有できること</a:t>
            </a:r>
            <a:endParaRPr lang="ja-JP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37184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FAQとその作成方法</a:t>
            </a:r>
            <a:endParaRPr lang="ja-JP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処理件数集計ツール</a:t>
            </a:r>
            <a:endParaRPr lang="ja-JP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繁忙期・残案件の状況（見える化後）</a:t>
            </a:r>
            <a:endParaRPr lang="ja-JP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統合で試したこと（成功・失敗とも）</a:t>
            </a:r>
            <a:endParaRPr lang="ja-JP" sz="1400" dirty="0"/>
          </a:p>
        </p:txBody>
      </p:sp>
      <p:sp>
        <p:nvSpPr>
          <p:cNvPr id="8" name="Shape 5"/>
          <p:cNvSpPr/>
          <p:nvPr/>
        </p:nvSpPr>
        <p:spPr>
          <a:xfrm>
            <a:off x="5090008" y="1325880"/>
            <a:ext cx="4267048" cy="3520440"/>
          </a:xfrm>
          <a:prstGeom prst="roundRect">
            <a:avLst>
              <a:gd name="adj" fmla="val 2078"/>
            </a:avLst>
          </a:prstGeom>
          <a:solidFill>
            <a:srgbClr val="FCEBDD"/>
          </a:solidFill>
          <a:ln/>
        </p:spPr>
      </p:sp>
      <p:sp>
        <p:nvSpPr>
          <p:cNvPr id="9" name="Shape 6"/>
          <p:cNvSpPr/>
          <p:nvPr/>
        </p:nvSpPr>
        <p:spPr>
          <a:xfrm>
            <a:off x="5364328" y="1600200"/>
            <a:ext cx="548640" cy="548640"/>
          </a:xfrm>
          <a:prstGeom prst="ellipse">
            <a:avLst/>
          </a:prstGeom>
          <a:solidFill>
            <a:srgbClr val="D9661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8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95848" y="1600200"/>
            <a:ext cx="307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相談したいこと</a:t>
            </a:r>
            <a:endParaRPr lang="ja-JP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364328" y="2377440"/>
            <a:ext cx="37184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各チームの繁忙期・困りごとの共有</a:t>
            </a:r>
            <a:endParaRPr lang="ja-JP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チームをまたぐ問い合わせの傾向</a:t>
            </a:r>
            <a:endParaRPr lang="ja-JP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情報共有の方法（定例・共有フォルダなど）</a:t>
            </a:r>
            <a:endParaRPr lang="ja-JP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5074920"/>
            <a:ext cx="8808415" cy="960120"/>
          </a:xfrm>
          <a:prstGeom prst="roundRect">
            <a:avLst>
              <a:gd name="adj" fmla="val 7619"/>
            </a:avLst>
          </a:prstGeom>
          <a:solidFill>
            <a:srgbClr val="0E4F5C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68680" y="5074920"/>
            <a:ext cx="8168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まずは、お互いの状況を共有するところから始めたいと考えています。</a:t>
            </a:r>
            <a:pPr indent="0" marL="0">
              <a:buNone/>
            </a:pPr>
            <a:endParaRPr lang="ja-JP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取り組みで大事にしていること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267048" cy="2240280"/>
          </a:xfrm>
          <a:prstGeom prst="roundRect">
            <a:avLst>
              <a:gd name="adj" fmla="val 3265"/>
            </a:avLst>
          </a:prstGeom>
          <a:solidFill>
            <a:srgbClr val="F1F6F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0E4F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ja-JP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08760"/>
            <a:ext cx="3261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4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詳しい人の役割</a:t>
            </a:r>
            <a:endParaRPr lang="ja-JP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809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2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知識をマニュアルやFAQに移してもらい、詳しい人には仕組みづくりや育成を担ってもらう。役割が変わるだけで、価値が下がるわけではない。</a:t>
            </a:r>
            <a:endParaRPr lang="ja-JP" sz="1250" dirty="0"/>
          </a:p>
        </p:txBody>
      </p:sp>
      <p:sp>
        <p:nvSpPr>
          <p:cNvPr id="8" name="Shape 6"/>
          <p:cNvSpPr/>
          <p:nvPr/>
        </p:nvSpPr>
        <p:spPr>
          <a:xfrm>
            <a:off x="5090008" y="1325880"/>
            <a:ext cx="4267048" cy="2240280"/>
          </a:xfrm>
          <a:prstGeom prst="roundRect">
            <a:avLst>
              <a:gd name="adj" fmla="val 3265"/>
            </a:avLst>
          </a:prstGeom>
          <a:solidFill>
            <a:srgbClr val="F1F6F7"/>
          </a:solidFill>
          <a:ln/>
        </p:spPr>
      </p:sp>
      <p:sp>
        <p:nvSpPr>
          <p:cNvPr id="9" name="Shape 7"/>
          <p:cNvSpPr/>
          <p:nvPr/>
        </p:nvSpPr>
        <p:spPr>
          <a:xfrm>
            <a:off x="5318608" y="1554480"/>
            <a:ext cx="457200" cy="457200"/>
          </a:xfrm>
          <a:prstGeom prst="ellipse">
            <a:avLst/>
          </a:prstGeom>
          <a:solidFill>
            <a:srgbClr val="0E4F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1860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ja-JP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12968" y="1508760"/>
            <a:ext cx="3261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4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性格や相性に頼らない</a:t>
            </a:r>
            <a:endParaRPr lang="ja-JP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318608" y="2423160"/>
            <a:ext cx="3809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2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私自身、うまく立ち回れる方ではない。ルールで回る形にすれば、動きやすさが人によって変わらず、人間関係の負担も減る。</a:t>
            </a:r>
            <a:endParaRPr lang="ja-JP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4267048" cy="2240280"/>
          </a:xfrm>
          <a:prstGeom prst="roundRect">
            <a:avLst>
              <a:gd name="adj" fmla="val 3265"/>
            </a:avLst>
          </a:prstGeom>
          <a:solidFill>
            <a:srgbClr val="F1F6F7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0E4F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ja-JP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931920"/>
            <a:ext cx="3261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4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一人ひとりが改善に関わる</a:t>
            </a:r>
            <a:endParaRPr lang="ja-JP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46320"/>
            <a:ext cx="3809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2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担当は替わることがあっても、気づいたことを出して仕組みを良くしていくのは一人ひとり。私もその一人として関わりたい。</a:t>
            </a:r>
            <a:endParaRPr lang="ja-JP" sz="1250" dirty="0"/>
          </a:p>
        </p:txBody>
      </p:sp>
      <p:sp>
        <p:nvSpPr>
          <p:cNvPr id="18" name="Shape 16"/>
          <p:cNvSpPr/>
          <p:nvPr/>
        </p:nvSpPr>
        <p:spPr>
          <a:xfrm>
            <a:off x="5090008" y="3749040"/>
            <a:ext cx="4267048" cy="2240280"/>
          </a:xfrm>
          <a:prstGeom prst="roundRect">
            <a:avLst>
              <a:gd name="adj" fmla="val 3265"/>
            </a:avLst>
          </a:prstGeom>
          <a:solidFill>
            <a:srgbClr val="F1F6F7"/>
          </a:solidFill>
          <a:ln/>
        </p:spPr>
      </p:sp>
      <p:sp>
        <p:nvSpPr>
          <p:cNvPr id="19" name="Shape 17"/>
          <p:cNvSpPr/>
          <p:nvPr/>
        </p:nvSpPr>
        <p:spPr>
          <a:xfrm>
            <a:off x="5318608" y="3977640"/>
            <a:ext cx="457200" cy="457200"/>
          </a:xfrm>
          <a:prstGeom prst="ellipse">
            <a:avLst/>
          </a:prstGeom>
          <a:solidFill>
            <a:srgbClr val="0E4F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1860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</a:t>
            </a:r>
            <a:endParaRPr lang="ja-JP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912968" y="3931920"/>
            <a:ext cx="3261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4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ルールで判断をそろえる</a:t>
            </a:r>
            <a:endParaRPr lang="ja-JP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318608" y="4846320"/>
            <a:ext cx="3809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2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私は理解に時間がかかる方だが、理念を現場のルールに落とし込んでおけば、判断がぶれにくい。</a:t>
            </a:r>
            <a:endParaRPr lang="ja-JP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754880"/>
            <a:ext cx="3840480" cy="3840480"/>
          </a:xfrm>
          <a:prstGeom prst="ellipse">
            <a:avLst/>
          </a:prstGeom>
          <a:solidFill>
            <a:srgbClr val="1B6B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8808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rgbClr val="F2B27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めざす姿</a:t>
            </a:r>
            <a:endParaRPr lang="ja-JP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3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形が変わっても、このチームが続いていくように</a:t>
            </a:r>
            <a:endParaRPr lang="ja-JP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57860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48840" y="2514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誰が休んでも、異動しても、同じ品質で業務が回る</a:t>
            </a:r>
            <a:endParaRPr lang="ja-JP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312724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30632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人が入れ替わっても、やり方がチームに残る</a:t>
            </a:r>
            <a:endParaRPr lang="ja-JP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67588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148840" y="36118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空いた時間で、一人ひとりが新しい業務に挑戦できる</a:t>
            </a:r>
            <a:endParaRPr lang="ja-JP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4480560"/>
            <a:ext cx="8808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350" dirty="0">
                <a:solidFill>
                  <a:srgbClr val="D6E8EB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他チームの皆さんとも、協力しながら進めていければと思います</a:t>
            </a:r>
            <a:endParaRPr lang="ja-JP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029200"/>
            <a:ext cx="8808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ありがとうございました</a:t>
            </a:r>
            <a:endParaRPr lang="ja-JP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付録：これまでのツール活用（RPA）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962074" cy="2971800"/>
          </a:xfrm>
          <a:prstGeom prst="roundRect">
            <a:avLst>
              <a:gd name="adj" fmla="val 3728"/>
            </a:avLst>
          </a:prstGeom>
          <a:solidFill>
            <a:srgbClr val="F1F6F7"/>
          </a:solidFill>
          <a:ln/>
        </p:spPr>
      </p:sp>
      <p:sp>
        <p:nvSpPr>
          <p:cNvPr id="4" name="Shape 2"/>
          <p:cNvSpPr/>
          <p:nvPr/>
        </p:nvSpPr>
        <p:spPr>
          <a:xfrm>
            <a:off x="1209637" y="1554480"/>
            <a:ext cx="640080" cy="640080"/>
          </a:xfrm>
          <a:prstGeom prst="ellipse">
            <a:avLst/>
          </a:prstGeom>
          <a:solidFill>
            <a:srgbClr val="0E4F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657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1687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シクリ</a:t>
            </a:r>
            <a:endParaRPr lang="ja-JP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97480"/>
            <a:ext cx="1596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定型作業の自動化</a:t>
            </a:r>
            <a:endParaRPr lang="ja-JP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91840"/>
            <a:ext cx="159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15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時期：</a:t>
            </a:r>
            <a:pPr indent="0" marL="0">
              <a:lnSpc>
                <a:spcPct val="125000"/>
              </a:lnSpc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〇〇年〜</a:t>
            </a:r>
            <a:endParaRPr lang="ja-JP" sz="115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115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対象：</a:t>
            </a:r>
            <a:pPr indent="0" marL="0">
              <a:lnSpc>
                <a:spcPct val="125000"/>
              </a:lnSpc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〇〇業務</a:t>
            </a:r>
            <a:endParaRPr lang="ja-JP" sz="115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115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効果：</a:t>
            </a:r>
            <a:pPr indent="0" marL="0">
              <a:lnSpc>
                <a:spcPct val="125000"/>
              </a:lnSpc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〇〇</a:t>
            </a:r>
            <a:endParaRPr lang="ja-JP" sz="1150" dirty="0"/>
          </a:p>
        </p:txBody>
      </p:sp>
      <p:sp>
        <p:nvSpPr>
          <p:cNvPr id="9" name="Shape 6"/>
          <p:cNvSpPr/>
          <p:nvPr/>
        </p:nvSpPr>
        <p:spPr>
          <a:xfrm>
            <a:off x="2593010" y="2674620"/>
            <a:ext cx="155448" cy="274320"/>
          </a:xfrm>
          <a:prstGeom prst="chevron">
            <a:avLst/>
          </a:prstGeom>
          <a:solidFill>
            <a:srgbClr val="C9D3D7"/>
          </a:solidFill>
          <a:ln/>
        </p:spPr>
      </p:sp>
      <p:sp>
        <p:nvSpPr>
          <p:cNvPr id="10" name="Shape 7"/>
          <p:cNvSpPr/>
          <p:nvPr/>
        </p:nvSpPr>
        <p:spPr>
          <a:xfrm>
            <a:off x="2830754" y="1325880"/>
            <a:ext cx="1962074" cy="2971800"/>
          </a:xfrm>
          <a:prstGeom prst="roundRect">
            <a:avLst>
              <a:gd name="adj" fmla="val 3728"/>
            </a:avLst>
          </a:prstGeom>
          <a:solidFill>
            <a:srgbClr val="F1F6F7"/>
          </a:solidFill>
          <a:ln/>
        </p:spPr>
      </p:sp>
      <p:sp>
        <p:nvSpPr>
          <p:cNvPr id="11" name="Shape 8"/>
          <p:cNvSpPr/>
          <p:nvPr/>
        </p:nvSpPr>
        <p:spPr>
          <a:xfrm>
            <a:off x="3491751" y="1554480"/>
            <a:ext cx="640080" cy="640080"/>
          </a:xfrm>
          <a:prstGeom prst="ellipse">
            <a:avLst/>
          </a:prstGeom>
          <a:solidFill>
            <a:srgbClr val="0E4F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771" y="17145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67914" y="2286000"/>
            <a:ext cx="1687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AI-OCR</a:t>
            </a:r>
            <a:endParaRPr lang="ja-JP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013634" y="2697480"/>
            <a:ext cx="1596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紙書類の読み取り・入力の自動化</a:t>
            </a:r>
            <a:endParaRPr lang="ja-JP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013634" y="3291840"/>
            <a:ext cx="159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15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時期：</a:t>
            </a:r>
            <a:pPr indent="0" marL="0">
              <a:lnSpc>
                <a:spcPct val="125000"/>
              </a:lnSpc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〇〇年〜</a:t>
            </a:r>
            <a:endParaRPr lang="ja-JP" sz="115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115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対象：</a:t>
            </a:r>
            <a:pPr indent="0" marL="0">
              <a:lnSpc>
                <a:spcPct val="125000"/>
              </a:lnSpc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〇〇業務</a:t>
            </a:r>
            <a:endParaRPr lang="ja-JP" sz="115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115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効果：</a:t>
            </a:r>
            <a:pPr indent="0" marL="0">
              <a:lnSpc>
                <a:spcPct val="125000"/>
              </a:lnSpc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〇〇</a:t>
            </a:r>
            <a:endParaRPr lang="ja-JP" sz="1150" dirty="0"/>
          </a:p>
        </p:txBody>
      </p:sp>
      <p:sp>
        <p:nvSpPr>
          <p:cNvPr id="16" name="Shape 12"/>
          <p:cNvSpPr/>
          <p:nvPr/>
        </p:nvSpPr>
        <p:spPr>
          <a:xfrm>
            <a:off x="4875124" y="2674620"/>
            <a:ext cx="155448" cy="274320"/>
          </a:xfrm>
          <a:prstGeom prst="chevron">
            <a:avLst/>
          </a:prstGeom>
          <a:solidFill>
            <a:srgbClr val="C9D3D7"/>
          </a:solidFill>
          <a:ln/>
        </p:spPr>
      </p:sp>
      <p:sp>
        <p:nvSpPr>
          <p:cNvPr id="17" name="Shape 13"/>
          <p:cNvSpPr/>
          <p:nvPr/>
        </p:nvSpPr>
        <p:spPr>
          <a:xfrm>
            <a:off x="5112868" y="1325880"/>
            <a:ext cx="1962074" cy="2971800"/>
          </a:xfrm>
          <a:prstGeom prst="roundRect">
            <a:avLst>
              <a:gd name="adj" fmla="val 3728"/>
            </a:avLst>
          </a:prstGeom>
          <a:solidFill>
            <a:srgbClr val="F1F6F7"/>
          </a:solidFill>
          <a:ln/>
        </p:spPr>
      </p:sp>
      <p:sp>
        <p:nvSpPr>
          <p:cNvPr id="18" name="Shape 14"/>
          <p:cNvSpPr/>
          <p:nvPr/>
        </p:nvSpPr>
        <p:spPr>
          <a:xfrm>
            <a:off x="5773865" y="1554480"/>
            <a:ext cx="640080" cy="640080"/>
          </a:xfrm>
          <a:prstGeom prst="ellipse">
            <a:avLst/>
          </a:prstGeom>
          <a:solidFill>
            <a:srgbClr val="0E4F5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885" y="17145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50028" y="2286000"/>
            <a:ext cx="1687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UiPath</a:t>
            </a:r>
            <a:endParaRPr lang="ja-JP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5295748" y="2697480"/>
            <a:ext cx="1596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システム操作の自動化</a:t>
            </a:r>
            <a:endParaRPr lang="ja-JP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5295748" y="3291840"/>
            <a:ext cx="159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15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時期：</a:t>
            </a:r>
            <a:pPr indent="0" marL="0">
              <a:lnSpc>
                <a:spcPct val="125000"/>
              </a:lnSpc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〇〇年〜</a:t>
            </a:r>
            <a:endParaRPr lang="ja-JP" sz="115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115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対象：</a:t>
            </a:r>
            <a:pPr indent="0" marL="0">
              <a:lnSpc>
                <a:spcPct val="125000"/>
              </a:lnSpc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〇〇業務</a:t>
            </a:r>
            <a:endParaRPr lang="ja-JP" sz="115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115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効果：</a:t>
            </a:r>
            <a:pPr indent="0" marL="0">
              <a:lnSpc>
                <a:spcPct val="125000"/>
              </a:lnSpc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〇〇</a:t>
            </a:r>
            <a:endParaRPr lang="ja-JP" sz="1150" dirty="0"/>
          </a:p>
        </p:txBody>
      </p:sp>
      <p:sp>
        <p:nvSpPr>
          <p:cNvPr id="23" name="Shape 18"/>
          <p:cNvSpPr/>
          <p:nvPr/>
        </p:nvSpPr>
        <p:spPr>
          <a:xfrm>
            <a:off x="7157237" y="2674620"/>
            <a:ext cx="155448" cy="274320"/>
          </a:xfrm>
          <a:prstGeom prst="chevron">
            <a:avLst/>
          </a:prstGeom>
          <a:solidFill>
            <a:srgbClr val="C9D3D7"/>
          </a:solidFill>
          <a:ln/>
        </p:spPr>
      </p:sp>
      <p:sp>
        <p:nvSpPr>
          <p:cNvPr id="24" name="Shape 19"/>
          <p:cNvSpPr/>
          <p:nvPr/>
        </p:nvSpPr>
        <p:spPr>
          <a:xfrm>
            <a:off x="7394981" y="1325880"/>
            <a:ext cx="1962074" cy="2971800"/>
          </a:xfrm>
          <a:prstGeom prst="roundRect">
            <a:avLst>
              <a:gd name="adj" fmla="val 3728"/>
            </a:avLst>
          </a:prstGeom>
          <a:solidFill>
            <a:srgbClr val="F1F6F7"/>
          </a:solidFill>
          <a:ln/>
        </p:spPr>
      </p:sp>
      <p:sp>
        <p:nvSpPr>
          <p:cNvPr id="25" name="Shape 20"/>
          <p:cNvSpPr/>
          <p:nvPr/>
        </p:nvSpPr>
        <p:spPr>
          <a:xfrm>
            <a:off x="8055978" y="1554480"/>
            <a:ext cx="640080" cy="640080"/>
          </a:xfrm>
          <a:prstGeom prst="ellipse">
            <a:avLst/>
          </a:prstGeom>
          <a:solidFill>
            <a:srgbClr val="0E4F5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998" y="171450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532141" y="2286000"/>
            <a:ext cx="1687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Excel VBA</a:t>
            </a:r>
            <a:endParaRPr lang="ja-JP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7577861" y="2697480"/>
            <a:ext cx="1596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集計・チェック作業の効率化</a:t>
            </a:r>
            <a:endParaRPr lang="ja-JP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7577861" y="3291840"/>
            <a:ext cx="159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15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時期：</a:t>
            </a:r>
            <a:pPr indent="0" marL="0">
              <a:lnSpc>
                <a:spcPct val="125000"/>
              </a:lnSpc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〇〇年〜</a:t>
            </a:r>
            <a:endParaRPr lang="ja-JP" sz="115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115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対象：</a:t>
            </a:r>
            <a:pPr indent="0" marL="0">
              <a:lnSpc>
                <a:spcPct val="125000"/>
              </a:lnSpc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〇〇業務</a:t>
            </a:r>
            <a:endParaRPr lang="ja-JP" sz="115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1150" b="1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効果：</a:t>
            </a:r>
            <a:pPr indent="0" marL="0">
              <a:lnSpc>
                <a:spcPct val="125000"/>
              </a:lnSpc>
              <a:buNone/>
            </a:pPr>
            <a:r>
              <a:rPr lang="ja-JP" altLang="en-US" sz="1150" dirty="0">
                <a:solidFill>
                  <a:srgbClr val="5F6B7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〇〇</a:t>
            </a:r>
            <a:endParaRPr lang="ja-JP" sz="1150" dirty="0"/>
          </a:p>
        </p:txBody>
      </p:sp>
      <p:sp>
        <p:nvSpPr>
          <p:cNvPr id="30" name="Shape 24"/>
          <p:cNvSpPr/>
          <p:nvPr/>
        </p:nvSpPr>
        <p:spPr>
          <a:xfrm>
            <a:off x="548640" y="4526280"/>
            <a:ext cx="8808415" cy="1554480"/>
          </a:xfrm>
          <a:prstGeom prst="roundRect">
            <a:avLst>
              <a:gd name="adj" fmla="val 4706"/>
            </a:avLst>
          </a:prstGeom>
          <a:solidFill>
            <a:srgbClr val="FCEBDD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70916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17320" y="4709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わかったこと</a:t>
            </a:r>
            <a:endParaRPr lang="ja-JP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1417320" y="5166360"/>
            <a:ext cx="7665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ツールを入れるだけでは、属人化はなくならない</a:t>
            </a:r>
            <a:endParaRPr lang="ja-JP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作った人しか直せないツールは、それ自体が属人化する。保守も含めて誰でも扱える形にする必要がある</a:t>
            </a:r>
            <a:endParaRPr lang="ja-JP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付録：AIで、これからやってみたいこと</a:t>
            </a:r>
            <a:endParaRPr lang="ja-JP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979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AIの活用について、現時点で考えているアイデア</a:t>
            </a:r>
            <a:endParaRPr lang="ja-JP" sz="1450" dirty="0"/>
          </a:p>
        </p:txBody>
      </p:sp>
      <p:sp>
        <p:nvSpPr>
          <p:cNvPr id="4" name="Shape 2"/>
          <p:cNvSpPr/>
          <p:nvPr/>
        </p:nvSpPr>
        <p:spPr>
          <a:xfrm>
            <a:off x="7711135" y="1261872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D966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11135" y="1261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アイデア・構想中</a:t>
            </a:r>
            <a:endParaRPr lang="ja-JP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783738" cy="1371600"/>
          </a:xfrm>
          <a:prstGeom prst="roundRect">
            <a:avLst>
              <a:gd name="adj" fmla="val 5333"/>
            </a:avLst>
          </a:prstGeom>
          <a:solidFill>
            <a:srgbClr val="F1F6F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2C8C9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12598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2011680"/>
            <a:ext cx="1869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チャットボット</a:t>
            </a:r>
            <a:endParaRPr lang="ja-JP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78608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FAQをもとに、システム操作の質問へいつでも一次回答</a:t>
            </a:r>
            <a:endParaRPr lang="ja-JP" sz="1200" dirty="0"/>
          </a:p>
        </p:txBody>
      </p:sp>
      <p:sp>
        <p:nvSpPr>
          <p:cNvPr id="11" name="Shape 8"/>
          <p:cNvSpPr/>
          <p:nvPr/>
        </p:nvSpPr>
        <p:spPr>
          <a:xfrm>
            <a:off x="3560978" y="1828800"/>
            <a:ext cx="2783738" cy="1371600"/>
          </a:xfrm>
          <a:prstGeom prst="roundRect">
            <a:avLst>
              <a:gd name="adj" fmla="val 5333"/>
            </a:avLst>
          </a:prstGeom>
          <a:solidFill>
            <a:srgbClr val="F1F6F7"/>
          </a:solidFill>
          <a:ln/>
        </p:spPr>
      </p:sp>
      <p:sp>
        <p:nvSpPr>
          <p:cNvPr id="12" name="Shape 9"/>
          <p:cNvSpPr/>
          <p:nvPr/>
        </p:nvSpPr>
        <p:spPr>
          <a:xfrm>
            <a:off x="3743858" y="2011680"/>
            <a:ext cx="457200" cy="457200"/>
          </a:xfrm>
          <a:prstGeom prst="ellipse">
            <a:avLst/>
          </a:prstGeom>
          <a:solidFill>
            <a:srgbClr val="2C8C9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158" y="21259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38218" y="2011680"/>
            <a:ext cx="1869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マニュアルのAI検索</a:t>
            </a:r>
            <a:endParaRPr lang="ja-JP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743858" y="2578608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質問すると、該当する手順や判断基準を探せる</a:t>
            </a:r>
            <a:endParaRPr lang="ja-JP" sz="1200" dirty="0"/>
          </a:p>
        </p:txBody>
      </p:sp>
      <p:sp>
        <p:nvSpPr>
          <p:cNvPr id="16" name="Shape 12"/>
          <p:cNvSpPr/>
          <p:nvPr/>
        </p:nvSpPr>
        <p:spPr>
          <a:xfrm>
            <a:off x="6573317" y="1828800"/>
            <a:ext cx="2783738" cy="1371600"/>
          </a:xfrm>
          <a:prstGeom prst="roundRect">
            <a:avLst>
              <a:gd name="adj" fmla="val 5333"/>
            </a:avLst>
          </a:prstGeom>
          <a:solidFill>
            <a:srgbClr val="F1F6F7"/>
          </a:solidFill>
          <a:ln/>
        </p:spPr>
      </p:sp>
      <p:sp>
        <p:nvSpPr>
          <p:cNvPr id="17" name="Shape 13"/>
          <p:cNvSpPr/>
          <p:nvPr/>
        </p:nvSpPr>
        <p:spPr>
          <a:xfrm>
            <a:off x="6756197" y="2011680"/>
            <a:ext cx="457200" cy="457200"/>
          </a:xfrm>
          <a:prstGeom prst="ellipse">
            <a:avLst/>
          </a:prstGeom>
          <a:solidFill>
            <a:srgbClr val="2C8C9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497" y="212598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50557" y="2011680"/>
            <a:ext cx="1869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認定書類のAIチェック</a:t>
            </a:r>
            <a:endParaRPr lang="ja-JP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756197" y="2578608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AI-OCRと組み合わせ、記載漏れや不整合を事前に確認</a:t>
            </a:r>
            <a:endParaRPr lang="ja-JP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383280"/>
            <a:ext cx="2783738" cy="1371600"/>
          </a:xfrm>
          <a:prstGeom prst="roundRect">
            <a:avLst>
              <a:gd name="adj" fmla="val 5333"/>
            </a:avLst>
          </a:prstGeom>
          <a:solidFill>
            <a:srgbClr val="F1F6F7"/>
          </a:solidFill>
          <a:ln/>
        </p:spPr>
      </p:sp>
      <p:sp>
        <p:nvSpPr>
          <p:cNvPr id="22" name="Shape 17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2C8C9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68046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25880" y="3566160"/>
            <a:ext cx="1869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電話内容の要約・記録</a:t>
            </a:r>
            <a:endParaRPr lang="ja-JP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4133088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対応履歴を自動で残し、FAQの改善に回す</a:t>
            </a:r>
            <a:endParaRPr lang="ja-JP" sz="1200" dirty="0"/>
          </a:p>
        </p:txBody>
      </p:sp>
      <p:sp>
        <p:nvSpPr>
          <p:cNvPr id="26" name="Shape 20"/>
          <p:cNvSpPr/>
          <p:nvPr/>
        </p:nvSpPr>
        <p:spPr>
          <a:xfrm>
            <a:off x="3560978" y="3383280"/>
            <a:ext cx="2783738" cy="1371600"/>
          </a:xfrm>
          <a:prstGeom prst="roundRect">
            <a:avLst>
              <a:gd name="adj" fmla="val 5333"/>
            </a:avLst>
          </a:prstGeom>
          <a:solidFill>
            <a:srgbClr val="F1F6F7"/>
          </a:solidFill>
          <a:ln/>
        </p:spPr>
      </p:sp>
      <p:sp>
        <p:nvSpPr>
          <p:cNvPr id="27" name="Shape 21"/>
          <p:cNvSpPr/>
          <p:nvPr/>
        </p:nvSpPr>
        <p:spPr>
          <a:xfrm>
            <a:off x="3743858" y="3566160"/>
            <a:ext cx="457200" cy="457200"/>
          </a:xfrm>
          <a:prstGeom prst="ellipse">
            <a:avLst/>
          </a:prstGeom>
          <a:solidFill>
            <a:srgbClr val="2C8C9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158" y="3680460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338218" y="3566160"/>
            <a:ext cx="1869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業務量の自動集計</a:t>
            </a:r>
            <a:endParaRPr lang="ja-JP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3743858" y="4133088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処理件数・電話件数をダッシュボードへ自動反映</a:t>
            </a:r>
            <a:endParaRPr lang="ja-JP" sz="1200" dirty="0"/>
          </a:p>
        </p:txBody>
      </p:sp>
      <p:sp>
        <p:nvSpPr>
          <p:cNvPr id="31" name="Shape 24"/>
          <p:cNvSpPr/>
          <p:nvPr/>
        </p:nvSpPr>
        <p:spPr>
          <a:xfrm>
            <a:off x="6573317" y="3383280"/>
            <a:ext cx="2783738" cy="1371600"/>
          </a:xfrm>
          <a:prstGeom prst="roundRect">
            <a:avLst>
              <a:gd name="adj" fmla="val 5333"/>
            </a:avLst>
          </a:prstGeom>
          <a:solidFill>
            <a:srgbClr val="F1F6F7"/>
          </a:solidFill>
          <a:ln/>
        </p:spPr>
      </p:sp>
      <p:sp>
        <p:nvSpPr>
          <p:cNvPr id="32" name="Shape 25"/>
          <p:cNvSpPr/>
          <p:nvPr/>
        </p:nvSpPr>
        <p:spPr>
          <a:xfrm>
            <a:off x="6756197" y="3566160"/>
            <a:ext cx="457200" cy="457200"/>
          </a:xfrm>
          <a:prstGeom prst="ellipse">
            <a:avLst/>
          </a:prstGeom>
          <a:solidFill>
            <a:srgbClr val="2C8C99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497" y="3680460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350557" y="3566160"/>
            <a:ext cx="1869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0E4F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新人向けの質問対応</a:t>
            </a:r>
            <a:endParaRPr lang="ja-JP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6756197" y="4133088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マニュアルを学習したAIに、気軽に質問できる</a:t>
            </a:r>
            <a:endParaRPr lang="ja-JP" sz="1200" dirty="0"/>
          </a:p>
        </p:txBody>
      </p:sp>
      <p:sp>
        <p:nvSpPr>
          <p:cNvPr id="36" name="Shape 28"/>
          <p:cNvSpPr/>
          <p:nvPr/>
        </p:nvSpPr>
        <p:spPr>
          <a:xfrm>
            <a:off x="548640" y="5029200"/>
            <a:ext cx="8808415" cy="1005840"/>
          </a:xfrm>
          <a:prstGeom prst="roundRect">
            <a:avLst>
              <a:gd name="adj" fmla="val 7273"/>
            </a:avLst>
          </a:prstGeom>
          <a:solidFill>
            <a:srgbClr val="0E4F5C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868680" y="5029200"/>
            <a:ext cx="8168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45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AIを使うには、マニュアルやFAQが整っていることが前提。</a:t>
            </a:r>
            <a:endParaRPr lang="ja-JP" sz="14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450" b="1" dirty="0">
                <a:solidFill>
                  <a:srgbClr val="F2B27E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仕組み化を進めることが、AI活用の準備にもなる。</a:t>
            </a:r>
            <a:endParaRPr lang="ja-JP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付録：業務量の全体像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7802575" y="5029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D966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02575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50" b="1" dirty="0">
                <a:solidFill>
                  <a:srgbClr val="D9661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数値は後日追記</a:t>
            </a:r>
            <a:endParaRPr lang="ja-JP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808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91640"/>
                <a:gridCol w="1691640"/>
                <a:gridCol w="1554480"/>
                <a:gridCol w="185623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業務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年間処理件数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電話件数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繁忙期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メモ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F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給与手当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勤怠・出勤簿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年末調整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新採用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被服貸与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その他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合計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F6B7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—</a:t>
                      </a:r>
                      <a:endParaRPr lang="en-US" sz="13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1206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5074920"/>
            <a:ext cx="8259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1F2A3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処理件数の集計を整備中です。数字がそろったら追記し、「ダッシュボード化」につなげます。</a:t>
            </a:r>
            <a:endParaRPr lang="ja-JP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08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3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正規職員チームの変遷とこれから</dc:title>
  <dc:subject>PptxGenJS Presentation</dc:subject>
  <dc:creator>正規職員チーム</dc:creator>
  <cp:lastModifiedBy>正規職員チーム</cp:lastModifiedBy>
  <cp:revision>1</cp:revision>
  <dcterms:created xsi:type="dcterms:W3CDTF">2026-10-07T13:25:20Z</dcterms:created>
  <dcterms:modified xsi:type="dcterms:W3CDTF">2026-10-07T13:25:20Z</dcterms:modified>
</cp:coreProperties>
</file>