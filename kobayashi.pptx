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</p:sldIdLst>
  <p:sldSz cx="9906000" cy="6858000" type="A4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138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7006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A65D8-E358-9553-8063-DA49E0A7E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AB3078-452F-AD29-AED4-A678B3439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A9CCE7-2F67-ED4F-B03B-781410E99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E8698-DA00-1A4F-CC05-BACD2B14AB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662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200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rtimes.jp/main/html/rd/p/000000107.000023621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C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2024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探す時間を、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やりたい仕事の時間へ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9A8D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ヘルプデスクの一言から、FAQをつくるまで　｜　小林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188720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発端：ヘルプデスクで聞こえた、何気ない一言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669280" cy="1280160"/>
          </a:xfrm>
          <a:prstGeom prst="roundRect">
            <a:avLst>
              <a:gd name="adj" fmla="val 5517"/>
            </a:avLst>
          </a:prstGeom>
          <a:solidFill>
            <a:srgbClr val="F2EEF8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2801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0705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オペレーターの一言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「あれ？</a:t>
            </a:r>
            <a:r>
              <a:rPr lang="en-US" sz="1600" b="1" dirty="0">
                <a:solidFill>
                  <a:srgbClr val="E070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どっかでみた</a:t>
            </a:r>
            <a:r>
              <a:rPr lang="en-US" sz="16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んだけどな。どこに書いてあったかな？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</a:t>
            </a:r>
            <a:r>
              <a:rPr lang="en-US" sz="1600" b="1" dirty="0">
                <a:solidFill>
                  <a:srgbClr val="E070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CCP過去履歴</a:t>
            </a:r>
            <a:r>
              <a:rPr lang="en-US" sz="16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かな。それとも</a:t>
            </a:r>
            <a:r>
              <a:rPr lang="en-US" sz="1600" b="1" dirty="0">
                <a:solidFill>
                  <a:srgbClr val="E070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去年の通知</a:t>
            </a:r>
            <a:r>
              <a:rPr lang="en-US" sz="16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かな。」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542032"/>
            <a:ext cx="5669280" cy="8229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9A8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80720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0A5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ちなみに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560320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探す・確認する・聞く・待つ時間は、一般的な会社員で</a:t>
            </a: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6B4F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1日約20分</a:t>
            </a: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（年間 約73時間）</a:t>
            </a:r>
            <a:endParaRPr lang="en-US" sz="1300" dirty="0"/>
          </a:p>
          <a:p>
            <a:pPr marL="0" indent="0">
              <a:buNone/>
            </a:pPr>
            <a:r>
              <a:rPr lang="ja-JP" altLang="en-US" sz="1200" dirty="0">
                <a:solidFill>
                  <a:srgbClr val="0563C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出典：コクヨ調べ（</a:t>
            </a:r>
            <a:r>
              <a:rPr lang="en-US" altLang="ja-JP" sz="1200" dirty="0">
                <a:solidFill>
                  <a:srgbClr val="0563C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 TIMES</a:t>
            </a:r>
            <a:r>
              <a:rPr lang="ja-JP" altLang="en-US" sz="1200" dirty="0">
                <a:solidFill>
                  <a:srgbClr val="8E8A9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）</a:t>
            </a:r>
            <a:endParaRPr lang="en-US" sz="1200" dirty="0">
              <a:solidFill>
                <a:srgbClr val="8E8A99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355080" y="1143000"/>
            <a:ext cx="3093415" cy="2221992"/>
          </a:xfrm>
          <a:prstGeom prst="roundRect">
            <a:avLst>
              <a:gd name="adj" fmla="val 3478"/>
            </a:avLst>
          </a:prstGeom>
          <a:solidFill>
            <a:srgbClr val="3D2C6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B9A8D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結局、見つかった。でも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16916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F0A5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3人</a:t>
            </a:r>
            <a:r>
              <a:rPr lang="en-US" b="1" dirty="0">
                <a:solidFill>
                  <a:srgbClr val="F0A5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が </a:t>
            </a:r>
            <a:r>
              <a:rPr lang="en-US" sz="4000" b="1" dirty="0">
                <a:solidFill>
                  <a:srgbClr val="F0A5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約5分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63347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かけて探していた。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この「探す」時間を、なくしたい。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474720"/>
            <a:ext cx="8991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CCP過去履歴</a:t>
            </a: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＝進捗管理システムの検索ツール　／　</a:t>
            </a:r>
            <a:r>
              <a:rPr lang="en-US" sz="12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去年の通知</a:t>
            </a: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＝共有フォルダの中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8991295" cy="2560320"/>
          </a:xfrm>
          <a:prstGeom prst="roundRect">
            <a:avLst>
              <a:gd name="adj" fmla="val 2069"/>
            </a:avLst>
          </a:prstGeom>
          <a:solidFill>
            <a:srgbClr val="FAFAFC"/>
          </a:solidFill>
          <a:ln w="12700">
            <a:solidFill>
              <a:srgbClr val="8E8A99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457200" y="4800600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E8A9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［画像］CCP過去履歴（進捗管理システムの検索ツール）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99129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8E8A9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</a:t>
            </a:r>
            <a:r>
              <a:rPr lang="ja-JP" altLang="en-US" sz="24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この発言になったか？背景は？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991295" cy="640080"/>
          </a:xfrm>
          <a:prstGeom prst="roundRect">
            <a:avLst>
              <a:gd name="adj" fmla="val 11429"/>
            </a:avLst>
          </a:prstGeom>
          <a:solidFill>
            <a:srgbClr val="F2EEF8"/>
          </a:solidFill>
          <a:ln w="12700">
            <a:solidFill>
              <a:srgbClr val="B9A8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1615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3D2C6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スタート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1051560"/>
            <a:ext cx="7619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「あれ？どっかでみたんだけどな。どこに書いてあったかな？CCP過去履歴かな。それとも去年の通知かな。」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52848" y="1691640"/>
            <a:ext cx="0" cy="182880"/>
          </a:xfrm>
          <a:prstGeom prst="line">
            <a:avLst/>
          </a:prstGeom>
          <a:noFill/>
          <a:ln w="19050">
            <a:solidFill>
              <a:srgbClr val="B9A8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12532" y="1874520"/>
            <a:ext cx="6880631" cy="0"/>
          </a:xfrm>
          <a:prstGeom prst="line">
            <a:avLst/>
          </a:prstGeom>
          <a:noFill/>
          <a:ln w="19050">
            <a:solidFill>
              <a:srgbClr val="B9A8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12532" y="5120640"/>
            <a:ext cx="6880631" cy="0"/>
          </a:xfrm>
          <a:prstGeom prst="line">
            <a:avLst/>
          </a:prstGeom>
          <a:noFill/>
          <a:ln w="19050">
            <a:solidFill>
              <a:srgbClr val="B9A8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52848" y="5120640"/>
            <a:ext cx="0" cy="164592"/>
          </a:xfrm>
          <a:prstGeom prst="line">
            <a:avLst/>
          </a:prstGeom>
          <a:noFill/>
          <a:ln w="19050">
            <a:solidFill>
              <a:srgbClr val="B9A8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12532" y="1874520"/>
            <a:ext cx="0" cy="137160"/>
          </a:xfrm>
          <a:prstGeom prst="line">
            <a:avLst/>
          </a:prstGeom>
          <a:noFill/>
          <a:ln w="19050">
            <a:solidFill>
              <a:srgbClr val="B9A8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11680"/>
            <a:ext cx="2110664" cy="411480"/>
          </a:xfrm>
          <a:prstGeom prst="roundRect">
            <a:avLst>
              <a:gd name="adj" fmla="val 50000"/>
            </a:avLst>
          </a:prstGeom>
          <a:solidFill>
            <a:srgbClr val="6B4FA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「どっかでみた」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12532" y="2423160"/>
            <a:ext cx="0" cy="155448"/>
          </a:xfrm>
          <a:prstGeom prst="line">
            <a:avLst/>
          </a:prstGeom>
          <a:noFill/>
          <a:ln w="19050">
            <a:solidFill>
              <a:srgbClr val="B9A8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78608"/>
            <a:ext cx="2110664" cy="1051560"/>
          </a:xfrm>
          <a:prstGeom prst="roundRect">
            <a:avLst>
              <a:gd name="adj" fmla="val 6957"/>
            </a:avLst>
          </a:prstGeom>
          <a:solidFill>
            <a:srgbClr val="F2EE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2670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B4F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なぜ？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907792"/>
            <a:ext cx="1836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見た覚えはあるが、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どこで見たか思い出せない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12532" y="3630168"/>
            <a:ext cx="0" cy="155448"/>
          </a:xfrm>
          <a:prstGeom prst="line">
            <a:avLst/>
          </a:prstGeom>
          <a:noFill/>
          <a:ln w="19050">
            <a:solidFill>
              <a:srgbClr val="B9A8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85616"/>
            <a:ext cx="21106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6B4FA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877056"/>
            <a:ext cx="1836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B4F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なぜ？ → 原因①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4133088"/>
            <a:ext cx="1836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情報の置き場所が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決まっておらず、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複数の場所に分散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512532" y="4974336"/>
            <a:ext cx="0" cy="146304"/>
          </a:xfrm>
          <a:prstGeom prst="line">
            <a:avLst/>
          </a:prstGeom>
          <a:noFill/>
          <a:ln w="19050">
            <a:solidFill>
              <a:srgbClr val="B9A8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06076" y="1874520"/>
            <a:ext cx="0" cy="137160"/>
          </a:xfrm>
          <a:prstGeom prst="line">
            <a:avLst/>
          </a:prstGeom>
          <a:noFill/>
          <a:ln w="19050">
            <a:solidFill>
              <a:srgbClr val="B9A8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50744" y="2011680"/>
            <a:ext cx="2110664" cy="411480"/>
          </a:xfrm>
          <a:prstGeom prst="roundRect">
            <a:avLst>
              <a:gd name="adj" fmla="val 50000"/>
            </a:avLst>
          </a:prstGeom>
          <a:solidFill>
            <a:srgbClr val="4F73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「CCP過去履歴かな」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06076" y="2423160"/>
            <a:ext cx="0" cy="155448"/>
          </a:xfrm>
          <a:prstGeom prst="line">
            <a:avLst/>
          </a:prstGeom>
          <a:noFill/>
          <a:ln w="19050">
            <a:solidFill>
              <a:srgbClr val="B9A8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50744" y="2578608"/>
            <a:ext cx="2110664" cy="1051560"/>
          </a:xfrm>
          <a:prstGeom prst="roundRect">
            <a:avLst>
              <a:gd name="adj" fmla="val 6957"/>
            </a:avLst>
          </a:prstGeom>
          <a:solidFill>
            <a:srgbClr val="F2EEF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887904" y="2670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F739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なぜ？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887904" y="2907792"/>
            <a:ext cx="1836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過去の回答は、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問合せの履歴の中に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埋もれている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806076" y="3630168"/>
            <a:ext cx="0" cy="155448"/>
          </a:xfrm>
          <a:prstGeom prst="line">
            <a:avLst/>
          </a:prstGeom>
          <a:noFill/>
          <a:ln w="19050">
            <a:solidFill>
              <a:srgbClr val="B9A8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50744" y="3785616"/>
            <a:ext cx="21106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4F739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887904" y="3877056"/>
            <a:ext cx="1836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F739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なぜ？ → 原因②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887904" y="4133088"/>
            <a:ext cx="1836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答えが、くり返し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使える形（Q&amp;A）で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残っていない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806076" y="4974336"/>
            <a:ext cx="0" cy="146304"/>
          </a:xfrm>
          <a:prstGeom prst="line">
            <a:avLst/>
          </a:prstGeom>
          <a:noFill/>
          <a:ln w="19050">
            <a:solidFill>
              <a:srgbClr val="B9A8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99620" y="1874520"/>
            <a:ext cx="0" cy="137160"/>
          </a:xfrm>
          <a:prstGeom prst="line">
            <a:avLst/>
          </a:prstGeom>
          <a:noFill/>
          <a:ln w="19050">
            <a:solidFill>
              <a:srgbClr val="B9A8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44288" y="2011680"/>
            <a:ext cx="2110664" cy="411480"/>
          </a:xfrm>
          <a:prstGeom prst="roundRect">
            <a:avLst>
              <a:gd name="adj" fmla="val 50000"/>
            </a:avLst>
          </a:prstGeom>
          <a:solidFill>
            <a:srgbClr val="D98A1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「去年の通知かな」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099620" y="2423160"/>
            <a:ext cx="0" cy="155448"/>
          </a:xfrm>
          <a:prstGeom prst="line">
            <a:avLst/>
          </a:prstGeom>
          <a:noFill/>
          <a:ln w="19050">
            <a:solidFill>
              <a:srgbClr val="B9A8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44288" y="2578608"/>
            <a:ext cx="2110664" cy="1051560"/>
          </a:xfrm>
          <a:prstGeom prst="roundRect">
            <a:avLst>
              <a:gd name="adj" fmla="val 6957"/>
            </a:avLst>
          </a:prstGeom>
          <a:solidFill>
            <a:srgbClr val="F2EEF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181448" y="2670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98A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なぜ？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181448" y="2907792"/>
            <a:ext cx="1836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通知は共有フォルダに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あるが、すぐには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見つけられない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099620" y="3630168"/>
            <a:ext cx="0" cy="155448"/>
          </a:xfrm>
          <a:prstGeom prst="line">
            <a:avLst/>
          </a:prstGeom>
          <a:noFill/>
          <a:ln w="19050">
            <a:solidFill>
              <a:srgbClr val="B9A8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44288" y="3785616"/>
            <a:ext cx="21106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D98A1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181448" y="3877056"/>
            <a:ext cx="1836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98A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なぜ？ → 原因③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181448" y="4133088"/>
            <a:ext cx="1836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共有フォルダが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整理されておらず、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どこに何があるか不明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099620" y="4974336"/>
            <a:ext cx="0" cy="146304"/>
          </a:xfrm>
          <a:prstGeom prst="line">
            <a:avLst/>
          </a:prstGeom>
          <a:noFill/>
          <a:ln w="19050">
            <a:solidFill>
              <a:srgbClr val="B9A8D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93163" y="1874520"/>
            <a:ext cx="0" cy="137160"/>
          </a:xfrm>
          <a:prstGeom prst="line">
            <a:avLst/>
          </a:prstGeom>
          <a:noFill/>
          <a:ln w="19050">
            <a:solidFill>
              <a:srgbClr val="B9A8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37831" y="2011680"/>
            <a:ext cx="2110664" cy="411480"/>
          </a:xfrm>
          <a:prstGeom prst="roundRect">
            <a:avLst>
              <a:gd name="adj" fmla="val 50000"/>
            </a:avLst>
          </a:prstGeom>
          <a:solidFill>
            <a:srgbClr val="E0705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結局、3人で約5分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393163" y="2423160"/>
            <a:ext cx="0" cy="155448"/>
          </a:xfrm>
          <a:prstGeom prst="line">
            <a:avLst/>
          </a:prstGeom>
          <a:noFill/>
          <a:ln w="19050">
            <a:solidFill>
              <a:srgbClr val="B9A8D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37831" y="2578608"/>
            <a:ext cx="2110664" cy="1051560"/>
          </a:xfrm>
          <a:prstGeom prst="roundRect">
            <a:avLst>
              <a:gd name="adj" fmla="val 6957"/>
            </a:avLst>
          </a:prstGeom>
          <a:solidFill>
            <a:srgbClr val="F2EEF8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474991" y="2670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070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なぜ？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474991" y="2907792"/>
            <a:ext cx="1836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1人では見つけられず、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周りに聞いて一緒に探す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393163" y="3630168"/>
            <a:ext cx="0" cy="155448"/>
          </a:xfrm>
          <a:prstGeom prst="line">
            <a:avLst/>
          </a:prstGeom>
          <a:noFill/>
          <a:ln w="19050">
            <a:solidFill>
              <a:srgbClr val="B9A8D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337831" y="3785616"/>
            <a:ext cx="21106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E0705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474991" y="3877056"/>
            <a:ext cx="1836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070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なぜ？ → 原因④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7474991" y="4133088"/>
            <a:ext cx="1836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知っている人の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記憶に頼っている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8393163" y="4974336"/>
            <a:ext cx="0" cy="146304"/>
          </a:xfrm>
          <a:prstGeom prst="line">
            <a:avLst/>
          </a:prstGeom>
          <a:noFill/>
          <a:ln w="19050">
            <a:solidFill>
              <a:srgbClr val="B9A8D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5266944"/>
            <a:ext cx="8991295" cy="1097280"/>
          </a:xfrm>
          <a:prstGeom prst="roundRect">
            <a:avLst>
              <a:gd name="adj" fmla="val 6957"/>
            </a:avLst>
          </a:prstGeom>
          <a:solidFill>
            <a:srgbClr val="3D2C63"/>
          </a:solidFill>
          <a:ln/>
        </p:spPr>
      </p:sp>
      <p:sp>
        <p:nvSpPr>
          <p:cNvPr id="55" name="Text 53"/>
          <p:cNvSpPr/>
          <p:nvPr/>
        </p:nvSpPr>
        <p:spPr>
          <a:xfrm>
            <a:off x="685800" y="541324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0A5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根本原因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1783080" y="5340096"/>
            <a:ext cx="7436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探す・確認する・聞くことを、仕組みで減らせていない</a:t>
            </a:r>
            <a:endParaRPr lang="en-US" sz="1700" dirty="0"/>
          </a:p>
        </p:txBody>
      </p:sp>
      <p:sp>
        <p:nvSpPr>
          <p:cNvPr id="57" name="Text 55"/>
          <p:cNvSpPr txBox="1"/>
          <p:nvPr/>
        </p:nvSpPr>
        <p:spPr>
          <a:xfrm>
            <a:off x="1783080" y="5760720"/>
            <a:ext cx="7436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A8D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情報が人の記憶と複数の置き場所に頼っていて、誰でも必要な情報にすぐたどり着ける状態になっていない。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899129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8E8A9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原因ごとに、打ち手を考える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070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原因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160520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B4F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解決策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9A8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81912"/>
            <a:ext cx="493776" cy="493776"/>
          </a:xfrm>
          <a:prstGeom prst="ellipse">
            <a:avLst/>
          </a:prstGeom>
          <a:solidFill>
            <a:srgbClr val="6B4FA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情報が複数の場所に分散している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192" y="1700784"/>
            <a:ext cx="256032" cy="256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60520" y="1371600"/>
            <a:ext cx="5287975" cy="914400"/>
          </a:xfrm>
          <a:prstGeom prst="roundRect">
            <a:avLst>
              <a:gd name="adj" fmla="val 8000"/>
            </a:avLst>
          </a:prstGeom>
          <a:solidFill>
            <a:srgbClr val="F2EEF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38912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参照先を1か所にまとめる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38912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よくある問合せと回答を、ひとつのFAQに集める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092440" y="1627632"/>
            <a:ext cx="1097280" cy="402336"/>
          </a:xfrm>
          <a:prstGeom prst="roundRect">
            <a:avLst>
              <a:gd name="adj" fmla="val 50000"/>
            </a:avLst>
          </a:prstGeom>
          <a:solidFill>
            <a:srgbClr val="6B4FA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FAQで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450592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9A8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660904"/>
            <a:ext cx="493776" cy="493776"/>
          </a:xfrm>
          <a:prstGeom prst="ellipse">
            <a:avLst/>
          </a:prstGeom>
          <a:solidFill>
            <a:srgbClr val="4F73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245059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答えが、くり返し使える形で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残っていない</a:t>
            </a:r>
            <a:endParaRPr lang="en-US" sz="13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192" y="2779776"/>
            <a:ext cx="256032" cy="25603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160520" y="2450592"/>
            <a:ext cx="5287975" cy="914400"/>
          </a:xfrm>
          <a:prstGeom prst="roundRect">
            <a:avLst>
              <a:gd name="adj" fmla="val 8000"/>
            </a:avLst>
          </a:prstGeom>
          <a:solidFill>
            <a:srgbClr val="F2EEF8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389120" y="2587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くり返し使える形でためる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4389120" y="29535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過去の回答を「質問と答え」の形で残し、探せるようにする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092440" y="2706624"/>
            <a:ext cx="1097280" cy="402336"/>
          </a:xfrm>
          <a:prstGeom prst="roundRect">
            <a:avLst>
              <a:gd name="adj" fmla="val 50000"/>
            </a:avLst>
          </a:prstGeom>
          <a:solidFill>
            <a:srgbClr val="6B4FA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FAQで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57200" y="3529584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9A8D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0080" y="3739896"/>
            <a:ext cx="493776" cy="493776"/>
          </a:xfrm>
          <a:prstGeom prst="ellipse">
            <a:avLst/>
          </a:prstGeom>
          <a:solidFill>
            <a:srgbClr val="D98A1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1280160" y="3529584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共有フォルダが整理されておらず、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どこに何があるか分からない</a:t>
            </a:r>
            <a:endParaRPr lang="en-US" sz="13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192" y="3858768"/>
            <a:ext cx="256032" cy="256032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160520" y="3529584"/>
            <a:ext cx="5287975" cy="914400"/>
          </a:xfrm>
          <a:prstGeom prst="roundRect">
            <a:avLst>
              <a:gd name="adj" fmla="val 8000"/>
            </a:avLst>
          </a:prstGeom>
          <a:solidFill>
            <a:srgbClr val="FFF6E8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4389120" y="36667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置き場所を整理する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4389120" y="40325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共有フォルダを整理し、通知の置き場所を決める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8001000" y="3712464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D98A1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共有フォルダ整理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7708392" y="405993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6E1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実施済（別の取り組み）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457200" y="4608576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9A8DD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40080" y="4818888"/>
            <a:ext cx="493776" cy="493776"/>
          </a:xfrm>
          <a:prstGeom prst="ellipse">
            <a:avLst/>
          </a:prstGeom>
          <a:solidFill>
            <a:srgbClr val="E0705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1280160" y="4608576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知っている人の記憶に頼っている</a:t>
            </a:r>
            <a:endParaRPr lang="en-US" sz="13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192" y="4937760"/>
            <a:ext cx="256032" cy="256032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4160520" y="4608576"/>
            <a:ext cx="5287975" cy="914400"/>
          </a:xfrm>
          <a:prstGeom prst="roundRect">
            <a:avLst>
              <a:gd name="adj" fmla="val 8000"/>
            </a:avLst>
          </a:prstGeom>
          <a:solidFill>
            <a:srgbClr val="F2EEF8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4389120" y="47457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誰でも自分で調べられるようにする</a:t>
            </a:r>
            <a:endParaRPr lang="en-US" sz="1600" dirty="0"/>
          </a:p>
        </p:txBody>
      </p:sp>
      <p:sp>
        <p:nvSpPr>
          <p:cNvPr id="36" name="Text 30"/>
          <p:cNvSpPr txBox="1"/>
          <p:nvPr/>
        </p:nvSpPr>
        <p:spPr>
          <a:xfrm>
            <a:off x="4389120" y="51114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人に聞かなくても、FAQを見れば答えにたどり着ける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8092440" y="4864608"/>
            <a:ext cx="1097280" cy="402336"/>
          </a:xfrm>
          <a:prstGeom prst="roundRect">
            <a:avLst>
              <a:gd name="adj" fmla="val 50000"/>
            </a:avLst>
          </a:prstGeom>
          <a:solidFill>
            <a:srgbClr val="6B4FA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FAQで</a:t>
            </a:r>
            <a:endParaRPr lang="en-US" sz="1300" dirty="0"/>
          </a:p>
        </p:txBody>
      </p:sp>
      <p:sp>
        <p:nvSpPr>
          <p:cNvPr id="38" name="Shape 32"/>
          <p:cNvSpPr/>
          <p:nvPr/>
        </p:nvSpPr>
        <p:spPr>
          <a:xfrm>
            <a:off x="457200" y="5760720"/>
            <a:ext cx="8991295" cy="566928"/>
          </a:xfrm>
          <a:prstGeom prst="roundRect">
            <a:avLst>
              <a:gd name="adj" fmla="val 12903"/>
            </a:avLst>
          </a:prstGeom>
          <a:solidFill>
            <a:srgbClr val="3D2C63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731520" y="5760720"/>
            <a:ext cx="8442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①②④</a:t>
            </a: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の3つに効くのがFAQ。　</a:t>
            </a:r>
            <a:r>
              <a:rPr lang="en-US" sz="1400" b="1" dirty="0">
                <a:solidFill>
                  <a:srgbClr val="F0A5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</a:t>
            </a: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は共有フォルダの整理で手当て済み。　→　だから、FAQを作る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899129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8E8A9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解決策の選択：だから、FAQを作ろう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B4F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探し方を、どう変えたいか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36192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E0705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いま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554480" y="1417320"/>
            <a:ext cx="12344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B9A8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54480" y="1417320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記憶をたどる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784" y="1618488"/>
            <a:ext cx="182880" cy="201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081528" y="1417320"/>
            <a:ext cx="12344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B9A8D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081528" y="1417320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CCP過去履歴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618488"/>
            <a:ext cx="182880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608576" y="1417320"/>
            <a:ext cx="12344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B9A8D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608576" y="1417320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共有フォルダ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618488"/>
            <a:ext cx="182880" cy="20116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135624" y="1417320"/>
            <a:ext cx="12344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B9A8DD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135624" y="1417320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人に聞く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7552944" y="1417320"/>
            <a:ext cx="189555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0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3人で約5分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57200" y="2313432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6B4FA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FAQ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1554480" y="2194560"/>
            <a:ext cx="1463040" cy="603504"/>
          </a:xfrm>
          <a:prstGeom prst="roundRect">
            <a:avLst>
              <a:gd name="adj" fmla="val 12121"/>
            </a:avLst>
          </a:prstGeom>
          <a:solidFill>
            <a:srgbClr val="6B4FA0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1554480" y="2194560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FAQを見る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84" y="2395728"/>
            <a:ext cx="182880" cy="20116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3310128" y="2194560"/>
            <a:ext cx="1645920" cy="603504"/>
          </a:xfrm>
          <a:prstGeom prst="roundRect">
            <a:avLst>
              <a:gd name="adj" fmla="val 12121"/>
            </a:avLst>
          </a:prstGeom>
          <a:solidFill>
            <a:srgbClr val="6B4FA0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3310128" y="219456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答えにたどり着く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5138928" y="2194560"/>
            <a:ext cx="430956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4F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1人で、すぐに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3035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B4F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FAQにした理由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457200" y="3383280"/>
            <a:ext cx="2875178" cy="1783080"/>
          </a:xfrm>
          <a:prstGeom prst="roundRect">
            <a:avLst>
              <a:gd name="adj" fmla="val 4103"/>
            </a:avLst>
          </a:prstGeom>
          <a:solidFill>
            <a:srgbClr val="F2EEF8"/>
          </a:solidFill>
          <a:ln/>
        </p:spPr>
      </p:sp>
      <p:sp>
        <p:nvSpPr>
          <p:cNvPr id="26" name="Shape 20"/>
          <p:cNvSpPr/>
          <p:nvPr/>
        </p:nvSpPr>
        <p:spPr>
          <a:xfrm>
            <a:off x="640080" y="3547872"/>
            <a:ext cx="530352" cy="530352"/>
          </a:xfrm>
          <a:prstGeom prst="ellipse">
            <a:avLst/>
          </a:prstGeom>
          <a:solidFill>
            <a:srgbClr val="4F7396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" y="3680460"/>
            <a:ext cx="265176" cy="26517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280818" y="3639312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739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原因②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640080" y="4187952"/>
            <a:ext cx="2509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「答え」をそのままためられる</a:t>
            </a:r>
            <a:endParaRPr lang="en-US" sz="1450" dirty="0"/>
          </a:p>
        </p:txBody>
      </p:sp>
      <p:sp>
        <p:nvSpPr>
          <p:cNvPr id="30" name="Text 23"/>
          <p:cNvSpPr txBox="1"/>
          <p:nvPr/>
        </p:nvSpPr>
        <p:spPr>
          <a:xfrm>
            <a:off x="640080" y="4553712"/>
            <a:ext cx="2600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問合せの答えを1問1答で残せば、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次に同じ質問が来たとき、そのまま使える。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3515258" y="3383280"/>
            <a:ext cx="2875178" cy="1783080"/>
          </a:xfrm>
          <a:prstGeom prst="roundRect">
            <a:avLst>
              <a:gd name="adj" fmla="val 4103"/>
            </a:avLst>
          </a:prstGeom>
          <a:solidFill>
            <a:srgbClr val="F2EEF8"/>
          </a:solidFill>
          <a:ln/>
        </p:spPr>
      </p:sp>
      <p:sp>
        <p:nvSpPr>
          <p:cNvPr id="32" name="Shape 25"/>
          <p:cNvSpPr/>
          <p:nvPr/>
        </p:nvSpPr>
        <p:spPr>
          <a:xfrm>
            <a:off x="3698138" y="3547872"/>
            <a:ext cx="530352" cy="530352"/>
          </a:xfrm>
          <a:prstGeom prst="ellipse">
            <a:avLst/>
          </a:prstGeom>
          <a:solidFill>
            <a:srgbClr val="6B4FA0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0726" y="3680460"/>
            <a:ext cx="265176" cy="26517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338877" y="3639312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4F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原因①④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3698138" y="4187952"/>
            <a:ext cx="2509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1か所で、自分で引ける</a:t>
            </a:r>
            <a:endParaRPr lang="en-US" sz="1450" dirty="0"/>
          </a:p>
        </p:txBody>
      </p:sp>
      <p:sp>
        <p:nvSpPr>
          <p:cNvPr id="36" name="Text 28"/>
          <p:cNvSpPr txBox="1"/>
          <p:nvPr/>
        </p:nvSpPr>
        <p:spPr>
          <a:xfrm>
            <a:off x="3698138" y="4553712"/>
            <a:ext cx="2600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見る場所が1つに決まれば、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記憶にも、人にも頼らずに済む。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6573317" y="3383280"/>
            <a:ext cx="2875178" cy="1783080"/>
          </a:xfrm>
          <a:prstGeom prst="roundRect">
            <a:avLst>
              <a:gd name="adj" fmla="val 4103"/>
            </a:avLst>
          </a:prstGeom>
          <a:solidFill>
            <a:srgbClr val="F2EEF8"/>
          </a:solidFill>
          <a:ln/>
        </p:spPr>
      </p:sp>
      <p:sp>
        <p:nvSpPr>
          <p:cNvPr id="38" name="Shape 30"/>
          <p:cNvSpPr/>
          <p:nvPr/>
        </p:nvSpPr>
        <p:spPr>
          <a:xfrm>
            <a:off x="6756197" y="3547872"/>
            <a:ext cx="530352" cy="530352"/>
          </a:xfrm>
          <a:prstGeom prst="ellipse">
            <a:avLst/>
          </a:prstGeom>
          <a:solidFill>
            <a:srgbClr val="F0A53A"/>
          </a:solidFill>
          <a:ln/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8785" y="3680460"/>
            <a:ext cx="265176" cy="265176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396935" y="3639312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続けやすさ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6756197" y="4187952"/>
            <a:ext cx="2509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小さく始めて、育てられる</a:t>
            </a:r>
            <a:endParaRPr lang="en-US" sz="1450" dirty="0"/>
          </a:p>
        </p:txBody>
      </p:sp>
      <p:sp>
        <p:nvSpPr>
          <p:cNvPr id="42" name="Text 33"/>
          <p:cNvSpPr txBox="1"/>
          <p:nvPr/>
        </p:nvSpPr>
        <p:spPr>
          <a:xfrm>
            <a:off x="6756197" y="4553712"/>
            <a:ext cx="2600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1件ずつ足していけるので、全部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そろうのを待たずに使い始められる。</a:t>
            </a:r>
            <a:endParaRPr lang="en-US" sz="1200" dirty="0"/>
          </a:p>
        </p:txBody>
      </p:sp>
      <p:sp>
        <p:nvSpPr>
          <p:cNvPr id="43" name="Shape 34"/>
          <p:cNvSpPr/>
          <p:nvPr/>
        </p:nvSpPr>
        <p:spPr>
          <a:xfrm>
            <a:off x="457200" y="5349240"/>
            <a:ext cx="8991295" cy="987552"/>
          </a:xfrm>
          <a:prstGeom prst="roundRect">
            <a:avLst>
              <a:gd name="adj" fmla="val 7407"/>
            </a:avLst>
          </a:prstGeom>
          <a:solidFill>
            <a:srgbClr val="3D2C63"/>
          </a:solidFill>
          <a:ln/>
        </p:spPr>
      </p:sp>
      <p:sp>
        <p:nvSpPr>
          <p:cNvPr id="44" name="Text 35"/>
          <p:cNvSpPr txBox="1"/>
          <p:nvPr/>
        </p:nvSpPr>
        <p:spPr>
          <a:xfrm>
            <a:off x="822960" y="5440680"/>
            <a:ext cx="8259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0A5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FAQを作る目的は、情報をまとめること</a:t>
            </a:r>
            <a:r>
              <a:rPr lang="ja-JP" altLang="en-US" sz="1300" b="1" dirty="0">
                <a:solidFill>
                  <a:srgbClr val="F0A5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だけではなく、</a:t>
            </a:r>
            <a:endParaRPr lang="en-US" sz="1300" dirty="0"/>
          </a:p>
        </p:txBody>
      </p:sp>
      <p:sp>
        <p:nvSpPr>
          <p:cNvPr id="45" name="Text 36"/>
          <p:cNvSpPr txBox="1"/>
          <p:nvPr/>
        </p:nvSpPr>
        <p:spPr>
          <a:xfrm>
            <a:off x="822960" y="5760720"/>
            <a:ext cx="8259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必要な情報を、必要なときに、誰でも参照できる状態にすること。</a:t>
            </a:r>
            <a:endParaRPr lang="en-US" sz="1900" dirty="0"/>
          </a:p>
        </p:txBody>
      </p:sp>
      <p:sp>
        <p:nvSpPr>
          <p:cNvPr id="46" name="Text 37"/>
          <p:cNvSpPr txBox="1"/>
          <p:nvPr/>
        </p:nvSpPr>
        <p:spPr>
          <a:xfrm>
            <a:off x="899129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8E8A9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実際に作ったFAQ</a:t>
            </a:r>
            <a:r>
              <a:rPr lang="ja-JP" altLang="en-US" sz="24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紹介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2697480"/>
            <a:ext cx="5989320" cy="3639312"/>
          </a:xfrm>
          <a:prstGeom prst="roundRect">
            <a:avLst>
              <a:gd name="adj" fmla="val 1047"/>
            </a:avLst>
          </a:prstGeom>
          <a:solidFill>
            <a:srgbClr val="FAFAFC"/>
          </a:solidFill>
          <a:ln w="12700">
            <a:solidFill>
              <a:srgbClr val="8E8A99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457200" y="4242816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E8A9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［画像］実際に作成したFAQの画面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675120" y="1097280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B4F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このFAQでねらったこと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75120" y="1417320"/>
            <a:ext cx="2773375" cy="1143000"/>
          </a:xfrm>
          <a:prstGeom prst="roundRect">
            <a:avLst>
              <a:gd name="adj" fmla="val 5926"/>
            </a:avLst>
          </a:prstGeom>
          <a:solidFill>
            <a:srgbClr val="F2EEF8"/>
          </a:solidFill>
          <a:ln/>
        </p:spPr>
      </p:sp>
      <p:sp>
        <p:nvSpPr>
          <p:cNvPr id="7" name="Text 5"/>
          <p:cNvSpPr/>
          <p:nvPr/>
        </p:nvSpPr>
        <p:spPr>
          <a:xfrm>
            <a:off x="6839712" y="1554480"/>
            <a:ext cx="384048" cy="384048"/>
          </a:xfrm>
          <a:prstGeom prst="ellipse">
            <a:avLst/>
          </a:prstGeom>
          <a:solidFill>
            <a:srgbClr val="6B4FA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33488" y="1554480"/>
            <a:ext cx="1950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1か所に集める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2011680"/>
            <a:ext cx="2499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よくある問合せと回答を、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ここに集約する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0" y="2679192"/>
            <a:ext cx="2773375" cy="1143000"/>
          </a:xfrm>
          <a:prstGeom prst="roundRect">
            <a:avLst>
              <a:gd name="adj" fmla="val 5926"/>
            </a:avLst>
          </a:prstGeom>
          <a:solidFill>
            <a:srgbClr val="F2EEF8"/>
          </a:solidFill>
          <a:ln/>
        </p:spPr>
      </p:sp>
      <p:sp>
        <p:nvSpPr>
          <p:cNvPr id="11" name="Text 9"/>
          <p:cNvSpPr/>
          <p:nvPr/>
        </p:nvSpPr>
        <p:spPr>
          <a:xfrm>
            <a:off x="6839712" y="2816352"/>
            <a:ext cx="384048" cy="384048"/>
          </a:xfrm>
          <a:prstGeom prst="ellipse">
            <a:avLst/>
          </a:prstGeom>
          <a:solidFill>
            <a:srgbClr val="4F73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33488" y="2816352"/>
            <a:ext cx="1950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くり返し使える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3273552"/>
            <a:ext cx="2499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1問1答で残し、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過去の回答をそのまま使える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75120" y="3941064"/>
            <a:ext cx="2773375" cy="1143000"/>
          </a:xfrm>
          <a:prstGeom prst="roundRect">
            <a:avLst>
              <a:gd name="adj" fmla="val 5926"/>
            </a:avLst>
          </a:prstGeom>
          <a:solidFill>
            <a:srgbClr val="F2EEF8"/>
          </a:solidFill>
          <a:ln/>
        </p:spPr>
      </p:sp>
      <p:sp>
        <p:nvSpPr>
          <p:cNvPr id="15" name="Text 13"/>
          <p:cNvSpPr/>
          <p:nvPr/>
        </p:nvSpPr>
        <p:spPr>
          <a:xfrm>
            <a:off x="6839712" y="4078224"/>
            <a:ext cx="384048" cy="384048"/>
          </a:xfrm>
          <a:prstGeom prst="ellipse">
            <a:avLst/>
          </a:prstGeom>
          <a:solidFill>
            <a:srgbClr val="E0705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33488" y="4078224"/>
            <a:ext cx="1950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自分で調べられる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4535424"/>
            <a:ext cx="2499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人に聞く前に、まずここを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見れば答えにたどり着ける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0" y="5230368"/>
            <a:ext cx="2773375" cy="1106424"/>
          </a:xfrm>
          <a:prstGeom prst="roundRect">
            <a:avLst>
              <a:gd name="adj" fmla="val 10256"/>
            </a:avLst>
          </a:prstGeom>
          <a:solidFill>
            <a:srgbClr val="FFF6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0" y="5230368"/>
            <a:ext cx="2499055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6E1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共有フォルダ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通知の置き場所は、</a:t>
            </a:r>
            <a:endParaRPr lang="en-US" sz="13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別の取り組みとして整理済み</a:t>
            </a:r>
            <a:r>
              <a:rPr lang="ja-JP" alt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（リネーム、集約）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99129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8E8A9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FAQ flow title">
            <a:extLst>
              <a:ext uri="{FF2B5EF4-FFF2-40B4-BE49-F238E27FC236}">
                <a16:creationId xmlns:a16="http://schemas.microsoft.com/office/drawing/2014/main" id="{5D0CD7D7-6567-5F8F-6E93-CB1EE602A177}"/>
              </a:ext>
            </a:extLst>
          </p:cNvPr>
          <p:cNvSpPr txBox="1"/>
          <p:nvPr/>
        </p:nvSpPr>
        <p:spPr>
          <a:xfrm>
            <a:off x="457200" y="1097280"/>
            <a:ext cx="411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en-US" altLang="ja-JP" sz="1300" b="1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FAQ</a:t>
            </a:r>
            <a:r>
              <a:rPr kumimoji="1" lang="ja-JP" altLang="en-US" sz="1300" b="1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のつくり方</a:t>
            </a:r>
          </a:p>
        </p:txBody>
      </p:sp>
      <p:sp>
        <p:nvSpPr>
          <p:cNvPr id="22" name="FAQ flow box 1">
            <a:extLst>
              <a:ext uri="{FF2B5EF4-FFF2-40B4-BE49-F238E27FC236}">
                <a16:creationId xmlns:a16="http://schemas.microsoft.com/office/drawing/2014/main" id="{E61C24E9-1214-6752-7F9D-265748F14559}"/>
              </a:ext>
            </a:extLst>
          </p:cNvPr>
          <p:cNvSpPr/>
          <p:nvPr/>
        </p:nvSpPr>
        <p:spPr>
          <a:xfrm>
            <a:off x="457200" y="146304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F2EE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00" b="1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問い合わせ履歴</a:t>
            </a:r>
          </a:p>
          <a:p>
            <a:pPr algn="ctr"/>
            <a:r>
              <a:rPr kumimoji="1" lang="ja-JP" altLang="en-US" sz="2200" b="1">
                <a:solidFill>
                  <a:srgbClr val="3D2C6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全〇件</a:t>
            </a:r>
          </a:p>
        </p:txBody>
      </p:sp>
      <p:sp>
        <p:nvSpPr>
          <p:cNvPr id="23" name="FAQ flow box 2">
            <a:extLst>
              <a:ext uri="{FF2B5EF4-FFF2-40B4-BE49-F238E27FC236}">
                <a16:creationId xmlns:a16="http://schemas.microsoft.com/office/drawing/2014/main" id="{F275F238-0F8D-A9CB-0856-80F08DE348FA}"/>
              </a:ext>
            </a:extLst>
          </p:cNvPr>
          <p:cNvSpPr/>
          <p:nvPr/>
        </p:nvSpPr>
        <p:spPr>
          <a:xfrm>
            <a:off x="2743200" y="146304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F2EE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00" b="1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会話</a:t>
            </a:r>
          </a:p>
          <a:p>
            <a:pPr algn="ctr"/>
            <a:r>
              <a:rPr kumimoji="1" lang="ja-JP" altLang="en-US" sz="2200" b="1">
                <a:solidFill>
                  <a:srgbClr val="3D2C6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〇組</a:t>
            </a:r>
          </a:p>
        </p:txBody>
      </p:sp>
      <p:sp>
        <p:nvSpPr>
          <p:cNvPr id="24" name="FAQ flow box 3">
            <a:extLst>
              <a:ext uri="{FF2B5EF4-FFF2-40B4-BE49-F238E27FC236}">
                <a16:creationId xmlns:a16="http://schemas.microsoft.com/office/drawing/2014/main" id="{6A9AD970-67AB-77FE-DDAB-B4FB2ECBFED7}"/>
              </a:ext>
            </a:extLst>
          </p:cNvPr>
          <p:cNvSpPr/>
          <p:nvPr/>
        </p:nvSpPr>
        <p:spPr>
          <a:xfrm>
            <a:off x="5029200" y="146304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6B4F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FAQ</a:t>
            </a:r>
          </a:p>
          <a:p>
            <a:pPr algn="ctr"/>
            <a:r>
              <a:rPr kumimoji="1" lang="ja-JP" altLang="en-US" sz="2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〇件</a:t>
            </a:r>
          </a:p>
        </p:txBody>
      </p:sp>
      <p:sp>
        <p:nvSpPr>
          <p:cNvPr id="25" name="FAQ flow step 1">
            <a:extLst>
              <a:ext uri="{FF2B5EF4-FFF2-40B4-BE49-F238E27FC236}">
                <a16:creationId xmlns:a16="http://schemas.microsoft.com/office/drawing/2014/main" id="{91B2D809-6A3D-3EB4-4A64-9EF549CF1A51}"/>
              </a:ext>
            </a:extLst>
          </p:cNvPr>
          <p:cNvSpPr txBox="1"/>
          <p:nvPr/>
        </p:nvSpPr>
        <p:spPr>
          <a:xfrm>
            <a:off x="1892808" y="1591056"/>
            <a:ext cx="832104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1200" b="1">
                <a:solidFill>
                  <a:srgbClr val="E0705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会話に分解</a:t>
            </a:r>
          </a:p>
        </p:txBody>
      </p:sp>
      <p:cxnSp>
        <p:nvCxnSpPr>
          <p:cNvPr id="26" name="FAQ flow arrow 1">
            <a:extLst>
              <a:ext uri="{FF2B5EF4-FFF2-40B4-BE49-F238E27FC236}">
                <a16:creationId xmlns:a16="http://schemas.microsoft.com/office/drawing/2014/main" id="{9B2F4AAA-8143-08C7-7380-FAAE0578354A}"/>
              </a:ext>
            </a:extLst>
          </p:cNvPr>
          <p:cNvCxnSpPr/>
          <p:nvPr/>
        </p:nvCxnSpPr>
        <p:spPr>
          <a:xfrm>
            <a:off x="1965960" y="2011680"/>
            <a:ext cx="685800" cy="0"/>
          </a:xfrm>
          <a:prstGeom prst="line">
            <a:avLst/>
          </a:prstGeom>
          <a:ln w="25400">
            <a:solidFill>
              <a:srgbClr val="B9A8D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AQ flow step 2">
            <a:extLst>
              <a:ext uri="{FF2B5EF4-FFF2-40B4-BE49-F238E27FC236}">
                <a16:creationId xmlns:a16="http://schemas.microsoft.com/office/drawing/2014/main" id="{378EDD04-C7DB-3812-F52C-5AEB8F986A47}"/>
              </a:ext>
            </a:extLst>
          </p:cNvPr>
          <p:cNvSpPr txBox="1"/>
          <p:nvPr/>
        </p:nvSpPr>
        <p:spPr>
          <a:xfrm>
            <a:off x="4178808" y="1591056"/>
            <a:ext cx="832104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1200" b="1">
                <a:solidFill>
                  <a:srgbClr val="E0705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重複を削除</a:t>
            </a:r>
          </a:p>
        </p:txBody>
      </p:sp>
      <p:cxnSp>
        <p:nvCxnSpPr>
          <p:cNvPr id="28" name="FAQ flow arrow 2">
            <a:extLst>
              <a:ext uri="{FF2B5EF4-FFF2-40B4-BE49-F238E27FC236}">
                <a16:creationId xmlns:a16="http://schemas.microsoft.com/office/drawing/2014/main" id="{AA0175CF-F094-02FE-9FC7-43F786CB9E63}"/>
              </a:ext>
            </a:extLst>
          </p:cNvPr>
          <p:cNvCxnSpPr/>
          <p:nvPr/>
        </p:nvCxnSpPr>
        <p:spPr>
          <a:xfrm>
            <a:off x="4251960" y="2011680"/>
            <a:ext cx="685800" cy="0"/>
          </a:xfrm>
          <a:prstGeom prst="line">
            <a:avLst/>
          </a:prstGeom>
          <a:ln w="25400">
            <a:solidFill>
              <a:srgbClr val="B9A8D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FAQ flow arrow down">
            <a:extLst>
              <a:ext uri="{FF2B5EF4-FFF2-40B4-BE49-F238E27FC236}">
                <a16:creationId xmlns:a16="http://schemas.microsoft.com/office/drawing/2014/main" id="{2EEB55BC-46E4-0A28-CA1C-87E5D18E80C8}"/>
              </a:ext>
            </a:extLst>
          </p:cNvPr>
          <p:cNvCxnSpPr/>
          <p:nvPr/>
        </p:nvCxnSpPr>
        <p:spPr>
          <a:xfrm>
            <a:off x="5737860" y="2404872"/>
            <a:ext cx="0" cy="265176"/>
          </a:xfrm>
          <a:prstGeom prst="line">
            <a:avLst/>
          </a:prstGeom>
          <a:ln w="25400">
            <a:solidFill>
              <a:srgbClr val="6B4F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AQ flow this">
            <a:extLst>
              <a:ext uri="{FF2B5EF4-FFF2-40B4-BE49-F238E27FC236}">
                <a16:creationId xmlns:a16="http://schemas.microsoft.com/office/drawing/2014/main" id="{E4DCFCAA-A668-CDE7-330E-3F38DEB874E2}"/>
              </a:ext>
            </a:extLst>
          </p:cNvPr>
          <p:cNvSpPr txBox="1"/>
          <p:nvPr/>
        </p:nvSpPr>
        <p:spPr>
          <a:xfrm>
            <a:off x="4411980" y="2423160"/>
            <a:ext cx="11887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kumimoji="1" lang="ja-JP" altLang="en-US" sz="1200" b="1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できたのが、これ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15">
            <a:extLst>
              <a:ext uri="{FF2B5EF4-FFF2-40B4-BE49-F238E27FC236}">
                <a16:creationId xmlns:a16="http://schemas.microsoft.com/office/drawing/2014/main" id="{650FFC05-AB04-DF53-2BBC-0E8617BBCE69}"/>
              </a:ext>
            </a:extLst>
          </p:cNvPr>
          <p:cNvSpPr/>
          <p:nvPr/>
        </p:nvSpPr>
        <p:spPr>
          <a:xfrm>
            <a:off x="6664757" y="1595844"/>
            <a:ext cx="2783738" cy="4160520"/>
          </a:xfrm>
          <a:prstGeom prst="roundRect">
            <a:avLst>
              <a:gd name="adj" fmla="val 3636"/>
            </a:avLst>
          </a:prstGeom>
          <a:solidFill>
            <a:srgbClr val="F2EEF8"/>
          </a:solidFill>
          <a:ln w="57150">
            <a:solidFill>
              <a:srgbClr val="7030A0"/>
            </a:solidFill>
            <a:prstDash val="sysDash"/>
          </a:ln>
        </p:spPr>
      </p:sp>
      <p:sp>
        <p:nvSpPr>
          <p:cNvPr id="2" name="Text 0"/>
          <p:cNvSpPr txBox="1"/>
          <p:nvPr/>
        </p:nvSpPr>
        <p:spPr>
          <a:xfrm>
            <a:off x="457200" y="384048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使ってみて、見えたこと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6B4FA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実績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97280"/>
            <a:ext cx="1960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実際に起きたこと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658" y="3630168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560978" y="1097280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E0705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383938" y="1097280"/>
            <a:ext cx="1960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見えた課題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437" y="3630168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64757" y="1097280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F0A5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期待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487717" y="1097280"/>
            <a:ext cx="1960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これから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57200" y="1600200"/>
            <a:ext cx="2783738" cy="2011680"/>
          </a:xfrm>
          <a:prstGeom prst="roundRect">
            <a:avLst>
              <a:gd name="adj" fmla="val 3636"/>
            </a:avLst>
          </a:prstGeom>
          <a:solidFill>
            <a:srgbClr val="F2EEF8"/>
          </a:solidFill>
          <a:ln/>
        </p:spPr>
      </p:sp>
      <p:sp>
        <p:nvSpPr>
          <p:cNvPr id="12" name="Shape 8"/>
          <p:cNvSpPr/>
          <p:nvPr/>
        </p:nvSpPr>
        <p:spPr>
          <a:xfrm>
            <a:off x="640080" y="1783080"/>
            <a:ext cx="548640" cy="548640"/>
          </a:xfrm>
          <a:prstGeom prst="ellipse">
            <a:avLst/>
          </a:prstGeom>
          <a:solidFill>
            <a:srgbClr val="6B4FA0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9202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1783080"/>
            <a:ext cx="1777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電話対応の習得に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40080" y="2468880"/>
            <a:ext cx="2509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認定チームが新たに電話対応を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習得するときに活躍した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3749040"/>
            <a:ext cx="2783738" cy="2011680"/>
          </a:xfrm>
          <a:prstGeom prst="roundRect">
            <a:avLst>
              <a:gd name="adj" fmla="val 3636"/>
            </a:avLst>
          </a:prstGeom>
          <a:solidFill>
            <a:srgbClr val="F2EEF8"/>
          </a:solidFill>
          <a:ln/>
        </p:spPr>
      </p:sp>
      <p:sp>
        <p:nvSpPr>
          <p:cNvPr id="17" name="Shape 12"/>
          <p:cNvSpPr/>
          <p:nvPr/>
        </p:nvSpPr>
        <p:spPr>
          <a:xfrm>
            <a:off x="640080" y="3931920"/>
            <a:ext cx="548640" cy="548640"/>
          </a:xfrm>
          <a:prstGeom prst="ellipse">
            <a:avLst/>
          </a:prstGeom>
          <a:solidFill>
            <a:srgbClr val="6B4FA0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06908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25880" y="3931920"/>
            <a:ext cx="1777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自学自習に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4617720"/>
            <a:ext cx="2509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「過去にこんなQAがあったのか」と、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自分で学ぶためにも使われている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3560978" y="1600200"/>
            <a:ext cx="2783738" cy="2011680"/>
          </a:xfrm>
          <a:prstGeom prst="roundRect">
            <a:avLst>
              <a:gd name="adj" fmla="val 3636"/>
            </a:avLst>
          </a:prstGeom>
          <a:solidFill>
            <a:srgbClr val="F2EEF8"/>
          </a:solidFill>
          <a:ln/>
        </p:spPr>
      </p:sp>
      <p:sp>
        <p:nvSpPr>
          <p:cNvPr id="22" name="Shape 16"/>
          <p:cNvSpPr/>
          <p:nvPr/>
        </p:nvSpPr>
        <p:spPr>
          <a:xfrm>
            <a:off x="3743858" y="1783080"/>
            <a:ext cx="548640" cy="548640"/>
          </a:xfrm>
          <a:prstGeom prst="ellipse">
            <a:avLst/>
          </a:prstGeom>
          <a:solidFill>
            <a:srgbClr val="E0705A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1018" y="192024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429658" y="1783080"/>
            <a:ext cx="1777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作るより、育て続ける</a:t>
            </a:r>
            <a:endParaRPr lang="en-US" sz="15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ほうが難しい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3743858" y="2468880"/>
            <a:ext cx="2509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今は役立っていても、管理・更新が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難しく、未来につなげにくい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3560978" y="3749040"/>
            <a:ext cx="278373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875">
            <a:solidFill>
              <a:srgbClr val="E0705A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3743858" y="3931920"/>
            <a:ext cx="548640" cy="548640"/>
          </a:xfrm>
          <a:prstGeom prst="ellipse">
            <a:avLst/>
          </a:prstGeom>
          <a:solidFill>
            <a:srgbClr val="E0705A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1018" y="406908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4429658" y="3931920"/>
            <a:ext cx="1777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いま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3743858" y="4617720"/>
            <a:ext cx="2417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続けられる形を試行中</a:t>
            </a:r>
            <a:endParaRPr lang="en-US" sz="1200" dirty="0">
              <a:solidFill>
                <a:srgbClr val="2B2735"/>
              </a:solidFill>
              <a:latin typeface="Meiryo UI" pitchFamily="34" charset="0"/>
              <a:ea typeface="Meiryo UI" pitchFamily="34" charset="-122"/>
              <a:cs typeface="Meiryo UI" pitchFamily="34" charset="-120"/>
            </a:endParaRPr>
          </a:p>
          <a:p>
            <a:pPr marL="0" indent="0">
              <a:buNone/>
            </a:pPr>
            <a:r>
              <a:rPr lang="ja-JP" alt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</a:rPr>
              <a:t>なんだかんだ、エクセルがよい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6847637" y="1783080"/>
            <a:ext cx="548640" cy="548640"/>
          </a:xfrm>
          <a:prstGeom prst="ellipse">
            <a:avLst/>
          </a:prstGeom>
          <a:solidFill>
            <a:srgbClr val="F0A53A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4797" y="1920240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533437" y="1783080"/>
            <a:ext cx="1777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Meiryo UI" pitchFamily="34" charset="0"/>
                <a:ea typeface="Meiryo UI" pitchFamily="34" charset="-122"/>
                <a:cs typeface="Meiryo UI" pitchFamily="34" charset="-120"/>
              </a:rPr>
              <a:t>他チームにも</a:t>
            </a:r>
            <a:endParaRPr lang="en-US" sz="1500" dirty="0"/>
          </a:p>
          <a:p>
            <a:pPr marL="0" indent="0">
              <a:buNone/>
            </a:pPr>
            <a:r>
              <a:rPr lang="en-US" sz="1400" b="1" dirty="0">
                <a:latin typeface="Meiryo UI" pitchFamily="34" charset="0"/>
                <a:ea typeface="Meiryo UI" pitchFamily="34" charset="-122"/>
                <a:cs typeface="Meiryo UI" pitchFamily="34" charset="-120"/>
              </a:rPr>
              <a:t>横展開したい</a:t>
            </a:r>
            <a:endParaRPr lang="en-US" sz="1400" dirty="0"/>
          </a:p>
        </p:txBody>
      </p:sp>
      <p:sp>
        <p:nvSpPr>
          <p:cNvPr id="35" name="Text 26"/>
          <p:cNvSpPr txBox="1"/>
          <p:nvPr/>
        </p:nvSpPr>
        <p:spPr>
          <a:xfrm>
            <a:off x="6847637" y="246888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latin typeface="Meiryo UI" pitchFamily="34" charset="0"/>
                <a:ea typeface="Meiryo UI" pitchFamily="34" charset="-122"/>
                <a:cs typeface="Meiryo UI" pitchFamily="34" charset="-120"/>
              </a:rPr>
              <a:t>第一段階をはじめ、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latin typeface="Meiryo UI" pitchFamily="34" charset="0"/>
                <a:ea typeface="Meiryo UI" pitchFamily="34" charset="-122"/>
                <a:cs typeface="Meiryo UI" pitchFamily="34" charset="-120"/>
              </a:rPr>
              <a:t>ほかのチームにも広げると…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6847637" y="3200400"/>
            <a:ext cx="2417978" cy="960120"/>
          </a:xfrm>
          <a:prstGeom prst="roundRect">
            <a:avLst>
              <a:gd name="adj" fmla="val 7619"/>
            </a:avLst>
          </a:prstGeom>
          <a:solidFill>
            <a:srgbClr val="4E3B78"/>
          </a:solidFill>
          <a:ln/>
        </p:spPr>
      </p:sp>
      <p:sp>
        <p:nvSpPr>
          <p:cNvPr id="37" name="Text 28"/>
          <p:cNvSpPr txBox="1"/>
          <p:nvPr/>
        </p:nvSpPr>
        <p:spPr>
          <a:xfrm>
            <a:off x="7030517" y="3200400"/>
            <a:ext cx="21436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お互いの対応範囲が、</a:t>
            </a:r>
            <a:endParaRPr lang="en-US" sz="14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すぐわかる</a:t>
            </a:r>
            <a:endParaRPr lang="en-US" sz="1350" dirty="0"/>
          </a:p>
        </p:txBody>
      </p:sp>
      <p:sp>
        <p:nvSpPr>
          <p:cNvPr id="38" name="Shape 29"/>
          <p:cNvSpPr/>
          <p:nvPr/>
        </p:nvSpPr>
        <p:spPr>
          <a:xfrm>
            <a:off x="6847637" y="4343400"/>
            <a:ext cx="2417978" cy="960120"/>
          </a:xfrm>
          <a:prstGeom prst="roundRect">
            <a:avLst>
              <a:gd name="adj" fmla="val 7619"/>
            </a:avLst>
          </a:prstGeom>
          <a:solidFill>
            <a:srgbClr val="4E3B78"/>
          </a:solidFill>
          <a:ln/>
        </p:spPr>
      </p:sp>
      <p:sp>
        <p:nvSpPr>
          <p:cNvPr id="39" name="Text 30"/>
          <p:cNvSpPr txBox="1"/>
          <p:nvPr/>
        </p:nvSpPr>
        <p:spPr>
          <a:xfrm>
            <a:off x="7030517" y="4343400"/>
            <a:ext cx="21436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チームを越えて、</a:t>
            </a:r>
            <a:endParaRPr lang="en-US" sz="14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ブラッシュアップが進む</a:t>
            </a:r>
            <a:endParaRPr lang="en-US" sz="1350" dirty="0"/>
          </a:p>
        </p:txBody>
      </p:sp>
      <p:sp>
        <p:nvSpPr>
          <p:cNvPr id="41" name="Text 32"/>
          <p:cNvSpPr txBox="1"/>
          <p:nvPr/>
        </p:nvSpPr>
        <p:spPr>
          <a:xfrm>
            <a:off x="899129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8E8A9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D07B7-7A7A-F98E-41AA-6BC6B5BA6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32">
            <a:extLst>
              <a:ext uri="{FF2B5EF4-FFF2-40B4-BE49-F238E27FC236}">
                <a16:creationId xmlns:a16="http://schemas.microsoft.com/office/drawing/2014/main" id="{879341E8-0D95-7B42-9406-C50250D25AD9}"/>
              </a:ext>
            </a:extLst>
          </p:cNvPr>
          <p:cNvSpPr txBox="1"/>
          <p:nvPr/>
        </p:nvSpPr>
        <p:spPr>
          <a:xfrm>
            <a:off x="899129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8E8A9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1200" dirty="0"/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C47951D1-7C0F-80F1-5067-746D30F9730F}"/>
              </a:ext>
            </a:extLst>
          </p:cNvPr>
          <p:cNvSpPr txBox="1"/>
          <p:nvPr/>
        </p:nvSpPr>
        <p:spPr>
          <a:xfrm>
            <a:off x="731520" y="1097280"/>
            <a:ext cx="7132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latin typeface="Meiryo UI" pitchFamily="34" charset="0"/>
                <a:ea typeface="Meiryo UI" pitchFamily="34" charset="-122"/>
                <a:cs typeface="Meiryo UI" pitchFamily="34" charset="-120"/>
              </a:rPr>
              <a:t>探す、は無駄。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latin typeface="Meiryo UI" pitchFamily="34" charset="0"/>
                <a:ea typeface="Meiryo UI" pitchFamily="34" charset="-122"/>
                <a:cs typeface="Meiryo UI" pitchFamily="34" charset="-120"/>
              </a:rPr>
              <a:t>それを排除する働き方をする。</a:t>
            </a:r>
            <a:endParaRPr lang="en-US" sz="3200" dirty="0"/>
          </a:p>
        </p:txBody>
      </p:sp>
      <p:pic>
        <p:nvPicPr>
          <p:cNvPr id="44" name="Image 0" descr="preencoded.png">
            <a:extLst>
              <a:ext uri="{FF2B5EF4-FFF2-40B4-BE49-F238E27FC236}">
                <a16:creationId xmlns:a16="http://schemas.microsoft.com/office/drawing/2014/main" id="{9F5C8DE4-2F35-01DF-D2FC-D61AD2569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868680"/>
            <a:ext cx="1005840" cy="1005840"/>
          </a:xfrm>
          <a:prstGeom prst="rect">
            <a:avLst/>
          </a:prstGeom>
        </p:spPr>
      </p:pic>
      <p:sp>
        <p:nvSpPr>
          <p:cNvPr id="46" name="Shape 2">
            <a:extLst>
              <a:ext uri="{FF2B5EF4-FFF2-40B4-BE49-F238E27FC236}">
                <a16:creationId xmlns:a16="http://schemas.microsoft.com/office/drawing/2014/main" id="{81F854DB-101F-DB54-6664-537F8DBC154A}"/>
              </a:ext>
            </a:extLst>
          </p:cNvPr>
          <p:cNvSpPr/>
          <p:nvPr/>
        </p:nvSpPr>
        <p:spPr>
          <a:xfrm>
            <a:off x="731520" y="3063240"/>
            <a:ext cx="1578803" cy="2103120"/>
          </a:xfrm>
          <a:prstGeom prst="roundRect">
            <a:avLst>
              <a:gd name="adj" fmla="val 4633"/>
            </a:avLst>
          </a:prstGeom>
          <a:solidFill>
            <a:srgbClr val="4E3B78"/>
          </a:solidFill>
          <a:ln/>
        </p:spPr>
      </p:sp>
      <p:sp>
        <p:nvSpPr>
          <p:cNvPr id="48" name="Text 3">
            <a:extLst>
              <a:ext uri="{FF2B5EF4-FFF2-40B4-BE49-F238E27FC236}">
                <a16:creationId xmlns:a16="http://schemas.microsoft.com/office/drawing/2014/main" id="{FE678C9B-B015-1CD1-1127-17EC26FC2D69}"/>
              </a:ext>
            </a:extLst>
          </p:cNvPr>
          <p:cNvSpPr txBox="1"/>
          <p:nvPr/>
        </p:nvSpPr>
        <p:spPr>
          <a:xfrm>
            <a:off x="896112" y="3200400"/>
            <a:ext cx="13044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0A5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　発端</a:t>
            </a:r>
            <a:endParaRPr lang="en-US" sz="1200" dirty="0"/>
          </a:p>
        </p:txBody>
      </p:sp>
      <p:sp>
        <p:nvSpPr>
          <p:cNvPr id="50" name="Text 4">
            <a:extLst>
              <a:ext uri="{FF2B5EF4-FFF2-40B4-BE49-F238E27FC236}">
                <a16:creationId xmlns:a16="http://schemas.microsoft.com/office/drawing/2014/main" id="{E507C845-B9FF-6A11-5BC2-DC29C21BD574}"/>
              </a:ext>
            </a:extLst>
          </p:cNvPr>
          <p:cNvSpPr txBox="1"/>
          <p:nvPr/>
        </p:nvSpPr>
        <p:spPr>
          <a:xfrm>
            <a:off x="868680" y="3611880"/>
            <a:ext cx="139592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現場の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小さな違和感を、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見逃さない</a:t>
            </a:r>
            <a:endParaRPr lang="en-US" sz="1350" dirty="0"/>
          </a:p>
        </p:txBody>
      </p:sp>
      <p:sp>
        <p:nvSpPr>
          <p:cNvPr id="52" name="Shape 5">
            <a:extLst>
              <a:ext uri="{FF2B5EF4-FFF2-40B4-BE49-F238E27FC236}">
                <a16:creationId xmlns:a16="http://schemas.microsoft.com/office/drawing/2014/main" id="{4535BEAD-1D4E-4B17-9136-EFA782E88C5E}"/>
              </a:ext>
            </a:extLst>
          </p:cNvPr>
          <p:cNvSpPr/>
          <p:nvPr/>
        </p:nvSpPr>
        <p:spPr>
          <a:xfrm>
            <a:off x="2447483" y="3063240"/>
            <a:ext cx="1578803" cy="2103120"/>
          </a:xfrm>
          <a:prstGeom prst="roundRect">
            <a:avLst>
              <a:gd name="adj" fmla="val 4633"/>
            </a:avLst>
          </a:prstGeom>
          <a:solidFill>
            <a:srgbClr val="4E3B78"/>
          </a:solidFill>
          <a:ln/>
        </p:spPr>
      </p:sp>
      <p:sp>
        <p:nvSpPr>
          <p:cNvPr id="54" name="Text 6">
            <a:extLst>
              <a:ext uri="{FF2B5EF4-FFF2-40B4-BE49-F238E27FC236}">
                <a16:creationId xmlns:a16="http://schemas.microsoft.com/office/drawing/2014/main" id="{24968C6E-6ADA-1C7C-92B4-FF4CBB501E8B}"/>
              </a:ext>
            </a:extLst>
          </p:cNvPr>
          <p:cNvSpPr txBox="1"/>
          <p:nvPr/>
        </p:nvSpPr>
        <p:spPr>
          <a:xfrm>
            <a:off x="2612075" y="3200400"/>
            <a:ext cx="13044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0A5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　なぜなぜ</a:t>
            </a:r>
            <a:endParaRPr lang="en-US" sz="1200" dirty="0"/>
          </a:p>
        </p:txBody>
      </p:sp>
      <p:sp>
        <p:nvSpPr>
          <p:cNvPr id="56" name="Text 7">
            <a:extLst>
              <a:ext uri="{FF2B5EF4-FFF2-40B4-BE49-F238E27FC236}">
                <a16:creationId xmlns:a16="http://schemas.microsoft.com/office/drawing/2014/main" id="{7C30FF3E-268E-DB8C-A8D6-B5DE20113533}"/>
              </a:ext>
            </a:extLst>
          </p:cNvPr>
          <p:cNvSpPr txBox="1"/>
          <p:nvPr/>
        </p:nvSpPr>
        <p:spPr>
          <a:xfrm>
            <a:off x="2584643" y="3611880"/>
            <a:ext cx="139592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表面の問題だけで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なく、原因まで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掘り下げる</a:t>
            </a:r>
            <a:endParaRPr lang="en-US" sz="1350" dirty="0"/>
          </a:p>
        </p:txBody>
      </p:sp>
      <p:sp>
        <p:nvSpPr>
          <p:cNvPr id="58" name="Shape 8">
            <a:extLst>
              <a:ext uri="{FF2B5EF4-FFF2-40B4-BE49-F238E27FC236}">
                <a16:creationId xmlns:a16="http://schemas.microsoft.com/office/drawing/2014/main" id="{64CFE021-0EE8-5D38-A570-4933FA5100B1}"/>
              </a:ext>
            </a:extLst>
          </p:cNvPr>
          <p:cNvSpPr/>
          <p:nvPr/>
        </p:nvSpPr>
        <p:spPr>
          <a:xfrm>
            <a:off x="4163446" y="3063240"/>
            <a:ext cx="1578803" cy="2103120"/>
          </a:xfrm>
          <a:prstGeom prst="roundRect">
            <a:avLst>
              <a:gd name="adj" fmla="val 4633"/>
            </a:avLst>
          </a:prstGeom>
          <a:solidFill>
            <a:srgbClr val="4E3B78"/>
          </a:solidFill>
          <a:ln/>
        </p:spPr>
      </p:sp>
      <p:sp>
        <p:nvSpPr>
          <p:cNvPr id="60" name="Text 9">
            <a:extLst>
              <a:ext uri="{FF2B5EF4-FFF2-40B4-BE49-F238E27FC236}">
                <a16:creationId xmlns:a16="http://schemas.microsoft.com/office/drawing/2014/main" id="{BCF107EE-5673-6E6F-F616-ACB96240B590}"/>
              </a:ext>
            </a:extLst>
          </p:cNvPr>
          <p:cNvSpPr txBox="1"/>
          <p:nvPr/>
        </p:nvSpPr>
        <p:spPr>
          <a:xfrm>
            <a:off x="4328038" y="3200400"/>
            <a:ext cx="13044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0A5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　解決策</a:t>
            </a:r>
            <a:endParaRPr lang="en-US" sz="1200" dirty="0"/>
          </a:p>
        </p:txBody>
      </p:sp>
      <p:sp>
        <p:nvSpPr>
          <p:cNvPr id="62" name="Text 10">
            <a:extLst>
              <a:ext uri="{FF2B5EF4-FFF2-40B4-BE49-F238E27FC236}">
                <a16:creationId xmlns:a16="http://schemas.microsoft.com/office/drawing/2014/main" id="{D1C0E927-167E-3A73-5119-70A9EE8655D0}"/>
              </a:ext>
            </a:extLst>
          </p:cNvPr>
          <p:cNvSpPr txBox="1"/>
          <p:nvPr/>
        </p:nvSpPr>
        <p:spPr>
          <a:xfrm>
            <a:off x="4300606" y="3611880"/>
            <a:ext cx="139592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個人の記憶や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努力に頼らず、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仕組みで解決する</a:t>
            </a:r>
            <a:endParaRPr lang="en-US" sz="1350" dirty="0"/>
          </a:p>
        </p:txBody>
      </p:sp>
      <p:sp>
        <p:nvSpPr>
          <p:cNvPr id="64" name="Shape 11">
            <a:extLst>
              <a:ext uri="{FF2B5EF4-FFF2-40B4-BE49-F238E27FC236}">
                <a16:creationId xmlns:a16="http://schemas.microsoft.com/office/drawing/2014/main" id="{0E63EBFA-44E3-3941-74B9-65CEF736D02E}"/>
              </a:ext>
            </a:extLst>
          </p:cNvPr>
          <p:cNvSpPr/>
          <p:nvPr/>
        </p:nvSpPr>
        <p:spPr>
          <a:xfrm>
            <a:off x="5879409" y="3063240"/>
            <a:ext cx="1578803" cy="2103120"/>
          </a:xfrm>
          <a:prstGeom prst="roundRect">
            <a:avLst>
              <a:gd name="adj" fmla="val 4633"/>
            </a:avLst>
          </a:prstGeom>
          <a:solidFill>
            <a:srgbClr val="4E3B78"/>
          </a:solidFill>
          <a:ln/>
        </p:spPr>
      </p:sp>
      <p:sp>
        <p:nvSpPr>
          <p:cNvPr id="66" name="Text 12">
            <a:extLst>
              <a:ext uri="{FF2B5EF4-FFF2-40B4-BE49-F238E27FC236}">
                <a16:creationId xmlns:a16="http://schemas.microsoft.com/office/drawing/2014/main" id="{786CB2A9-12DA-2480-B8D3-64F123942F46}"/>
              </a:ext>
            </a:extLst>
          </p:cNvPr>
          <p:cNvSpPr txBox="1"/>
          <p:nvPr/>
        </p:nvSpPr>
        <p:spPr>
          <a:xfrm>
            <a:off x="6044001" y="3200400"/>
            <a:ext cx="13044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0A5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　FAQ作成</a:t>
            </a:r>
            <a:endParaRPr lang="en-US" sz="1200" dirty="0"/>
          </a:p>
        </p:txBody>
      </p:sp>
      <p:sp>
        <p:nvSpPr>
          <p:cNvPr id="68" name="Text 13">
            <a:extLst>
              <a:ext uri="{FF2B5EF4-FFF2-40B4-BE49-F238E27FC236}">
                <a16:creationId xmlns:a16="http://schemas.microsoft.com/office/drawing/2014/main" id="{76DF8538-9486-F8D0-EE4C-62B994A87010}"/>
              </a:ext>
            </a:extLst>
          </p:cNvPr>
          <p:cNvSpPr txBox="1"/>
          <p:nvPr/>
        </p:nvSpPr>
        <p:spPr>
          <a:xfrm>
            <a:off x="6016569" y="3611880"/>
            <a:ext cx="139592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考えるだけで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終わらず、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実際に形にする</a:t>
            </a:r>
            <a:endParaRPr lang="en-US" sz="1350" dirty="0"/>
          </a:p>
        </p:txBody>
      </p:sp>
      <p:sp>
        <p:nvSpPr>
          <p:cNvPr id="70" name="Shape 14">
            <a:extLst>
              <a:ext uri="{FF2B5EF4-FFF2-40B4-BE49-F238E27FC236}">
                <a16:creationId xmlns:a16="http://schemas.microsoft.com/office/drawing/2014/main" id="{F5A323D3-2B02-ADD6-CEE8-BD539B11A3C7}"/>
              </a:ext>
            </a:extLst>
          </p:cNvPr>
          <p:cNvSpPr/>
          <p:nvPr/>
        </p:nvSpPr>
        <p:spPr>
          <a:xfrm>
            <a:off x="7595372" y="3063240"/>
            <a:ext cx="1578803" cy="2103120"/>
          </a:xfrm>
          <a:prstGeom prst="roundRect">
            <a:avLst>
              <a:gd name="adj" fmla="val 4633"/>
            </a:avLst>
          </a:prstGeom>
          <a:solidFill>
            <a:srgbClr val="F0A53A"/>
          </a:solidFill>
          <a:ln/>
        </p:spPr>
      </p:sp>
      <p:sp>
        <p:nvSpPr>
          <p:cNvPr id="72" name="Text 15">
            <a:extLst>
              <a:ext uri="{FF2B5EF4-FFF2-40B4-BE49-F238E27FC236}">
                <a16:creationId xmlns:a16="http://schemas.microsoft.com/office/drawing/2014/main" id="{A1FC9938-A197-CB5B-3E2E-29025B1E7C18}"/>
              </a:ext>
            </a:extLst>
          </p:cNvPr>
          <p:cNvSpPr txBox="1"/>
          <p:nvPr/>
        </p:nvSpPr>
        <p:spPr>
          <a:xfrm>
            <a:off x="7759964" y="3200400"/>
            <a:ext cx="13044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05　目指す姿</a:t>
            </a:r>
            <a:endParaRPr lang="en-US" sz="1200" dirty="0"/>
          </a:p>
        </p:txBody>
      </p:sp>
      <p:sp>
        <p:nvSpPr>
          <p:cNvPr id="74" name="Text 16">
            <a:extLst>
              <a:ext uri="{FF2B5EF4-FFF2-40B4-BE49-F238E27FC236}">
                <a16:creationId xmlns:a16="http://schemas.microsoft.com/office/drawing/2014/main" id="{63093C60-24F7-0A5D-7F09-8EE6744ED32D}"/>
              </a:ext>
            </a:extLst>
          </p:cNvPr>
          <p:cNvSpPr txBox="1"/>
          <p:nvPr/>
        </p:nvSpPr>
        <p:spPr>
          <a:xfrm>
            <a:off x="7732532" y="3611880"/>
            <a:ext cx="139592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探す時間を減らし、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本来の仕事に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時間を使う</a:t>
            </a:r>
            <a:endParaRPr lang="en-US" sz="1350" dirty="0"/>
          </a:p>
        </p:txBody>
      </p:sp>
      <p:sp>
        <p:nvSpPr>
          <p:cNvPr id="76" name="Text 17">
            <a:extLst>
              <a:ext uri="{FF2B5EF4-FFF2-40B4-BE49-F238E27FC236}">
                <a16:creationId xmlns:a16="http://schemas.microsoft.com/office/drawing/2014/main" id="{92857A77-3B52-BBC1-5A31-0E5CF0BF1560}"/>
              </a:ext>
            </a:extLst>
          </p:cNvPr>
          <p:cNvSpPr txBox="1"/>
          <p:nvPr/>
        </p:nvSpPr>
        <p:spPr>
          <a:xfrm>
            <a:off x="731520" y="54864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latin typeface="Meiryo UI" pitchFamily="34" charset="0"/>
                <a:ea typeface="Meiryo UI" pitchFamily="34" charset="-122"/>
                <a:cs typeface="Meiryo UI" pitchFamily="34" charset="-120"/>
              </a:rPr>
              <a:t>FAQを使い始めて、「育てる」ことの難しさも見えてきました。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「もっとこうしたら」の意見、ぜひ言い合えたらうれしいです。</a:t>
            </a:r>
            <a:endParaRPr lang="en-US" sz="1300" dirty="0"/>
          </a:p>
        </p:txBody>
      </p:sp>
      <p:sp>
        <p:nvSpPr>
          <p:cNvPr id="78" name="Text 0">
            <a:extLst>
              <a:ext uri="{FF2B5EF4-FFF2-40B4-BE49-F238E27FC236}">
                <a16:creationId xmlns:a16="http://schemas.microsoft.com/office/drawing/2014/main" id="{EAD1382F-D28F-D03F-216F-689DAC4A0BF1}"/>
              </a:ext>
            </a:extLst>
          </p:cNvPr>
          <p:cNvSpPr txBox="1"/>
          <p:nvPr/>
        </p:nvSpPr>
        <p:spPr>
          <a:xfrm>
            <a:off x="731520" y="685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0A5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まとめ：私のマインド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35801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24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今後のこと。「</a:t>
            </a:r>
            <a:r>
              <a:rPr lang="en-US" sz="2400" b="1" dirty="0" err="1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探す</a:t>
            </a:r>
            <a:r>
              <a:rPr lang="ja-JP" altLang="en-US" sz="24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」の排除</a:t>
            </a:r>
            <a:r>
              <a:rPr lang="en-US" sz="2400" b="1" dirty="0" err="1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はFAQだけじゃない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1688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070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もの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282891" y="10241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B4F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情報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0091" y="1143000"/>
            <a:ext cx="6708404" cy="0"/>
          </a:xfrm>
          <a:prstGeom prst="line">
            <a:avLst/>
          </a:prstGeom>
          <a:noFill/>
          <a:ln w="12700">
            <a:solidFill>
              <a:srgbClr val="B9A8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1688531" cy="1508760"/>
          </a:xfrm>
          <a:prstGeom prst="roundRect">
            <a:avLst>
              <a:gd name="adj" fmla="val 4848"/>
            </a:avLst>
          </a:prstGeom>
          <a:solidFill>
            <a:srgbClr val="F2EEF8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438912" cy="438912"/>
          </a:xfrm>
          <a:prstGeom prst="ellipse">
            <a:avLst/>
          </a:prstGeom>
          <a:solidFill>
            <a:srgbClr val="E0705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618488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15568" y="1508760"/>
            <a:ext cx="95701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もの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039112"/>
            <a:ext cx="15056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ケーブル・備品・書類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2496312"/>
            <a:ext cx="1414211" cy="256032"/>
          </a:xfrm>
          <a:prstGeom prst="roundRect">
            <a:avLst>
              <a:gd name="adj" fmla="val 50000"/>
            </a:avLst>
          </a:prstGeom>
          <a:solidFill>
            <a:srgbClr val="F0A5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済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282891" y="1371600"/>
            <a:ext cx="1688531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5400">
            <a:solidFill>
              <a:srgbClr val="6B4F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20051" y="1508760"/>
            <a:ext cx="438912" cy="438912"/>
          </a:xfrm>
          <a:prstGeom prst="ellipse">
            <a:avLst/>
          </a:prstGeom>
          <a:solidFill>
            <a:srgbClr val="6B4FA0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779" y="1618488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941259" y="1508760"/>
            <a:ext cx="95701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コンテンツ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2420051" y="2039112"/>
            <a:ext cx="15056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資料・手順書・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管理ツール・通知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420051" y="2496312"/>
            <a:ext cx="1414211" cy="256032"/>
          </a:xfrm>
          <a:prstGeom prst="roundRect">
            <a:avLst>
              <a:gd name="adj" fmla="val 50000"/>
            </a:avLst>
          </a:prstGeom>
          <a:solidFill>
            <a:srgbClr val="6B4FA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今回のFAQ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108582" y="1371600"/>
            <a:ext cx="1688531" cy="1508760"/>
          </a:xfrm>
          <a:prstGeom prst="roundRect">
            <a:avLst>
              <a:gd name="adj" fmla="val 4848"/>
            </a:avLst>
          </a:prstGeom>
          <a:solidFill>
            <a:srgbClr val="F2EEF8"/>
          </a:solidFill>
          <a:ln/>
        </p:spPr>
      </p:sp>
      <p:sp>
        <p:nvSpPr>
          <p:cNvPr id="19" name="Shape 15"/>
          <p:cNvSpPr/>
          <p:nvPr/>
        </p:nvSpPr>
        <p:spPr>
          <a:xfrm>
            <a:off x="4245742" y="1508760"/>
            <a:ext cx="438912" cy="438912"/>
          </a:xfrm>
          <a:prstGeom prst="ellipse">
            <a:avLst/>
          </a:prstGeom>
          <a:solidFill>
            <a:srgbClr val="6B4FA0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5470" y="1618488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766950" y="1508760"/>
            <a:ext cx="95701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目的・背景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4245742" y="2039112"/>
            <a:ext cx="15056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なぜそう決まったか、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なぜ作ったか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245742" y="2496312"/>
            <a:ext cx="1414211" cy="256032"/>
          </a:xfrm>
          <a:prstGeom prst="roundRect">
            <a:avLst>
              <a:gd name="adj" fmla="val 50000"/>
            </a:avLst>
          </a:prstGeom>
          <a:solidFill>
            <a:srgbClr val="4F73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取り組み中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934273" y="1371600"/>
            <a:ext cx="1688531" cy="1508760"/>
          </a:xfrm>
          <a:prstGeom prst="roundRect">
            <a:avLst>
              <a:gd name="adj" fmla="val 4848"/>
            </a:avLst>
          </a:prstGeom>
          <a:solidFill>
            <a:srgbClr val="F2EEF8"/>
          </a:solidFill>
          <a:ln/>
        </p:spPr>
      </p:sp>
      <p:sp>
        <p:nvSpPr>
          <p:cNvPr id="25" name="Shape 20"/>
          <p:cNvSpPr/>
          <p:nvPr/>
        </p:nvSpPr>
        <p:spPr>
          <a:xfrm>
            <a:off x="6071433" y="1508760"/>
            <a:ext cx="438912" cy="438912"/>
          </a:xfrm>
          <a:prstGeom prst="ellipse">
            <a:avLst/>
          </a:prstGeom>
          <a:solidFill>
            <a:srgbClr val="6B4FA0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161" y="1618488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592641" y="1508760"/>
            <a:ext cx="95701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やりとり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6071433" y="2039112"/>
            <a:ext cx="15056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メール・議事録・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面談記録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7759964" y="1371600"/>
            <a:ext cx="1688531" cy="1508760"/>
          </a:xfrm>
          <a:prstGeom prst="roundRect">
            <a:avLst>
              <a:gd name="adj" fmla="val 4848"/>
            </a:avLst>
          </a:prstGeom>
          <a:solidFill>
            <a:srgbClr val="F2EEF8"/>
          </a:solidFill>
          <a:ln/>
        </p:spPr>
      </p:sp>
      <p:sp>
        <p:nvSpPr>
          <p:cNvPr id="31" name="Shape 25"/>
          <p:cNvSpPr/>
          <p:nvPr/>
        </p:nvSpPr>
        <p:spPr>
          <a:xfrm>
            <a:off x="7897124" y="1508760"/>
            <a:ext cx="438912" cy="438912"/>
          </a:xfrm>
          <a:prstGeom prst="ellipse">
            <a:avLst/>
          </a:prstGeom>
          <a:solidFill>
            <a:srgbClr val="6B4FA0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6852" y="1618488"/>
            <a:ext cx="219456" cy="219456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418332" y="1508760"/>
            <a:ext cx="95701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詳しい人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7897124" y="2039112"/>
            <a:ext cx="15056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誰に聞けばいいか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（KnowWho）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457200" y="3090672"/>
            <a:ext cx="8991295" cy="1024128"/>
          </a:xfrm>
          <a:prstGeom prst="roundRect">
            <a:avLst>
              <a:gd name="adj" fmla="val 7143"/>
            </a:avLst>
          </a:prstGeom>
          <a:solidFill>
            <a:srgbClr val="3D2C63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685800" y="3090672"/>
            <a:ext cx="1188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なぜ、改めて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0A5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大事なのか</a:t>
            </a:r>
            <a:endParaRPr lang="en-US" sz="1300" dirty="0"/>
          </a:p>
        </p:txBody>
      </p:sp>
      <p:sp>
        <p:nvSpPr>
          <p:cNvPr id="38" name="Text 31"/>
          <p:cNvSpPr txBox="1"/>
          <p:nvPr/>
        </p:nvSpPr>
        <p:spPr>
          <a:xfrm>
            <a:off x="1965960" y="3246120"/>
            <a:ext cx="2250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当たり前だからこそ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1965960" y="3547872"/>
            <a:ext cx="2250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9A8D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後回しになり、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B9A8D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気づくと積もっている</a:t>
            </a:r>
            <a:endParaRPr lang="en-US" sz="12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7738" y="3511296"/>
            <a:ext cx="137160" cy="18288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4536338" y="3246120"/>
            <a:ext cx="2250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AI伴走の時代</a:t>
            </a:r>
            <a:endParaRPr lang="en-US" sz="1300" dirty="0"/>
          </a:p>
        </p:txBody>
      </p:sp>
      <p:sp>
        <p:nvSpPr>
          <p:cNvPr id="42" name="Text 34"/>
          <p:cNvSpPr txBox="1"/>
          <p:nvPr/>
        </p:nvSpPr>
        <p:spPr>
          <a:xfrm>
            <a:off x="4536338" y="3547872"/>
            <a:ext cx="2250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9A8D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AIも、置き場所と背景が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B9A8D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整った情報しか見つけられない</a:t>
            </a:r>
            <a:endParaRPr lang="en-US" sz="1200" dirty="0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8117" y="3511296"/>
            <a:ext cx="137160" cy="182880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7106717" y="3246120"/>
            <a:ext cx="2250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整えれば、加速する</a:t>
            </a:r>
            <a:endParaRPr lang="en-US" sz="1300" dirty="0"/>
          </a:p>
        </p:txBody>
      </p:sp>
      <p:sp>
        <p:nvSpPr>
          <p:cNvPr id="45" name="Text 36"/>
          <p:cNvSpPr txBox="1"/>
          <p:nvPr/>
        </p:nvSpPr>
        <p:spPr>
          <a:xfrm>
            <a:off x="7106717" y="3547872"/>
            <a:ext cx="2250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9A8D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人もAIも、探さずに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B9A8D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答えにたどり着ける</a:t>
            </a:r>
            <a:endParaRPr lang="en-US" sz="1200" dirty="0"/>
          </a:p>
        </p:txBody>
      </p:sp>
      <p:sp>
        <p:nvSpPr>
          <p:cNvPr id="46" name="Text 37"/>
          <p:cNvSpPr txBox="1"/>
          <p:nvPr/>
        </p:nvSpPr>
        <p:spPr>
          <a:xfrm>
            <a:off x="457200" y="4297680"/>
            <a:ext cx="8991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6B4F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提案：当たり前を、チームの仕組みにする</a:t>
            </a:r>
            <a:endParaRPr lang="en-US" sz="1400" dirty="0"/>
          </a:p>
        </p:txBody>
      </p:sp>
      <p:sp>
        <p:nvSpPr>
          <p:cNvPr id="47" name="Shape 38"/>
          <p:cNvSpPr/>
          <p:nvPr/>
        </p:nvSpPr>
        <p:spPr>
          <a:xfrm>
            <a:off x="457200" y="4645152"/>
            <a:ext cx="287517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B9A8DD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621792" y="4782312"/>
            <a:ext cx="457200" cy="457200"/>
          </a:xfrm>
          <a:prstGeom prst="ellipse">
            <a:avLst/>
          </a:prstGeom>
          <a:solidFill>
            <a:srgbClr val="6B4FA0"/>
          </a:solidFill>
          <a:ln/>
        </p:spPr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092" y="4896612"/>
            <a:ext cx="228600" cy="228600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2875178" y="47548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b="1" dirty="0">
                <a:solidFill>
                  <a:srgbClr val="B9A8D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dirty="0"/>
          </a:p>
        </p:txBody>
      </p:sp>
      <p:sp>
        <p:nvSpPr>
          <p:cNvPr id="51" name="Text 41"/>
          <p:cNvSpPr txBox="1"/>
          <p:nvPr/>
        </p:nvSpPr>
        <p:spPr>
          <a:xfrm>
            <a:off x="1188720" y="4782312"/>
            <a:ext cx="1686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新しく作るものから</a:t>
            </a:r>
            <a:endParaRPr lang="en-US" sz="1400" dirty="0"/>
          </a:p>
        </p:txBody>
      </p:sp>
      <p:sp>
        <p:nvSpPr>
          <p:cNvPr id="52" name="Text 42"/>
          <p:cNvSpPr txBox="1"/>
          <p:nvPr/>
        </p:nvSpPr>
        <p:spPr>
          <a:xfrm>
            <a:off x="621792" y="5358384"/>
            <a:ext cx="2646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資料やツールを作るときは、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「目的・背景・更新日・置き場所」を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一緒に残す。過去の整理を待たずに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始められる。</a:t>
            </a:r>
            <a:endParaRPr lang="en-US" sz="1200" dirty="0"/>
          </a:p>
        </p:txBody>
      </p:sp>
      <p:sp>
        <p:nvSpPr>
          <p:cNvPr id="53" name="Shape 43"/>
          <p:cNvSpPr/>
          <p:nvPr/>
        </p:nvSpPr>
        <p:spPr>
          <a:xfrm>
            <a:off x="3515258" y="4645152"/>
            <a:ext cx="287517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B9A8DD"/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3679850" y="4782312"/>
            <a:ext cx="457200" cy="457200"/>
          </a:xfrm>
          <a:prstGeom prst="ellipse">
            <a:avLst/>
          </a:prstGeom>
          <a:solidFill>
            <a:srgbClr val="E0705A"/>
          </a:solidFill>
          <a:ln/>
        </p:spPr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94150" y="4896612"/>
            <a:ext cx="228600" cy="228600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5933237" y="47548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b="1" dirty="0">
                <a:solidFill>
                  <a:srgbClr val="B9A8D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dirty="0"/>
          </a:p>
        </p:txBody>
      </p:sp>
      <p:sp>
        <p:nvSpPr>
          <p:cNvPr id="57" name="Text 46"/>
          <p:cNvSpPr txBox="1"/>
          <p:nvPr/>
        </p:nvSpPr>
        <p:spPr>
          <a:xfrm>
            <a:off x="4246778" y="4782312"/>
            <a:ext cx="1686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「探した」を持ち寄る</a:t>
            </a:r>
            <a:endParaRPr lang="en-US" sz="1400" dirty="0"/>
          </a:p>
        </p:txBody>
      </p:sp>
      <p:sp>
        <p:nvSpPr>
          <p:cNvPr id="58" name="Text 47"/>
          <p:cNvSpPr txBox="1"/>
          <p:nvPr/>
        </p:nvSpPr>
        <p:spPr>
          <a:xfrm>
            <a:off x="3679850" y="5358384"/>
            <a:ext cx="2646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今回の一言のように、探した場面を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チームで共有する。次にどこを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整えるかを、みんなで決める。</a:t>
            </a:r>
            <a:endParaRPr lang="en-US" sz="1200" dirty="0"/>
          </a:p>
        </p:txBody>
      </p:sp>
      <p:sp>
        <p:nvSpPr>
          <p:cNvPr id="59" name="Shape 48"/>
          <p:cNvSpPr/>
          <p:nvPr/>
        </p:nvSpPr>
        <p:spPr>
          <a:xfrm>
            <a:off x="6573317" y="4645152"/>
            <a:ext cx="287517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B9A8DD"/>
            </a:solidFill>
            <a:prstDash val="solid"/>
          </a:ln>
        </p:spPr>
      </p:sp>
      <p:sp>
        <p:nvSpPr>
          <p:cNvPr id="60" name="Shape 49"/>
          <p:cNvSpPr/>
          <p:nvPr/>
        </p:nvSpPr>
        <p:spPr>
          <a:xfrm>
            <a:off x="6737909" y="4782312"/>
            <a:ext cx="457200" cy="457200"/>
          </a:xfrm>
          <a:prstGeom prst="ellipse">
            <a:avLst/>
          </a:prstGeom>
          <a:solidFill>
            <a:srgbClr val="4F7396"/>
          </a:solidFill>
          <a:ln/>
        </p:spPr>
      </p:sp>
      <p:pic>
        <p:nvPicPr>
          <p:cNvPr id="6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2209" y="4896612"/>
            <a:ext cx="228600" cy="228600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991295" y="47548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b="1" dirty="0">
                <a:solidFill>
                  <a:srgbClr val="B9A8D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dirty="0"/>
          </a:p>
        </p:txBody>
      </p:sp>
      <p:sp>
        <p:nvSpPr>
          <p:cNvPr id="63" name="Text 51"/>
          <p:cNvSpPr txBox="1"/>
          <p:nvPr/>
        </p:nvSpPr>
        <p:spPr>
          <a:xfrm>
            <a:off x="7304837" y="4782312"/>
            <a:ext cx="1686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C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AIに渡せる形でためる</a:t>
            </a:r>
            <a:endParaRPr lang="en-US" sz="1400" dirty="0"/>
          </a:p>
        </p:txBody>
      </p:sp>
      <p:sp>
        <p:nvSpPr>
          <p:cNvPr id="64" name="Text 52"/>
          <p:cNvSpPr txBox="1"/>
          <p:nvPr/>
        </p:nvSpPr>
        <p:spPr>
          <a:xfrm>
            <a:off x="6737909" y="5358384"/>
            <a:ext cx="2646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FAQや手順書を、1問1答・背景つきの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形でためる。そのままAI伴走の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7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土台になる。</a:t>
            </a:r>
            <a:endParaRPr lang="en-US" sz="1200" dirty="0"/>
          </a:p>
        </p:txBody>
      </p:sp>
      <p:sp>
        <p:nvSpPr>
          <p:cNvPr id="65" name="Text 53"/>
          <p:cNvSpPr txBox="1"/>
          <p:nvPr/>
        </p:nvSpPr>
        <p:spPr>
          <a:xfrm>
            <a:off x="899129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8E8A9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</a:t>
            </a:r>
            <a:endParaRPr lang="en-US" sz="1200" dirty="0"/>
          </a:p>
        </p:txBody>
      </p:sp>
      <p:sp>
        <p:nvSpPr>
          <p:cNvPr id="67" name="Shape 3">
            <a:extLst>
              <a:ext uri="{FF2B5EF4-FFF2-40B4-BE49-F238E27FC236}">
                <a16:creationId xmlns:a16="http://schemas.microsoft.com/office/drawing/2014/main" id="{321018FC-0DD9-08FA-63D1-8EE892050FD9}"/>
              </a:ext>
            </a:extLst>
          </p:cNvPr>
          <p:cNvSpPr/>
          <p:nvPr/>
        </p:nvSpPr>
        <p:spPr>
          <a:xfrm rot="-60000">
            <a:off x="875349" y="1143000"/>
            <a:ext cx="999171" cy="18288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69" name="Text 18">
            <a:extLst>
              <a:ext uri="{FF2B5EF4-FFF2-40B4-BE49-F238E27FC236}">
                <a16:creationId xmlns:a16="http://schemas.microsoft.com/office/drawing/2014/main" id="{2DBD7A84-97D8-FD0D-D42A-BB1345F379DE}"/>
              </a:ext>
            </a:extLst>
          </p:cNvPr>
          <p:cNvSpPr/>
          <p:nvPr/>
        </p:nvSpPr>
        <p:spPr>
          <a:xfrm>
            <a:off x="6052771" y="2491954"/>
            <a:ext cx="1414211" cy="256032"/>
          </a:xfrm>
          <a:prstGeom prst="roundRect">
            <a:avLst>
              <a:gd name="adj" fmla="val 50000"/>
            </a:avLst>
          </a:prstGeom>
          <a:solidFill>
            <a:srgbClr val="4F73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取り組み中</a:t>
            </a:r>
            <a:endParaRPr lang="en-US" sz="1200" dirty="0"/>
          </a:p>
        </p:txBody>
      </p:sp>
      <p:sp>
        <p:nvSpPr>
          <p:cNvPr id="71" name="Text 18">
            <a:extLst>
              <a:ext uri="{FF2B5EF4-FFF2-40B4-BE49-F238E27FC236}">
                <a16:creationId xmlns:a16="http://schemas.microsoft.com/office/drawing/2014/main" id="{6B175779-F527-D8B0-5104-DD96D20A2B7D}"/>
              </a:ext>
            </a:extLst>
          </p:cNvPr>
          <p:cNvSpPr/>
          <p:nvPr/>
        </p:nvSpPr>
        <p:spPr>
          <a:xfrm>
            <a:off x="7903352" y="2487598"/>
            <a:ext cx="1414211" cy="256032"/>
          </a:xfrm>
          <a:prstGeom prst="roundRect">
            <a:avLst>
              <a:gd name="adj" fmla="val 50000"/>
            </a:avLst>
          </a:prstGeom>
          <a:solidFill>
            <a:srgbClr val="4F73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取り組み中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27167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681</Words>
  <Application>Microsoft Office PowerPoint</Application>
  <PresentationFormat>A4 210 x 297 mm</PresentationFormat>
  <Paragraphs>258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2" baseType="lpstr">
      <vt:lpstr>Meiryo UI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探す時間を、やりたい仕事の時間へ</dc:title>
  <dc:subject>PptxGenJS Presentation</dc:subject>
  <dc:creator>PptxGenJS</dc:creator>
  <cp:lastModifiedBy>ちゅ ちなー</cp:lastModifiedBy>
  <cp:revision>9</cp:revision>
  <dcterms:created xsi:type="dcterms:W3CDTF">2026-10-13T10:56:47Z</dcterms:created>
  <dcterms:modified xsi:type="dcterms:W3CDTF">2026-10-13T12:53:50Z</dcterms:modified>
</cp:coreProperties>
</file>