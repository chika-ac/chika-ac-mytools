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3" r:id="rId11"/>
    <p:sldId id="266" r:id="rId12"/>
    <p:sldId id="267" r:id="rId13"/>
    <p:sldId id="268" r:id="rId14"/>
    <p:sldId id="269" r:id="rId15"/>
    <p:sldId id="270" r:id="rId16"/>
  </p:sldIdLst>
  <p:sldSz cx="9906000" cy="6858000" type="A4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0E5C365C-15C6-DD8A-C55C-C5FCEA96269A}">
          <p14:sldIdLst>
            <p14:sldId id="256"/>
            <p14:sldId id="257"/>
            <p14:sldId id="258"/>
            <p14:sldId id="259"/>
            <p14:sldId id="260"/>
          </p14:sldIdLst>
        </p14:section>
        <p14:section name="あるある" id="{78B57E90-6F55-E734-5A69-694C944BCAD5}">
          <p14:sldIdLst>
            <p14:sldId id="261"/>
            <p14:sldId id="262"/>
          </p14:sldIdLst>
        </p14:section>
        <p14:section name="これまでとこれから" id="{9FC0E95F-9122-96C7-AC2F-BACA84EC5664}">
          <p14:sldIdLst>
            <p14:sldId id="264"/>
            <p14:sldId id="265"/>
            <p14:sldId id="263"/>
          </p14:sldIdLst>
        </p14:section>
        <p14:section name="なぜ今か" id="{A9E23356-F9BB-8A14-C0D2-4158D45DF3E9}">
          <p14:sldIdLst>
            <p14:sldId id="266"/>
          </p14:sldIdLst>
        </p14:section>
        <p14:section name="解決の動き" id="{76ACD129-8EEA-C569-D03F-0FD91F172E11}">
          <p14:sldIdLst>
            <p14:sldId id="267"/>
          </p14:sldIdLst>
        </p14:section>
        <p14:section name="私の一歩" id="{C3392E4F-20F7-EF06-D776-4064B16A32F8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5" autoAdjust="0"/>
    <p:restoredTop sz="96242" autoAdjust="0"/>
  </p:normalViewPr>
  <p:slideViewPr>
    <p:cSldViewPr snapToGrid="0" snapToObjects="1">
      <p:cViewPr varScale="1">
        <p:scale>
          <a:sx n="106" d="100"/>
          <a:sy n="106" d="100"/>
        </p:scale>
        <p:origin x="64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735"/>
                </a:solidFill>
                <a:latin typeface="Meiryo UI"/>
                <a:ea typeface="Meiryo UI"/>
                <a:cs typeface="Meiryo UI"/>
              </a:defRPr>
            </a:pPr>
            <a:r>
              <a:rPr lang="ja-JP" altLang="en-US" sz="1300" b="0" i="0" u="none" strike="noStrike">
                <a:solidFill>
                  <a:srgbClr val="2B2735"/>
                </a:solidFill>
                <a:latin typeface="Meiryo UI"/>
                <a:ea typeface="Meiryo UI"/>
                <a:cs typeface="Meiryo UI"/>
              </a:rPr>
              <a:t>年間の時間（</a:t>
            </a:r>
            <a:r>
              <a:rPr lang="ja-JP" altLang="ja-JP" sz="1300" b="0" i="0" u="none" strike="noStrike">
                <a:solidFill>
                  <a:srgbClr val="2B2735"/>
                </a:solidFill>
                <a:latin typeface="Meiryo UI"/>
                <a:ea typeface="Meiryo UI"/>
                <a:cs typeface="Meiryo UI"/>
              </a:rPr>
              <a:t>220</a:t>
            </a:r>
            <a:r>
              <a:rPr lang="ja-JP" altLang="en-US" sz="1300" b="0" i="0" u="none" strike="noStrike">
                <a:solidFill>
                  <a:srgbClr val="2B2735"/>
                </a:solidFill>
                <a:latin typeface="Meiryo UI"/>
                <a:ea typeface="Meiryo UI"/>
                <a:cs typeface="Meiryo UI"/>
              </a:rPr>
              <a:t>日勤務で試算）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年間の時間</c:v>
                </c:pt>
              </c:strCache>
            </c:strRef>
          </c:tx>
          <c:spPr>
            <a:solidFill>
              <a:srgbClr val="B9A8D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105-4A3D-9B16-FE676FF4720B}"/>
              </c:ext>
            </c:extLst>
          </c:dPt>
          <c:dPt>
            <c:idx val="1"/>
            <c:invertIfNegative val="0"/>
            <c:bubble3D val="0"/>
            <c:spPr>
              <a:solidFill>
                <a:schemeClr val="bg2">
                  <a:lumMod val="5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105-4A3D-9B16-FE676FF4720B}"/>
              </c:ext>
            </c:extLst>
          </c:dPt>
          <c:dPt>
            <c:idx val="2"/>
            <c:invertIfNegative val="0"/>
            <c:bubble3D val="0"/>
            <c:spPr>
              <a:solidFill>
                <a:schemeClr val="bg2">
                  <a:lumMod val="7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105-4A3D-9B16-FE676FF4720B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2105-4A3D-9B16-FE676FF4720B}"/>
              </c:ext>
            </c:extLst>
          </c:dPt>
          <c:dLbls>
            <c:numFmt formatCode="&quot;約&quot;0&quot;時間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2B2735"/>
                    </a:solidFill>
                    <a:latin typeface="Meiryo UI"/>
                    <a:ea typeface="Meiryo UI"/>
                    <a:cs typeface="Meiryo UI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1日5分</c:v>
                </c:pt>
                <c:pt idx="1">
                  <c:v>1日20分</c:v>
                </c:pt>
                <c:pt idx="2">
                  <c:v>1日1時間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73</c:v>
                </c:pt>
                <c:pt idx="2">
                  <c:v>220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105-4A3D-9B16-FE676FF472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B2735"/>
                </a:solidFill>
                <a:latin typeface="Meiryo UI"/>
                <a:ea typeface="Meiryo UI"/>
                <a:cs typeface="Meiryo UI"/>
              </a:defRPr>
            </a:pPr>
            <a:endParaRPr lang="ja-JP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>
          <a:latin typeface="Meiryo UI"/>
          <a:ea typeface="Meiryo UI"/>
          <a:cs typeface="Meiryo UI"/>
        </a:defRPr>
      </a:pPr>
      <a:endParaRPr lang="ja-JP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81778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今日は「探す時間を減らす」というテーマでお話しします。探すことが悪いという話ではなく、その時間を本来やりたい仕事に戻したい、という話です。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テーマを大事にするようになったきっかけです。最初にアサインされたとき、根拠のわからない×1.2がかかったExcel（バッファなのか？）、「去年こんな資料あったよ」と言われて探したら全然違うフォルダにあって、しかもPDFで編集できない、元データもない。あったらいいなと思って作り始めたら実はもうあった。逆に、無いのには理由があるから余計なことはしないで、と指摘されたこともありました。この状態でわかるか！ということがいくつもあった。だから私は、次の人が迷わないように仕事をしたい、と思うようにな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だから私は、チーム運営でこれを大事にしています。物や情報を探す・確認する・聞く・待つ時間を減らして、本来の仕事や新しい機会に時間を戻したい、という話をします。大事にしているのは、これまでを否定しないこと、誰にとってもわかりやすいこと、作って終わりにせず育てること。目指したいのは、必要なものに誰でもすぐたどり着けて、人が入れ替わっても引き継げて、「もっとこうしたら」を言い合えるチーム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【問いかけ】心の中で、A〜Dのどれか選んでみてください。正解はありません。……ありがとうございます。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1日15分でも、220日勤務で計算すると年間約55時間。1日7.5時間で割ると約7日分です。あくまで考えるための試算で、平均値ではありません。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ひとつずつ読み上げて、「ありますよね」と間をとる。Excelは「作った人が悪い」ではなく、継ぎ足しで育ってきた、という言い方で。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「探す」は、見つけるところだけではなく、必要なものにたどり着いて使い始めるまで、と広くとらえています。つまずき方は3種類。お知らせの例のような「待つ」も含めて考えたいです。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まずは物から。センター全体の整理整頓を進めてきました。量の確認やゾーニングはまだですが、ゴールは見えてきています。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情報も、物と同じように整えたい。書類、決まった背景、やりとりの記録、詳しい人。この4つが誰にとってもわかりやすく使いやすい状態が理想です。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数字は仮のイメージです）日々の書類や物、メール、ファイルは、上から少しずつ降りつもっていきます。1年目はすぐ使えたものも、5年、10年、20年と経つうちに、じわじわと下に埋もれて、探さないと見つからなくなる。これは誰かが怠けたからではなく、物が上から下に落ちるように、忙しい毎日の中では自然な流れです。だからこそ、今の働き方に合わせて見直す時期が来ていると考えています。まずは物から、そして次に情報へ、という順番で進め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AI化はとても大事です。AIが先か、土台が先か、ではなく並走で進めたい。少なくともこれから作るものは、AIも人も探せる、未来の同僚に引き継げる、という目線で作れたらいいのでは、と考えています。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のあるあるに戻ります。前にどう答えたか、はFAQで取り組み中。ケーブルは、物の整理の次の一手としてゾーニングを進めます。Excelは目的や更新ルールをシートに残す、資料はフォルダ構成を説明するシートを置いたり、印刷物にファイルパスを印字したりして、元の場所にたどり着けるようにする、お知らせは同時に編集できる形で管理する、といった動きを提案し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私自身の一歩として、第二段階のFAQを作りました。認定チームが電話対応を習得するときや、自学自習にも使ってもらえています。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ただ、作ってみてわかったのは、作るより育て続けるほうが難しいということ。今は役立っていても、管理・更新が難しく、このままでは未来につなげにくい。いまは続けられる形を試しています。展望としては、第一段階を他チームにも横展開して、お互いの対応範囲がわかり、ブラッシュアップも進む形にし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探す時間を、やりたい仕事の時間へ。FAQを使い始めてみて、育てるという観点に課題があると見えてきました。勉強代で終わらせるのはもったいないので、「もっとこうしたら」という意見をぜひ言い合えたらうれしいです。（ここで口頭で参加者に問いかけ・お願い）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68655" y="2103120"/>
            <a:ext cx="854392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9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9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68655" y="3749040"/>
            <a:ext cx="854392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25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6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45770" y="365760"/>
            <a:ext cx="89896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38" b="1" dirty="0">
                <a:solidFill>
                  <a:schemeClr val="tx2"/>
                </a:solidFill>
                <a:latin typeface="+mj-lt"/>
              </a:defRPr>
            </a:lvl1pPr>
          </a:lstStyle>
          <a:p>
            <a:pPr marL="0" indent="0" algn="l">
              <a:buNone/>
            </a:pPr>
            <a:endParaRPr lang="en-US" sz="2438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355080"/>
            <a:ext cx="44577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355080"/>
            <a:ext cx="44577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742950" rtl="0" eaLnBrk="1" latinLnBrk="0" hangingPunct="1"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8606" indent="-278606" algn="l" defTabSz="742950" rtl="0" eaLnBrk="1" latinLnBrk="0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03647" indent="-232172" algn="l" defTabSz="742950" rtl="0" eaLnBrk="1" latinLnBrk="0" hangingPunct="1">
        <a:spcBef>
          <a:spcPct val="20000"/>
        </a:spcBef>
        <a:buFont typeface="Arial" pitchFamily="34" charset="0"/>
        <a:buChar char="–"/>
        <a:defRPr sz="2275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spcBef>
          <a:spcPct val="20000"/>
        </a:spcBef>
        <a:buFont typeface="Arial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spcBef>
          <a:spcPct val="20000"/>
        </a:spcBef>
        <a:buFont typeface="Arial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spcBef>
          <a:spcPct val="20000"/>
        </a:spcBef>
        <a:buFont typeface="Arial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spcBef>
          <a:spcPct val="20000"/>
        </a:spcBef>
        <a:buFont typeface="Arial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hyperlink" Target="https://businessnetwork.jp/whitepaper/64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1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68655" y="1898469"/>
            <a:ext cx="8543925" cy="1641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探す時間を、</a:t>
            </a:r>
          </a:p>
          <a:p>
            <a:r>
              <a:rPr lang="en-US" dirty="0"/>
              <a:t>やりたい仕事の時間へ</a:t>
            </a: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68655" y="3689033"/>
            <a:ext cx="854392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/>
              <a:t>私の思いとテーマ　｜　</a:t>
            </a:r>
            <a:r>
              <a:rPr lang="ja-JP" altLang="en-US" dirty="0"/>
              <a:t>小林</a:t>
            </a:r>
            <a:endParaRPr lang="en-US" dirty="0"/>
          </a:p>
        </p:txBody>
      </p:sp>
      <p:pic>
        <p:nvPicPr>
          <p:cNvPr id="4" name="search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5270" y="1311593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rigin-banner"/>
          <p:cNvSpPr/>
          <p:nvPr/>
        </p:nvSpPr>
        <p:spPr>
          <a:xfrm>
            <a:off x="445770" y="4837207"/>
            <a:ext cx="8989695" cy="965835"/>
          </a:xfrm>
          <a:prstGeom prst="roundRect">
            <a:avLst>
              <a:gd name="adj" fmla="val 11538"/>
            </a:avLst>
          </a:prstGeom>
          <a:solidFill>
            <a:schemeClr val="tx2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579422" y="4837207"/>
            <a:ext cx="8633157" cy="965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88" b="1" dirty="0" err="1">
                <a:solidFill>
                  <a:schemeClr val="bg1"/>
                </a:solidFill>
              </a:rPr>
              <a:t>次の人が迷わないように仕事をしたい</a:t>
            </a:r>
            <a:endParaRPr lang="en-US" sz="1788" dirty="0"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私の原点：最初のアサインで出会った「あるある」</a:t>
            </a:r>
          </a:p>
        </p:txBody>
      </p:sp>
      <p:sp>
        <p:nvSpPr>
          <p:cNvPr id="3" name="origin-1"/>
          <p:cNvSpPr/>
          <p:nvPr/>
        </p:nvSpPr>
        <p:spPr>
          <a:xfrm>
            <a:off x="445770" y="1437457"/>
            <a:ext cx="4383405" cy="1434331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origin-icon-1-bg"/>
          <p:cNvSpPr/>
          <p:nvPr/>
        </p:nvSpPr>
        <p:spPr>
          <a:xfrm>
            <a:off x="668655" y="1846080"/>
            <a:ext cx="594360" cy="61638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origin-icon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245" y="1963919"/>
            <a:ext cx="297180" cy="3081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48753" y="1437457"/>
            <a:ext cx="3194685" cy="1434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chemeClr val="tx2"/>
                </a:solidFill>
              </a:rPr>
              <a:t>根拠がわからない「×1.2」のExcel</a:t>
            </a:r>
            <a:endParaRPr lang="en-US" dirty="0"/>
          </a:p>
          <a:p>
            <a:pPr>
              <a:lnSpc>
                <a:spcPct val="115000"/>
              </a:lnSpc>
            </a:pPr>
            <a:r>
              <a:rPr lang="en-US" sz="1200" dirty="0"/>
              <a:t>バッファ？　誰が、なぜ決めたの？</a:t>
            </a:r>
            <a:endParaRPr lang="en-US" sz="1600" dirty="0"/>
          </a:p>
        </p:txBody>
      </p:sp>
      <p:sp>
        <p:nvSpPr>
          <p:cNvPr id="7" name="origin-2"/>
          <p:cNvSpPr/>
          <p:nvPr/>
        </p:nvSpPr>
        <p:spPr>
          <a:xfrm>
            <a:off x="5052060" y="1437457"/>
            <a:ext cx="4383405" cy="1434331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8" name="origin-icon-2-bg"/>
          <p:cNvSpPr/>
          <p:nvPr/>
        </p:nvSpPr>
        <p:spPr>
          <a:xfrm>
            <a:off x="5274945" y="1846080"/>
            <a:ext cx="594360" cy="61638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origin-icon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3535" y="1963919"/>
            <a:ext cx="297180" cy="3081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055043" y="1437457"/>
            <a:ext cx="3194685" cy="1434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chemeClr val="tx2"/>
                </a:solidFill>
              </a:rPr>
              <a:t>「去年こんな資料あったよ」</a:t>
            </a:r>
            <a:endParaRPr lang="en-US" dirty="0"/>
          </a:p>
          <a:p>
            <a:pPr>
              <a:lnSpc>
                <a:spcPct val="115000"/>
              </a:lnSpc>
            </a:pPr>
            <a:r>
              <a:rPr lang="en-US" sz="1200" dirty="0" err="1"/>
              <a:t>探したら全然違うフォルダに</a:t>
            </a:r>
            <a:r>
              <a:rPr lang="en-US" sz="1200" dirty="0"/>
              <a:t>。</a:t>
            </a:r>
          </a:p>
          <a:p>
            <a:pPr>
              <a:lnSpc>
                <a:spcPct val="115000"/>
              </a:lnSpc>
            </a:pPr>
            <a:r>
              <a:rPr lang="en-US" sz="1200" dirty="0" err="1"/>
              <a:t>しかもPDFで編集できず、元データもない</a:t>
            </a:r>
            <a:endParaRPr lang="en-US" sz="1600" dirty="0"/>
          </a:p>
        </p:txBody>
      </p:sp>
      <p:sp>
        <p:nvSpPr>
          <p:cNvPr id="11" name="origin-3"/>
          <p:cNvSpPr/>
          <p:nvPr/>
        </p:nvSpPr>
        <p:spPr>
          <a:xfrm>
            <a:off x="445770" y="3068549"/>
            <a:ext cx="4383405" cy="1434331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origin-icon-3-bg"/>
          <p:cNvSpPr/>
          <p:nvPr/>
        </p:nvSpPr>
        <p:spPr>
          <a:xfrm>
            <a:off x="668655" y="3477171"/>
            <a:ext cx="594360" cy="61638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origin-icon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245" y="3603719"/>
            <a:ext cx="297180" cy="3081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48753" y="3068549"/>
            <a:ext cx="3194685" cy="1434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chemeClr val="tx2"/>
                </a:solidFill>
              </a:rPr>
              <a:t>あったらいいなと作り始めたら</a:t>
            </a:r>
            <a:endParaRPr lang="en-US" dirty="0"/>
          </a:p>
          <a:p>
            <a:pPr>
              <a:lnSpc>
                <a:spcPct val="115000"/>
              </a:lnSpc>
            </a:pPr>
            <a:r>
              <a:rPr lang="en-US" sz="1200" dirty="0"/>
              <a:t>実は、もうあった</a:t>
            </a:r>
            <a:endParaRPr lang="en-US" sz="1600" dirty="0"/>
          </a:p>
        </p:txBody>
      </p:sp>
      <p:sp>
        <p:nvSpPr>
          <p:cNvPr id="15" name="origin-4"/>
          <p:cNvSpPr/>
          <p:nvPr/>
        </p:nvSpPr>
        <p:spPr>
          <a:xfrm>
            <a:off x="5052060" y="3068549"/>
            <a:ext cx="4383405" cy="1434331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6" name="origin-icon-4-bg"/>
          <p:cNvSpPr/>
          <p:nvPr/>
        </p:nvSpPr>
        <p:spPr>
          <a:xfrm>
            <a:off x="5274945" y="3477171"/>
            <a:ext cx="594360" cy="61638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origin-icon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3535" y="3612426"/>
            <a:ext cx="297180" cy="3081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55043" y="3068549"/>
            <a:ext cx="3194685" cy="1434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chemeClr val="tx2"/>
                </a:solidFill>
              </a:rPr>
              <a:t>「無いのには理由がある」</a:t>
            </a:r>
            <a:endParaRPr lang="en-US" dirty="0"/>
          </a:p>
          <a:p>
            <a:pPr>
              <a:lnSpc>
                <a:spcPct val="115000"/>
              </a:lnSpc>
            </a:pPr>
            <a:r>
              <a:rPr lang="ja-JP" altLang="en-US" sz="1200" dirty="0"/>
              <a:t>そもそも、あるのか無いのかも不明</a:t>
            </a:r>
            <a:endParaRPr lang="en-US" sz="1600" dirty="0"/>
          </a:p>
        </p:txBody>
      </p:sp>
      <p:pic>
        <p:nvPicPr>
          <p:cNvPr id="21" name="origin-arrow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2354" y="5193823"/>
            <a:ext cx="252603" cy="25260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だから私は、チーム運営でこれを大事にしています</a:t>
            </a:r>
          </a:p>
        </p:txBody>
      </p:sp>
      <p:sp>
        <p:nvSpPr>
          <p:cNvPr id="3" name="about-card"/>
          <p:cNvSpPr/>
          <p:nvPr/>
        </p:nvSpPr>
        <p:spPr>
          <a:xfrm>
            <a:off x="445770" y="1437457"/>
            <a:ext cx="2897505" cy="2600325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05803" y="1660342"/>
            <a:ext cx="2451735" cy="2191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300" b="1" dirty="0" err="1">
                <a:solidFill>
                  <a:schemeClr val="accent2"/>
                </a:solidFill>
              </a:rPr>
              <a:t>何の話</a:t>
            </a:r>
            <a:r>
              <a:rPr lang="en-US" sz="1300" b="1" dirty="0">
                <a:solidFill>
                  <a:schemeClr val="accent2"/>
                </a:solidFill>
              </a:rPr>
              <a:t>？</a:t>
            </a:r>
          </a:p>
          <a:p>
            <a:pPr>
              <a:lnSpc>
                <a:spcPct val="125000"/>
              </a:lnSpc>
            </a:pPr>
            <a:endParaRPr lang="en-US" sz="1300" dirty="0"/>
          </a:p>
          <a:p>
            <a:pPr>
              <a:lnSpc>
                <a:spcPct val="125000"/>
              </a:lnSpc>
            </a:pPr>
            <a:r>
              <a:rPr lang="en-US" sz="1463" b="1" dirty="0">
                <a:solidFill>
                  <a:schemeClr val="bg1"/>
                </a:solidFill>
              </a:rPr>
              <a:t>物や情報を</a:t>
            </a:r>
            <a:endParaRPr lang="en-US" sz="1300" dirty="0"/>
          </a:p>
          <a:p>
            <a:pPr>
              <a:lnSpc>
                <a:spcPct val="125000"/>
              </a:lnSpc>
            </a:pPr>
            <a:r>
              <a:rPr lang="en-US" sz="1463" b="1" dirty="0">
                <a:solidFill>
                  <a:schemeClr val="bg1"/>
                </a:solidFill>
              </a:rPr>
              <a:t>探す・確認する・聞く・待つ</a:t>
            </a:r>
            <a:endParaRPr lang="en-US" sz="1300" dirty="0"/>
          </a:p>
          <a:p>
            <a:pPr>
              <a:lnSpc>
                <a:spcPct val="125000"/>
              </a:lnSpc>
            </a:pPr>
            <a:r>
              <a:rPr lang="en-US" sz="1463" b="1" dirty="0">
                <a:solidFill>
                  <a:schemeClr val="bg1"/>
                </a:solidFill>
              </a:rPr>
              <a:t>時間を減らして、</a:t>
            </a:r>
            <a:endParaRPr lang="en-US" sz="1300" dirty="0"/>
          </a:p>
          <a:p>
            <a:pPr>
              <a:lnSpc>
                <a:spcPct val="125000"/>
              </a:lnSpc>
            </a:pPr>
            <a:r>
              <a:rPr lang="en-US" sz="1463" b="1" dirty="0">
                <a:solidFill>
                  <a:schemeClr val="bg1"/>
                </a:solidFill>
              </a:rPr>
              <a:t>本来の仕事や新しい機会に</a:t>
            </a:r>
            <a:endParaRPr lang="en-US" sz="1300" dirty="0"/>
          </a:p>
          <a:p>
            <a:pPr>
              <a:lnSpc>
                <a:spcPct val="125000"/>
              </a:lnSpc>
            </a:pPr>
            <a:r>
              <a:rPr lang="en-US" sz="1463" b="1" dirty="0">
                <a:solidFill>
                  <a:schemeClr val="bg1"/>
                </a:solidFill>
              </a:rPr>
              <a:t>時間を戻したい、という話です</a:t>
            </a:r>
            <a:endParaRPr lang="en-US" sz="1300" dirty="0"/>
          </a:p>
        </p:txBody>
      </p:sp>
      <p:sp>
        <p:nvSpPr>
          <p:cNvPr id="5" name="value-card-1"/>
          <p:cNvSpPr/>
          <p:nvPr/>
        </p:nvSpPr>
        <p:spPr>
          <a:xfrm>
            <a:off x="3529012" y="1437457"/>
            <a:ext cx="2860358" cy="2600325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89045" y="1660342"/>
            <a:ext cx="23774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accent1"/>
                </a:solidFill>
              </a:rPr>
              <a:t>大事にしていること</a:t>
            </a:r>
            <a:endParaRPr lang="en-US" sz="1300" dirty="0"/>
          </a:p>
        </p:txBody>
      </p:sp>
      <p:sp>
        <p:nvSpPr>
          <p:cNvPr id="7" name="value-1-check-1-bg"/>
          <p:cNvSpPr/>
          <p:nvPr/>
        </p:nvSpPr>
        <p:spPr>
          <a:xfrm>
            <a:off x="3789045" y="2113542"/>
            <a:ext cx="267462" cy="26746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value-1-check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911" y="2180407"/>
            <a:ext cx="133731" cy="13373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60520" y="2106112"/>
            <a:ext cx="2043113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これまでを否定しない</a:t>
            </a:r>
            <a:endParaRPr lang="en-US" sz="1300" dirty="0"/>
          </a:p>
        </p:txBody>
      </p:sp>
      <p:sp>
        <p:nvSpPr>
          <p:cNvPr id="10" name="value-1-check-2-bg"/>
          <p:cNvSpPr/>
          <p:nvPr/>
        </p:nvSpPr>
        <p:spPr>
          <a:xfrm>
            <a:off x="3789045" y="2722761"/>
            <a:ext cx="267462" cy="26746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value-1-check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911" y="2789626"/>
            <a:ext cx="133731" cy="13373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60520" y="2715331"/>
            <a:ext cx="2043113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誰にとってもわかりやすく</a:t>
            </a:r>
            <a:endParaRPr lang="en-US" sz="1300" dirty="0"/>
          </a:p>
        </p:txBody>
      </p:sp>
      <p:sp>
        <p:nvSpPr>
          <p:cNvPr id="13" name="value-1-check-3-bg"/>
          <p:cNvSpPr/>
          <p:nvPr/>
        </p:nvSpPr>
        <p:spPr>
          <a:xfrm>
            <a:off x="3789045" y="3331980"/>
            <a:ext cx="267462" cy="26746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value-1-check-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911" y="3398845"/>
            <a:ext cx="133731" cy="13373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60520" y="3324550"/>
            <a:ext cx="2043113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作って終わりにせず、育てる</a:t>
            </a:r>
            <a:endParaRPr lang="en-US" sz="1300" dirty="0"/>
          </a:p>
        </p:txBody>
      </p:sp>
      <p:sp>
        <p:nvSpPr>
          <p:cNvPr id="16" name="value-card-2"/>
          <p:cNvSpPr/>
          <p:nvPr/>
        </p:nvSpPr>
        <p:spPr>
          <a:xfrm>
            <a:off x="6575107" y="1437457"/>
            <a:ext cx="2860358" cy="2600325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5140" y="1660342"/>
            <a:ext cx="23774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accent1"/>
                </a:solidFill>
              </a:rPr>
              <a:t>目指したいチーム</a:t>
            </a:r>
            <a:endParaRPr lang="en-US" sz="1300" dirty="0"/>
          </a:p>
        </p:txBody>
      </p:sp>
      <p:sp>
        <p:nvSpPr>
          <p:cNvPr id="18" name="value-2-check-1-bg"/>
          <p:cNvSpPr/>
          <p:nvPr/>
        </p:nvSpPr>
        <p:spPr>
          <a:xfrm>
            <a:off x="6835140" y="1979100"/>
            <a:ext cx="267462" cy="26746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value-2-check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006" y="2045965"/>
            <a:ext cx="133731" cy="13373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06615" y="1971670"/>
            <a:ext cx="2043113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必要なものに、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誰でもすぐたどり着ける</a:t>
            </a:r>
            <a:endParaRPr lang="en-US" sz="1300" dirty="0"/>
          </a:p>
        </p:txBody>
      </p:sp>
      <p:sp>
        <p:nvSpPr>
          <p:cNvPr id="21" name="value-2-check-2-bg"/>
          <p:cNvSpPr/>
          <p:nvPr/>
        </p:nvSpPr>
        <p:spPr>
          <a:xfrm>
            <a:off x="6835140" y="2460954"/>
            <a:ext cx="267462" cy="26746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value-2-check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006" y="2527820"/>
            <a:ext cx="133731" cy="13373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206615" y="2453525"/>
            <a:ext cx="2043113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人が入れ替わっても、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引き継げる</a:t>
            </a:r>
            <a:endParaRPr lang="en-US" sz="1300" dirty="0"/>
          </a:p>
        </p:txBody>
      </p:sp>
      <p:sp>
        <p:nvSpPr>
          <p:cNvPr id="24" name="value-2-check-3-bg"/>
          <p:cNvSpPr/>
          <p:nvPr/>
        </p:nvSpPr>
        <p:spPr>
          <a:xfrm>
            <a:off x="6835140" y="2964036"/>
            <a:ext cx="267462" cy="26746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value-2-check-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006" y="3030901"/>
            <a:ext cx="133731" cy="133731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206615" y="2956606"/>
            <a:ext cx="2043113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「もっとこうしたら」を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chemeClr val="tx2"/>
                </a:solidFill>
              </a:rPr>
              <a:t>言い合える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445770" y="4356460"/>
            <a:ext cx="22288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8" b="1" dirty="0">
                <a:solidFill>
                  <a:schemeClr val="accent1"/>
                </a:solidFill>
              </a:rPr>
              <a:t>今日の流れ</a:t>
            </a:r>
            <a:endParaRPr lang="en-US" sz="1138" dirty="0"/>
          </a:p>
        </p:txBody>
      </p:sp>
      <p:sp>
        <p:nvSpPr>
          <p:cNvPr id="28" name="agenda-1"/>
          <p:cNvSpPr/>
          <p:nvPr/>
        </p:nvSpPr>
        <p:spPr>
          <a:xfrm>
            <a:off x="445770" y="4690787"/>
            <a:ext cx="1857375" cy="557213"/>
          </a:xfrm>
          <a:prstGeom prst="homePlate">
            <a:avLst/>
          </a:prstGeom>
          <a:solidFill>
            <a:schemeClr val="bg2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520065" y="4690787"/>
            <a:ext cx="133731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19" b="1" dirty="0">
                <a:solidFill>
                  <a:schemeClr val="tx2"/>
                </a:solidFill>
              </a:rPr>
              <a:t>ふり返り</a:t>
            </a:r>
            <a:endParaRPr lang="en-US" sz="1219" dirty="0"/>
          </a:p>
        </p:txBody>
      </p:sp>
      <p:sp>
        <p:nvSpPr>
          <p:cNvPr id="30" name="agenda-2"/>
          <p:cNvSpPr/>
          <p:nvPr/>
        </p:nvSpPr>
        <p:spPr>
          <a:xfrm>
            <a:off x="2228850" y="4690787"/>
            <a:ext cx="1857375" cy="557213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2526030" y="4690787"/>
            <a:ext cx="133731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19" b="1" dirty="0">
                <a:solidFill>
                  <a:schemeClr val="tx2"/>
                </a:solidFill>
              </a:rPr>
              <a:t>あるある</a:t>
            </a:r>
            <a:endParaRPr lang="en-US" sz="1219" dirty="0"/>
          </a:p>
        </p:txBody>
      </p:sp>
      <p:sp>
        <p:nvSpPr>
          <p:cNvPr id="32" name="agenda-3"/>
          <p:cNvSpPr/>
          <p:nvPr/>
        </p:nvSpPr>
        <p:spPr>
          <a:xfrm>
            <a:off x="4011930" y="4690787"/>
            <a:ext cx="1857375" cy="557213"/>
          </a:xfrm>
          <a:prstGeom prst="chevron">
            <a:avLst/>
          </a:prstGeom>
          <a:solidFill>
            <a:schemeClr val="bg2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4309110" y="4690787"/>
            <a:ext cx="133731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19" b="1" dirty="0">
                <a:solidFill>
                  <a:schemeClr val="tx2"/>
                </a:solidFill>
              </a:rPr>
              <a:t>なぜ積もる？</a:t>
            </a:r>
            <a:endParaRPr lang="en-US" sz="1219" dirty="0"/>
          </a:p>
        </p:txBody>
      </p:sp>
      <p:sp>
        <p:nvSpPr>
          <p:cNvPr id="34" name="agenda-4"/>
          <p:cNvSpPr/>
          <p:nvPr/>
        </p:nvSpPr>
        <p:spPr>
          <a:xfrm>
            <a:off x="5795010" y="4690787"/>
            <a:ext cx="1857375" cy="557213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6092190" y="4690787"/>
            <a:ext cx="133731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19" b="1" dirty="0">
                <a:solidFill>
                  <a:schemeClr val="tx2"/>
                </a:solidFill>
              </a:rPr>
              <a:t>解決の動き</a:t>
            </a:r>
            <a:endParaRPr lang="en-US" sz="1219" dirty="0"/>
          </a:p>
        </p:txBody>
      </p:sp>
      <p:sp>
        <p:nvSpPr>
          <p:cNvPr id="36" name="agenda-5"/>
          <p:cNvSpPr/>
          <p:nvPr/>
        </p:nvSpPr>
        <p:spPr>
          <a:xfrm>
            <a:off x="7578090" y="4690787"/>
            <a:ext cx="1857375" cy="557213"/>
          </a:xfrm>
          <a:prstGeom prst="chevron">
            <a:avLst/>
          </a:prstGeom>
          <a:solidFill>
            <a:schemeClr val="bg2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7875270" y="4690787"/>
            <a:ext cx="133731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19" b="1" dirty="0">
                <a:solidFill>
                  <a:schemeClr val="tx2"/>
                </a:solidFill>
              </a:rPr>
              <a:t>私の一歩</a:t>
            </a:r>
            <a:endParaRPr lang="en-US" sz="1219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40" name="value-2-check-3-bg">
            <a:extLst>
              <a:ext uri="{FF2B5EF4-FFF2-40B4-BE49-F238E27FC236}">
                <a16:creationId xmlns:a16="http://schemas.microsoft.com/office/drawing/2014/main" id="{B59DD1BA-CBE4-6A08-8303-24D955BF452E}"/>
              </a:ext>
            </a:extLst>
          </p:cNvPr>
          <p:cNvSpPr/>
          <p:nvPr/>
        </p:nvSpPr>
        <p:spPr>
          <a:xfrm>
            <a:off x="6838680" y="3427495"/>
            <a:ext cx="267462" cy="26746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2" name="value-2-check-3" descr="preencoded.png">
            <a:extLst>
              <a:ext uri="{FF2B5EF4-FFF2-40B4-BE49-F238E27FC236}">
                <a16:creationId xmlns:a16="http://schemas.microsoft.com/office/drawing/2014/main" id="{19B36111-339D-7A31-0293-98D39C72F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546" y="3494360"/>
            <a:ext cx="133731" cy="133731"/>
          </a:xfrm>
          <a:prstGeom prst="rect">
            <a:avLst/>
          </a:prstGeom>
        </p:spPr>
      </p:pic>
      <p:sp>
        <p:nvSpPr>
          <p:cNvPr id="44" name="Text 18">
            <a:extLst>
              <a:ext uri="{FF2B5EF4-FFF2-40B4-BE49-F238E27FC236}">
                <a16:creationId xmlns:a16="http://schemas.microsoft.com/office/drawing/2014/main" id="{1BB1FAF5-E4FF-2A88-B6D3-22AFB3467FEC}"/>
              </a:ext>
            </a:extLst>
          </p:cNvPr>
          <p:cNvSpPr txBox="1"/>
          <p:nvPr/>
        </p:nvSpPr>
        <p:spPr>
          <a:xfrm>
            <a:off x="7210155" y="3470303"/>
            <a:ext cx="2140045" cy="484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ja-JP" altLang="en-US" sz="1300" b="1" dirty="0">
                <a:solidFill>
                  <a:schemeClr val="tx2"/>
                </a:solidFill>
              </a:rPr>
              <a:t>当たり前のことを当たり前にやる</a:t>
            </a:r>
            <a:endParaRPr lang="en-US" sz="1300" dirty="0"/>
          </a:p>
        </p:txBody>
      </p:sp>
      <p:sp>
        <p:nvSpPr>
          <p:cNvPr id="39" name="吹き出し: 四角形 38">
            <a:extLst>
              <a:ext uri="{FF2B5EF4-FFF2-40B4-BE49-F238E27FC236}">
                <a16:creationId xmlns:a16="http://schemas.microsoft.com/office/drawing/2014/main" id="{7EF59755-CB92-81E0-CB0E-9A0BB92CB4F5}"/>
              </a:ext>
            </a:extLst>
          </p:cNvPr>
          <p:cNvSpPr/>
          <p:nvPr/>
        </p:nvSpPr>
        <p:spPr>
          <a:xfrm>
            <a:off x="6902006" y="5450974"/>
            <a:ext cx="1872395" cy="457720"/>
          </a:xfrm>
          <a:prstGeom prst="wedgeRectCallout">
            <a:avLst>
              <a:gd name="adj1" fmla="val 36375"/>
              <a:gd name="adj2" fmla="val -77517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FAQ</a:t>
            </a:r>
            <a:r>
              <a:rPr kumimoji="1" lang="ja-JP" altLang="en-US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作成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/>
              <a:t>まずは</a:t>
            </a:r>
            <a:r>
              <a:rPr lang="en-US" dirty="0"/>
              <a:t>、</a:t>
            </a:r>
            <a:r>
              <a:rPr lang="ja-JP" altLang="en-US" dirty="0"/>
              <a:t>昨日</a:t>
            </a:r>
            <a:r>
              <a:rPr lang="en-US" dirty="0"/>
              <a:t>1</a:t>
            </a:r>
            <a:r>
              <a:rPr lang="ja-JP" altLang="en-US" dirty="0"/>
              <a:t>日</a:t>
            </a:r>
            <a:r>
              <a:rPr lang="en-US" dirty="0" err="1"/>
              <a:t>をふり返ってみてください</a:t>
            </a:r>
            <a:endParaRPr lang="en-US" dirty="0"/>
          </a:p>
        </p:txBody>
      </p:sp>
      <p:sp>
        <p:nvSpPr>
          <p:cNvPr id="3" name="question-card"/>
          <p:cNvSpPr/>
          <p:nvPr/>
        </p:nvSpPr>
        <p:spPr>
          <a:xfrm>
            <a:off x="445770" y="1177245"/>
            <a:ext cx="8989695" cy="2140313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4" name="clock-bg"/>
          <p:cNvSpPr/>
          <p:nvPr/>
        </p:nvSpPr>
        <p:spPr>
          <a:xfrm>
            <a:off x="742950" y="1904722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lock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261" y="2109033"/>
            <a:ext cx="408623" cy="40862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57375" y="1700411"/>
            <a:ext cx="7355205" cy="11701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ja-JP" altLang="en-US" sz="1950" b="1" dirty="0">
                <a:solidFill>
                  <a:schemeClr val="bg1"/>
                </a:solidFill>
              </a:rPr>
              <a:t>質問：</a:t>
            </a:r>
            <a:endParaRPr lang="en-US" altLang="ja-JP" sz="1950" b="1" dirty="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lang="ja-JP" altLang="en-US" sz="1950" b="1" dirty="0">
                <a:solidFill>
                  <a:schemeClr val="bg1"/>
                </a:solidFill>
              </a:rPr>
              <a:t>　　</a:t>
            </a:r>
            <a:r>
              <a:rPr lang="en-US" sz="1950" b="1" dirty="0" err="1">
                <a:solidFill>
                  <a:schemeClr val="bg1"/>
                </a:solidFill>
              </a:rPr>
              <a:t>探す・確認する・誰かに聞く・見つかるまで待つ</a:t>
            </a:r>
            <a:r>
              <a:rPr lang="en-US" sz="1950" b="1" dirty="0">
                <a:solidFill>
                  <a:schemeClr val="bg1"/>
                </a:solidFill>
              </a:rPr>
              <a:t>。</a:t>
            </a:r>
            <a:endParaRPr lang="en-US" sz="1950" dirty="0"/>
          </a:p>
          <a:p>
            <a:pPr>
              <a:lnSpc>
                <a:spcPct val="120000"/>
              </a:lnSpc>
            </a:pPr>
            <a:r>
              <a:rPr lang="ja-JP" altLang="en-US" sz="1950" b="1" dirty="0">
                <a:solidFill>
                  <a:schemeClr val="bg1"/>
                </a:solidFill>
              </a:rPr>
              <a:t>　　</a:t>
            </a:r>
            <a:r>
              <a:rPr lang="en-US" sz="1950" b="1" dirty="0">
                <a:solidFill>
                  <a:schemeClr val="bg1"/>
                </a:solidFill>
              </a:rPr>
              <a:t>そんな時間は、1日あたりどれくらいでしたか？</a:t>
            </a:r>
            <a:endParaRPr lang="en-US" sz="1950" dirty="0"/>
          </a:p>
        </p:txBody>
      </p:sp>
      <p:sp>
        <p:nvSpPr>
          <p:cNvPr id="7" name="option-A"/>
          <p:cNvSpPr/>
          <p:nvPr/>
        </p:nvSpPr>
        <p:spPr>
          <a:xfrm>
            <a:off x="1261110" y="3761016"/>
            <a:ext cx="2080260" cy="1708785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/>
        </p:spPr>
      </p:sp>
      <p:sp>
        <p:nvSpPr>
          <p:cNvPr id="8" name="option-badge-A"/>
          <p:cNvSpPr/>
          <p:nvPr/>
        </p:nvSpPr>
        <p:spPr>
          <a:xfrm>
            <a:off x="1966913" y="4021049"/>
            <a:ext cx="668655" cy="66865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966913" y="4021049"/>
            <a:ext cx="66865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75" b="1" dirty="0">
                <a:solidFill>
                  <a:schemeClr val="bg1"/>
                </a:solidFill>
              </a:rPr>
              <a:t>A</a:t>
            </a:r>
            <a:endParaRPr lang="en-US" sz="2275" dirty="0"/>
          </a:p>
        </p:txBody>
      </p:sp>
      <p:sp>
        <p:nvSpPr>
          <p:cNvPr id="10" name="Text 7"/>
          <p:cNvSpPr txBox="1"/>
          <p:nvPr/>
        </p:nvSpPr>
        <p:spPr>
          <a:xfrm>
            <a:off x="1261110" y="4838294"/>
            <a:ext cx="20802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88" b="1" dirty="0">
                <a:solidFill>
                  <a:schemeClr val="tx2"/>
                </a:solidFill>
              </a:rPr>
              <a:t>5分くらい</a:t>
            </a:r>
            <a:endParaRPr lang="en-US" sz="1788" dirty="0"/>
          </a:p>
        </p:txBody>
      </p:sp>
      <p:sp>
        <p:nvSpPr>
          <p:cNvPr id="11" name="option-B"/>
          <p:cNvSpPr/>
          <p:nvPr/>
        </p:nvSpPr>
        <p:spPr>
          <a:xfrm>
            <a:off x="3564255" y="3761016"/>
            <a:ext cx="2080260" cy="1708785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/>
        </p:spPr>
      </p:sp>
      <p:sp>
        <p:nvSpPr>
          <p:cNvPr id="12" name="option-badge-B"/>
          <p:cNvSpPr/>
          <p:nvPr/>
        </p:nvSpPr>
        <p:spPr>
          <a:xfrm>
            <a:off x="4270058" y="4021049"/>
            <a:ext cx="668655" cy="66865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70058" y="4021049"/>
            <a:ext cx="66865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75" b="1" dirty="0">
                <a:solidFill>
                  <a:schemeClr val="bg1"/>
                </a:solidFill>
              </a:rPr>
              <a:t>B</a:t>
            </a:r>
            <a:endParaRPr lang="en-US" sz="2275" dirty="0"/>
          </a:p>
        </p:txBody>
      </p:sp>
      <p:sp>
        <p:nvSpPr>
          <p:cNvPr id="14" name="Text 11"/>
          <p:cNvSpPr txBox="1"/>
          <p:nvPr/>
        </p:nvSpPr>
        <p:spPr>
          <a:xfrm>
            <a:off x="3564255" y="4838294"/>
            <a:ext cx="20802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ja-JP" sz="1788" b="1" dirty="0">
                <a:solidFill>
                  <a:schemeClr val="tx2"/>
                </a:solidFill>
              </a:rPr>
              <a:t>20</a:t>
            </a:r>
            <a:r>
              <a:rPr lang="en-US" sz="1788" b="1" dirty="0">
                <a:solidFill>
                  <a:schemeClr val="tx2"/>
                </a:solidFill>
              </a:rPr>
              <a:t>分くらい</a:t>
            </a:r>
            <a:endParaRPr lang="en-US" sz="1788" dirty="0"/>
          </a:p>
        </p:txBody>
      </p:sp>
      <p:sp>
        <p:nvSpPr>
          <p:cNvPr id="15" name="option-C"/>
          <p:cNvSpPr/>
          <p:nvPr/>
        </p:nvSpPr>
        <p:spPr>
          <a:xfrm>
            <a:off x="5867400" y="3761016"/>
            <a:ext cx="2080260" cy="1708785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/>
        </p:spPr>
      </p:sp>
      <p:sp>
        <p:nvSpPr>
          <p:cNvPr id="16" name="option-badge-C"/>
          <p:cNvSpPr/>
          <p:nvPr/>
        </p:nvSpPr>
        <p:spPr>
          <a:xfrm>
            <a:off x="6573203" y="4021049"/>
            <a:ext cx="668655" cy="66865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73203" y="4021049"/>
            <a:ext cx="66865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75" b="1" dirty="0">
                <a:solidFill>
                  <a:schemeClr val="bg1"/>
                </a:solidFill>
              </a:rPr>
              <a:t>C</a:t>
            </a:r>
            <a:endParaRPr lang="en-US" sz="2275" dirty="0"/>
          </a:p>
        </p:txBody>
      </p:sp>
      <p:sp>
        <p:nvSpPr>
          <p:cNvPr id="18" name="Text 15"/>
          <p:cNvSpPr txBox="1"/>
          <p:nvPr/>
        </p:nvSpPr>
        <p:spPr>
          <a:xfrm>
            <a:off x="5867400" y="4838294"/>
            <a:ext cx="20802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ja-JP" sz="1788" b="1" dirty="0">
                <a:solidFill>
                  <a:schemeClr val="tx2"/>
                </a:solidFill>
              </a:rPr>
              <a:t>1時間以上</a:t>
            </a:r>
            <a:endParaRPr lang="en-US" altLang="ja-JP" sz="1788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dirty="0">
                <a:cs typeface="Cascadia Code ExtraLight" panose="020B0609020000020004" pitchFamily="49" charset="0"/>
              </a:rPr>
              <a:t>答え：一般的な会社員は「</a:t>
            </a:r>
            <a:r>
              <a:rPr lang="en-US" altLang="ja-JP" dirty="0">
                <a:cs typeface="Cascadia Code ExtraLight" panose="020B0609020000020004" pitchFamily="49" charset="0"/>
              </a:rPr>
              <a:t>B</a:t>
            </a:r>
            <a:r>
              <a:rPr lang="ja-JP" altLang="en-US" dirty="0">
                <a:cs typeface="Cascadia Code ExtraLight" panose="020B0609020000020004" pitchFamily="49" charset="0"/>
              </a:rPr>
              <a:t>」と言われています</a:t>
            </a:r>
            <a:endParaRPr lang="en-US" dirty="0">
              <a:ea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sp>
        <p:nvSpPr>
          <p:cNvPr id="3" name="stat-card"/>
          <p:cNvSpPr/>
          <p:nvPr/>
        </p:nvSpPr>
        <p:spPr>
          <a:xfrm>
            <a:off x="445770" y="1580743"/>
            <a:ext cx="3382191" cy="3421108"/>
          </a:xfrm>
          <a:prstGeom prst="roundRect">
            <a:avLst>
              <a:gd name="adj" fmla="val 326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23253" y="2213909"/>
            <a:ext cx="289750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25" b="1" dirty="0">
                <a:solidFill>
                  <a:schemeClr val="tx2"/>
                </a:solidFill>
              </a:rPr>
              <a:t>1日</a:t>
            </a:r>
            <a:r>
              <a:rPr lang="en-US" altLang="ja-JP" sz="1625" b="1" dirty="0">
                <a:solidFill>
                  <a:schemeClr val="tx2"/>
                </a:solidFill>
              </a:rPr>
              <a:t>20</a:t>
            </a:r>
            <a:r>
              <a:rPr lang="en-US" sz="1625" b="1" dirty="0">
                <a:solidFill>
                  <a:schemeClr val="tx2"/>
                </a:solidFill>
              </a:rPr>
              <a:t>分なら</a:t>
            </a:r>
            <a:r>
              <a:rPr lang="ja-JP" altLang="en-US" sz="1625" b="1" dirty="0">
                <a:solidFill>
                  <a:schemeClr val="tx2"/>
                </a:solidFill>
              </a:rPr>
              <a:t>、年間で</a:t>
            </a:r>
            <a:endParaRPr lang="en-US" sz="1625" dirty="0"/>
          </a:p>
        </p:txBody>
      </p:sp>
      <p:sp>
        <p:nvSpPr>
          <p:cNvPr id="5" name="Text 3"/>
          <p:cNvSpPr txBox="1"/>
          <p:nvPr/>
        </p:nvSpPr>
        <p:spPr>
          <a:xfrm>
            <a:off x="623253" y="2659679"/>
            <a:ext cx="3092087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500" b="1" dirty="0">
                <a:solidFill>
                  <a:schemeClr val="accent1"/>
                </a:solidFill>
              </a:rPr>
              <a:t>約</a:t>
            </a:r>
            <a:r>
              <a:rPr lang="en-US" altLang="ja-JP" sz="6500" b="1" dirty="0">
                <a:solidFill>
                  <a:schemeClr val="accent1"/>
                </a:solidFill>
              </a:rPr>
              <a:t>73</a:t>
            </a:r>
            <a:r>
              <a:rPr lang="en-US" sz="2275" b="1" dirty="0">
                <a:solidFill>
                  <a:schemeClr val="accent1"/>
                </a:solidFill>
              </a:rPr>
              <a:t>時間</a:t>
            </a:r>
            <a:endParaRPr lang="en-US" sz="6500" dirty="0"/>
          </a:p>
        </p:txBody>
      </p:sp>
      <p:sp>
        <p:nvSpPr>
          <p:cNvPr id="6" name="Text 4"/>
          <p:cNvSpPr txBox="1"/>
          <p:nvPr/>
        </p:nvSpPr>
        <p:spPr>
          <a:xfrm>
            <a:off x="623253" y="3848399"/>
            <a:ext cx="289750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3"/>
              <a:t>＝ 約</a:t>
            </a:r>
            <a:r>
              <a:rPr lang="en-US" altLang="ja-JP" sz="1463"/>
              <a:t>9</a:t>
            </a:r>
            <a:r>
              <a:rPr lang="en-US" sz="1463"/>
              <a:t>日分</a:t>
            </a:r>
            <a:endParaRPr lang="en-US" sz="1463" dirty="0"/>
          </a:p>
        </p:txBody>
      </p:sp>
      <p:graphicFrame>
        <p:nvGraphicFramePr>
          <p:cNvPr id="8" name="hours-chart"/>
          <p:cNvGraphicFramePr/>
          <p:nvPr>
            <p:extLst>
              <p:ext uri="{D42A27DB-BD31-4B8C-83A1-F6EECF244321}">
                <p14:modId xmlns:p14="http://schemas.microsoft.com/office/powerpoint/2010/main" val="4179406941"/>
              </p:ext>
            </p:extLst>
          </p:nvPr>
        </p:nvGraphicFramePr>
        <p:xfrm>
          <a:off x="4429402" y="1361396"/>
          <a:ext cx="5274945" cy="36404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18" name="option-badge-A">
            <a:extLst>
              <a:ext uri="{FF2B5EF4-FFF2-40B4-BE49-F238E27FC236}">
                <a16:creationId xmlns:a16="http://schemas.microsoft.com/office/drawing/2014/main" id="{0E6AB4A1-FCE0-DFC3-F179-0C7B8B2F6CC8}"/>
              </a:ext>
            </a:extLst>
          </p:cNvPr>
          <p:cNvSpPr/>
          <p:nvPr/>
        </p:nvSpPr>
        <p:spPr>
          <a:xfrm>
            <a:off x="4038463" y="2183641"/>
            <a:ext cx="409500" cy="4095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20BFE773-9EB9-3C87-A7B9-B513B8413B48}"/>
              </a:ext>
            </a:extLst>
          </p:cNvPr>
          <p:cNvSpPr txBox="1"/>
          <p:nvPr/>
        </p:nvSpPr>
        <p:spPr>
          <a:xfrm>
            <a:off x="4038463" y="2183641"/>
            <a:ext cx="409500" cy="40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75" b="1" dirty="0">
                <a:solidFill>
                  <a:schemeClr val="bg1"/>
                </a:solidFill>
              </a:rPr>
              <a:t>A</a:t>
            </a:r>
            <a:endParaRPr lang="en-US" sz="2275" dirty="0"/>
          </a:p>
        </p:txBody>
      </p:sp>
      <p:sp>
        <p:nvSpPr>
          <p:cNvPr id="29" name="option-badge-B">
            <a:extLst>
              <a:ext uri="{FF2B5EF4-FFF2-40B4-BE49-F238E27FC236}">
                <a16:creationId xmlns:a16="http://schemas.microsoft.com/office/drawing/2014/main" id="{A8812F2E-4086-B6EC-4EB9-43C85D932910}"/>
              </a:ext>
            </a:extLst>
          </p:cNvPr>
          <p:cNvSpPr/>
          <p:nvPr/>
        </p:nvSpPr>
        <p:spPr>
          <a:xfrm>
            <a:off x="4038463" y="3153320"/>
            <a:ext cx="409500" cy="4095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B271098C-F275-067F-74E4-1FAE0FE0D96F}"/>
              </a:ext>
            </a:extLst>
          </p:cNvPr>
          <p:cNvSpPr txBox="1"/>
          <p:nvPr/>
        </p:nvSpPr>
        <p:spPr>
          <a:xfrm>
            <a:off x="4038463" y="3153320"/>
            <a:ext cx="409500" cy="40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75" b="1" dirty="0">
                <a:solidFill>
                  <a:schemeClr val="bg1"/>
                </a:solidFill>
              </a:rPr>
              <a:t>B</a:t>
            </a:r>
            <a:endParaRPr lang="en-US" sz="2275" dirty="0"/>
          </a:p>
        </p:txBody>
      </p:sp>
      <p:sp>
        <p:nvSpPr>
          <p:cNvPr id="33" name="option-badge-C">
            <a:extLst>
              <a:ext uri="{FF2B5EF4-FFF2-40B4-BE49-F238E27FC236}">
                <a16:creationId xmlns:a16="http://schemas.microsoft.com/office/drawing/2014/main" id="{D0FB2A3D-7334-745A-ACA4-3CC891503503}"/>
              </a:ext>
            </a:extLst>
          </p:cNvPr>
          <p:cNvSpPr/>
          <p:nvPr/>
        </p:nvSpPr>
        <p:spPr>
          <a:xfrm>
            <a:off x="4038463" y="4164771"/>
            <a:ext cx="409500" cy="4095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AC0A97F9-B567-2B66-0D43-0DE77AA62DE7}"/>
              </a:ext>
            </a:extLst>
          </p:cNvPr>
          <p:cNvSpPr txBox="1"/>
          <p:nvPr/>
        </p:nvSpPr>
        <p:spPr>
          <a:xfrm>
            <a:off x="4038463" y="4164771"/>
            <a:ext cx="409500" cy="40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75" b="1" dirty="0">
                <a:solidFill>
                  <a:schemeClr val="bg1"/>
                </a:solidFill>
              </a:rPr>
              <a:t>C</a:t>
            </a:r>
            <a:endParaRPr lang="en-US" sz="2275" dirty="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844C1A36-BC46-962A-12FC-F68CD32ABDF2}"/>
              </a:ext>
            </a:extLst>
          </p:cNvPr>
          <p:cNvSpPr txBox="1"/>
          <p:nvPr/>
        </p:nvSpPr>
        <p:spPr>
          <a:xfrm>
            <a:off x="1068433" y="5527834"/>
            <a:ext cx="8367032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/>
            <a:r>
              <a:rPr lang="ja-JP" altLang="en-US" sz="975" dirty="0"/>
              <a:t>コクヨ　</a:t>
            </a:r>
            <a:r>
              <a:rPr lang="en-US" sz="975" dirty="0"/>
              <a:t>https://prtimes.jp/main/html/rd/p/000000107.000023621.html</a:t>
            </a: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D417D227-4F7D-EDE6-9833-60551F115DD1}"/>
              </a:ext>
            </a:extLst>
          </p:cNvPr>
          <p:cNvSpPr txBox="1"/>
          <p:nvPr/>
        </p:nvSpPr>
        <p:spPr>
          <a:xfrm>
            <a:off x="623253" y="4238849"/>
            <a:ext cx="289750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ja-JP" altLang="en-US" sz="1463" dirty="0"/>
              <a:t>→</a:t>
            </a:r>
            <a:r>
              <a:rPr lang="en-US" altLang="ja-JP" sz="1463" dirty="0"/>
              <a:t>10</a:t>
            </a:r>
            <a:r>
              <a:rPr lang="ja-JP" altLang="en-US" sz="1463" dirty="0"/>
              <a:t>人いたら</a:t>
            </a:r>
            <a:r>
              <a:rPr lang="en-US" altLang="ja-JP" sz="1463" dirty="0"/>
              <a:t>…</a:t>
            </a:r>
            <a:r>
              <a:rPr lang="ja-JP" altLang="en-US" sz="1463" dirty="0"/>
              <a:t>　</a:t>
            </a:r>
            <a:r>
              <a:rPr lang="en-US" altLang="ja-JP" sz="1463" dirty="0"/>
              <a:t>3</a:t>
            </a:r>
            <a:r>
              <a:rPr lang="ja-JP" altLang="en-US" sz="1463" dirty="0"/>
              <a:t>か月</a:t>
            </a:r>
            <a:endParaRPr lang="en-US" sz="14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dirty="0"/>
              <a:t>例えば、こんな「探す・確認する・聞く・待つ」</a:t>
            </a:r>
            <a:endParaRPr lang="en-US" dirty="0"/>
          </a:p>
        </p:txBody>
      </p:sp>
      <p:sp>
        <p:nvSpPr>
          <p:cNvPr id="3" name="aruaru-1"/>
          <p:cNvSpPr/>
          <p:nvPr/>
        </p:nvSpPr>
        <p:spPr>
          <a:xfrm>
            <a:off x="445770" y="1831657"/>
            <a:ext cx="2845499" cy="1671638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" name="aruaru-icon-1-bg"/>
          <p:cNvSpPr/>
          <p:nvPr/>
        </p:nvSpPr>
        <p:spPr>
          <a:xfrm>
            <a:off x="668655" y="2054542"/>
            <a:ext cx="557213" cy="557213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aruaru-icon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58" y="2193846"/>
            <a:ext cx="278606" cy="2786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68655" y="2686050"/>
            <a:ext cx="2399729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/>
              <a:t>職員に質問されたけど、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/>
              <a:t>前にどう答えたっけ…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/>
              <a:t>記録あったかな</a:t>
            </a:r>
            <a:endParaRPr lang="en-US" sz="1300" dirty="0"/>
          </a:p>
        </p:txBody>
      </p:sp>
      <p:sp>
        <p:nvSpPr>
          <p:cNvPr id="7" name="aruaru-2"/>
          <p:cNvSpPr/>
          <p:nvPr/>
        </p:nvSpPr>
        <p:spPr>
          <a:xfrm>
            <a:off x="3514153" y="1831657"/>
            <a:ext cx="2845499" cy="1671638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8" name="aruaru-icon-2-bg"/>
          <p:cNvSpPr/>
          <p:nvPr/>
        </p:nvSpPr>
        <p:spPr>
          <a:xfrm>
            <a:off x="3737038" y="2054542"/>
            <a:ext cx="557213" cy="557213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aruaru-icon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6342" y="2193846"/>
            <a:ext cx="278606" cy="2786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37038" y="2686050"/>
            <a:ext cx="2399729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/>
              <a:t>進捗を更新したいのに、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 err="1"/>
              <a:t>継ぎ足しで育った</a:t>
            </a:r>
            <a:r>
              <a:rPr lang="ja-JP" altLang="en-US" sz="1300" b="1" dirty="0"/>
              <a:t>魔改造</a:t>
            </a:r>
            <a:r>
              <a:rPr lang="en-US" sz="1300" b="1" dirty="0" err="1"/>
              <a:t>Excelが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/>
              <a:t>読み解けない</a:t>
            </a:r>
            <a:endParaRPr lang="en-US" sz="1300" dirty="0"/>
          </a:p>
        </p:txBody>
      </p:sp>
      <p:sp>
        <p:nvSpPr>
          <p:cNvPr id="11" name="aruaru-3"/>
          <p:cNvSpPr/>
          <p:nvPr/>
        </p:nvSpPr>
        <p:spPr>
          <a:xfrm>
            <a:off x="6582537" y="1831657"/>
            <a:ext cx="2845499" cy="1671638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2" name="aruaru-icon-3-bg"/>
          <p:cNvSpPr/>
          <p:nvPr/>
        </p:nvSpPr>
        <p:spPr>
          <a:xfrm>
            <a:off x="6805422" y="2054542"/>
            <a:ext cx="557213" cy="557213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aruaru-icon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4725" y="2193846"/>
            <a:ext cx="278606" cy="27860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05422" y="2686050"/>
            <a:ext cx="2399729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/>
              <a:t>去年の資料、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/>
              <a:t>ファイリングしたはず…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/>
              <a:t>どこに置いたっけ</a:t>
            </a:r>
            <a:endParaRPr lang="en-US" sz="1300" dirty="0"/>
          </a:p>
        </p:txBody>
      </p:sp>
      <p:sp>
        <p:nvSpPr>
          <p:cNvPr id="15" name="aruaru-4"/>
          <p:cNvSpPr/>
          <p:nvPr/>
        </p:nvSpPr>
        <p:spPr>
          <a:xfrm>
            <a:off x="1979962" y="3726180"/>
            <a:ext cx="2845499" cy="1671638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6" name="aruaru-icon-4-bg"/>
          <p:cNvSpPr/>
          <p:nvPr/>
        </p:nvSpPr>
        <p:spPr>
          <a:xfrm>
            <a:off x="2202847" y="3949065"/>
            <a:ext cx="557213" cy="557213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aruaru-icon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2150" y="4088368"/>
            <a:ext cx="278606" cy="27860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202847" y="4580573"/>
            <a:ext cx="2399729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/>
              <a:t>モニターを使いたいのに、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/>
              <a:t>ケーブルが合わない。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b="1" dirty="0"/>
              <a:t>どこにある？</a:t>
            </a:r>
            <a:endParaRPr lang="en-US" sz="1300" dirty="0"/>
          </a:p>
        </p:txBody>
      </p:sp>
      <p:sp>
        <p:nvSpPr>
          <p:cNvPr id="19" name="aruaru-5"/>
          <p:cNvSpPr/>
          <p:nvPr/>
        </p:nvSpPr>
        <p:spPr>
          <a:xfrm>
            <a:off x="5048345" y="3726180"/>
            <a:ext cx="2845499" cy="1671638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0" name="aruaru-icon-5-bg"/>
          <p:cNvSpPr/>
          <p:nvPr/>
        </p:nvSpPr>
        <p:spPr>
          <a:xfrm>
            <a:off x="5271230" y="3949065"/>
            <a:ext cx="557213" cy="557213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aruaru-icon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0534" y="4088368"/>
            <a:ext cx="278606" cy="27860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271230" y="4580573"/>
            <a:ext cx="2399729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300" b="1" dirty="0" err="1"/>
              <a:t>お知らせ更新したいのに</a:t>
            </a:r>
            <a:r>
              <a:rPr lang="en-US" sz="1300" b="1" dirty="0"/>
              <a:t>、</a:t>
            </a:r>
          </a:p>
          <a:p>
            <a:pPr>
              <a:lnSpc>
                <a:spcPct val="110000"/>
              </a:lnSpc>
            </a:pPr>
            <a:r>
              <a:rPr lang="en-US" sz="1300" b="1" dirty="0" err="1"/>
              <a:t>誰かが開いていて編集できない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dirty="0"/>
              <a:t>本来やるべき業務までの、</a:t>
            </a:r>
            <a:r>
              <a:rPr lang="en-US" altLang="ja-JP" dirty="0"/>
              <a:t>4</a:t>
            </a:r>
            <a:r>
              <a:rPr lang="ja-JP" altLang="en-US" dirty="0"/>
              <a:t>つのつまずき</a:t>
            </a:r>
            <a:endParaRPr lang="en-US" dirty="0"/>
          </a:p>
        </p:txBody>
      </p:sp>
      <p:sp>
        <p:nvSpPr>
          <p:cNvPr id="3" name="kind-1"/>
          <p:cNvSpPr/>
          <p:nvPr/>
        </p:nvSpPr>
        <p:spPr>
          <a:xfrm>
            <a:off x="445770" y="1905952"/>
            <a:ext cx="2117408" cy="3529013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4" name="kind-icon-1-bg"/>
          <p:cNvSpPr/>
          <p:nvPr/>
        </p:nvSpPr>
        <p:spPr>
          <a:xfrm>
            <a:off x="1095851" y="2165985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kind-icon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2" y="2370296"/>
            <a:ext cx="408623" cy="40862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45770" y="3131820"/>
            <a:ext cx="211740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950" b="1">
                <a:solidFill>
                  <a:schemeClr val="tx2"/>
                </a:solidFill>
              </a:rPr>
              <a:t>探す</a:t>
            </a:r>
            <a:endParaRPr lang="en-US" sz="1950" dirty="0"/>
          </a:p>
        </p:txBody>
      </p:sp>
      <p:sp>
        <p:nvSpPr>
          <p:cNvPr id="7" name="Text 4"/>
          <p:cNvSpPr txBox="1"/>
          <p:nvPr/>
        </p:nvSpPr>
        <p:spPr>
          <a:xfrm>
            <a:off x="445770" y="3577590"/>
            <a:ext cx="2117408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463" b="1">
                <a:solidFill>
                  <a:schemeClr val="accent1"/>
                </a:solidFill>
              </a:rPr>
              <a:t>どこにある？</a:t>
            </a:r>
            <a:endParaRPr lang="en-US" sz="1463" dirty="0"/>
          </a:p>
        </p:txBody>
      </p:sp>
      <p:sp>
        <p:nvSpPr>
          <p:cNvPr id="8" name="Text 5"/>
          <p:cNvSpPr txBox="1"/>
          <p:nvPr/>
        </p:nvSpPr>
        <p:spPr>
          <a:xfrm>
            <a:off x="520065" y="4023360"/>
            <a:ext cx="196881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ja-JP" altLang="en-US" sz="1300"/>
              <a:t>去年の資料</a:t>
            </a:r>
          </a:p>
          <a:p>
            <a:pPr algn="ctr">
              <a:lnSpc>
                <a:spcPct val="120000"/>
              </a:lnSpc>
            </a:pPr>
            <a:r>
              <a:rPr lang="ja-JP" altLang="en-US" sz="1300"/>
              <a:t>モニターのケーブル</a:t>
            </a:r>
            <a:endParaRPr lang="en-US" sz="1300" dirty="0"/>
          </a:p>
        </p:txBody>
      </p:sp>
      <p:sp>
        <p:nvSpPr>
          <p:cNvPr id="9" name="kind-2"/>
          <p:cNvSpPr/>
          <p:nvPr/>
        </p:nvSpPr>
        <p:spPr>
          <a:xfrm>
            <a:off x="2736532" y="1905952"/>
            <a:ext cx="2117408" cy="3529013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10" name="kind-icon-2-bg"/>
          <p:cNvSpPr/>
          <p:nvPr/>
        </p:nvSpPr>
        <p:spPr>
          <a:xfrm>
            <a:off x="3386614" y="2165985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kind-icon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0925" y="2370296"/>
            <a:ext cx="408623" cy="40862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36532" y="3131820"/>
            <a:ext cx="211740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950" b="1">
                <a:solidFill>
                  <a:schemeClr val="tx2"/>
                </a:solidFill>
              </a:rPr>
              <a:t>確認する</a:t>
            </a:r>
            <a:endParaRPr lang="en-US" sz="1950" dirty="0"/>
          </a:p>
        </p:txBody>
      </p:sp>
      <p:sp>
        <p:nvSpPr>
          <p:cNvPr id="13" name="Text 9"/>
          <p:cNvSpPr txBox="1"/>
          <p:nvPr/>
        </p:nvSpPr>
        <p:spPr>
          <a:xfrm>
            <a:off x="2736532" y="3577590"/>
            <a:ext cx="2117408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463" b="1">
                <a:solidFill>
                  <a:schemeClr val="accent1"/>
                </a:solidFill>
              </a:rPr>
              <a:t>これで合ってる？</a:t>
            </a:r>
            <a:endParaRPr lang="en-US" sz="1463" dirty="0"/>
          </a:p>
        </p:txBody>
      </p:sp>
      <p:sp>
        <p:nvSpPr>
          <p:cNvPr id="14" name="Text 10"/>
          <p:cNvSpPr txBox="1"/>
          <p:nvPr/>
        </p:nvSpPr>
        <p:spPr>
          <a:xfrm>
            <a:off x="2810827" y="4023360"/>
            <a:ext cx="196881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ja-JP" altLang="en-US" sz="1300"/>
              <a:t>魔改造</a:t>
            </a:r>
            <a:r>
              <a:rPr lang="en-US" altLang="ja-JP" sz="1300"/>
              <a:t>Excel</a:t>
            </a:r>
            <a:r>
              <a:rPr lang="ja-JP" altLang="en-US" sz="1300"/>
              <a:t>の</a:t>
            </a:r>
          </a:p>
          <a:p>
            <a:pPr algn="ctr">
              <a:lnSpc>
                <a:spcPct val="120000"/>
              </a:lnSpc>
            </a:pPr>
            <a:r>
              <a:rPr lang="ja-JP" altLang="en-US" sz="1300"/>
              <a:t>読み解き</a:t>
            </a:r>
            <a:endParaRPr lang="en-US" sz="1300" dirty="0"/>
          </a:p>
        </p:txBody>
      </p:sp>
      <p:sp>
        <p:nvSpPr>
          <p:cNvPr id="15" name="kind-4"/>
          <p:cNvSpPr/>
          <p:nvPr/>
        </p:nvSpPr>
        <p:spPr>
          <a:xfrm>
            <a:off x="7318057" y="1905952"/>
            <a:ext cx="2117408" cy="3529013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16" name="kind-icon-4-bg"/>
          <p:cNvSpPr/>
          <p:nvPr/>
        </p:nvSpPr>
        <p:spPr>
          <a:xfrm>
            <a:off x="7968139" y="2165985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kind-icon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2450" y="2370296"/>
            <a:ext cx="408623" cy="40862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8057" y="3131820"/>
            <a:ext cx="211740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950" b="1">
                <a:solidFill>
                  <a:schemeClr val="tx2"/>
                </a:solidFill>
              </a:rPr>
              <a:t>待つ</a:t>
            </a:r>
            <a:endParaRPr lang="en-US" sz="1950" dirty="0"/>
          </a:p>
        </p:txBody>
      </p:sp>
      <p:sp>
        <p:nvSpPr>
          <p:cNvPr id="19" name="Text 14"/>
          <p:cNvSpPr txBox="1"/>
          <p:nvPr/>
        </p:nvSpPr>
        <p:spPr>
          <a:xfrm>
            <a:off x="7318057" y="3577590"/>
            <a:ext cx="2117408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463" b="1">
                <a:solidFill>
                  <a:schemeClr val="accent1"/>
                </a:solidFill>
              </a:rPr>
              <a:t>いつ使える？</a:t>
            </a:r>
            <a:endParaRPr lang="en-US" sz="1463" dirty="0"/>
          </a:p>
        </p:txBody>
      </p:sp>
      <p:sp>
        <p:nvSpPr>
          <p:cNvPr id="20" name="Text 15"/>
          <p:cNvSpPr txBox="1"/>
          <p:nvPr/>
        </p:nvSpPr>
        <p:spPr>
          <a:xfrm>
            <a:off x="7392352" y="4023360"/>
            <a:ext cx="196881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ja-JP" altLang="en-US" sz="1300"/>
              <a:t>誰かが開いていて</a:t>
            </a:r>
          </a:p>
          <a:p>
            <a:pPr algn="ctr">
              <a:lnSpc>
                <a:spcPct val="120000"/>
              </a:lnSpc>
            </a:pPr>
            <a:r>
              <a:rPr lang="ja-JP" altLang="en-US" sz="1300"/>
              <a:t>お知らせを編集できない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1" name="kind-3">
            <a:extLst>
              <a:ext uri="{FF2B5EF4-FFF2-40B4-BE49-F238E27FC236}">
                <a16:creationId xmlns:a16="http://schemas.microsoft.com/office/drawing/2014/main" id="{D9DB66E2-2C08-BFD4-2F0A-241D2C166525}"/>
              </a:ext>
            </a:extLst>
          </p:cNvPr>
          <p:cNvSpPr/>
          <p:nvPr/>
        </p:nvSpPr>
        <p:spPr>
          <a:xfrm>
            <a:off x="5027295" y="1905952"/>
            <a:ext cx="2117408" cy="3529013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22" name="kind-icon-3-bg">
            <a:extLst>
              <a:ext uri="{FF2B5EF4-FFF2-40B4-BE49-F238E27FC236}">
                <a16:creationId xmlns:a16="http://schemas.microsoft.com/office/drawing/2014/main" id="{D1C2BF02-04DC-CFDD-C25F-2FC0642FEF43}"/>
              </a:ext>
            </a:extLst>
          </p:cNvPr>
          <p:cNvSpPr/>
          <p:nvPr/>
        </p:nvSpPr>
        <p:spPr>
          <a:xfrm>
            <a:off x="5677376" y="2165985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AD85B9EB-D84D-3D3D-2D95-607A7EE435C4}"/>
              </a:ext>
            </a:extLst>
          </p:cNvPr>
          <p:cNvSpPr txBox="1"/>
          <p:nvPr/>
        </p:nvSpPr>
        <p:spPr>
          <a:xfrm>
            <a:off x="5027295" y="3131820"/>
            <a:ext cx="211740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950" b="1">
                <a:solidFill>
                  <a:schemeClr val="tx2"/>
                </a:solidFill>
              </a:rPr>
              <a:t>聞く</a:t>
            </a:r>
            <a:endParaRPr lang="en-US" sz="1950" dirty="0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BC4EA5E1-DC70-4668-5CF2-EABD1680BD74}"/>
              </a:ext>
            </a:extLst>
          </p:cNvPr>
          <p:cNvSpPr txBox="1"/>
          <p:nvPr/>
        </p:nvSpPr>
        <p:spPr>
          <a:xfrm>
            <a:off x="5027295" y="3577590"/>
            <a:ext cx="2117408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463" b="1">
                <a:solidFill>
                  <a:schemeClr val="accent1"/>
                </a:solidFill>
              </a:rPr>
              <a:t>誰に聞けば？</a:t>
            </a:r>
            <a:endParaRPr lang="en-US" sz="1463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549ADE8-4CB2-0F04-5D41-5897E0024711}"/>
              </a:ext>
            </a:extLst>
          </p:cNvPr>
          <p:cNvSpPr txBox="1"/>
          <p:nvPr/>
        </p:nvSpPr>
        <p:spPr>
          <a:xfrm>
            <a:off x="5101590" y="4023360"/>
            <a:ext cx="196881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ja-JP" altLang="en-US" sz="1300"/>
              <a:t>前にどう答えたか</a:t>
            </a:r>
          </a:p>
          <a:p>
            <a:pPr algn="ctr">
              <a:lnSpc>
                <a:spcPct val="120000"/>
              </a:lnSpc>
            </a:pPr>
            <a:r>
              <a:rPr lang="ja-JP" altLang="en-US" sz="1300"/>
              <a:t>（記録がなく、人に聞く）</a:t>
            </a:r>
            <a:endParaRPr lang="en-US" sz="1300" dirty="0"/>
          </a:p>
        </p:txBody>
      </p:sp>
      <p:pic>
        <p:nvPicPr>
          <p:cNvPr id="29" name="kind-icon-3">
            <a:extLst>
              <a:ext uri="{FF2B5EF4-FFF2-40B4-BE49-F238E27FC236}">
                <a16:creationId xmlns:a16="http://schemas.microsoft.com/office/drawing/2014/main" id="{7C539E44-684E-E0F6-9E90-90F72EC03371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81687" y="2370296"/>
            <a:ext cx="408623" cy="4086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/>
              <a:t>まずは物から。整理</a:t>
            </a:r>
            <a:r>
              <a:rPr lang="ja-JP" altLang="en-US" dirty="0"/>
              <a:t>は</a:t>
            </a:r>
            <a:r>
              <a:rPr lang="en-US" dirty="0" err="1"/>
              <a:t>ゴールが見えて</a:t>
            </a:r>
            <a:r>
              <a:rPr lang="ja-JP" altLang="en-US" dirty="0"/>
              <a:t>いる状態。</a:t>
            </a:r>
            <a:endParaRPr lang="en-US" dirty="0"/>
          </a:p>
        </p:txBody>
      </p:sp>
      <p:sp>
        <p:nvSpPr>
          <p:cNvPr id="3" name="goal-card"/>
          <p:cNvSpPr/>
          <p:nvPr/>
        </p:nvSpPr>
        <p:spPr>
          <a:xfrm>
            <a:off x="445770" y="1417021"/>
            <a:ext cx="8989695" cy="1869404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4" name="goal-icon-bg"/>
          <p:cNvSpPr/>
          <p:nvPr/>
        </p:nvSpPr>
        <p:spPr>
          <a:xfrm>
            <a:off x="742950" y="1937087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goal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261" y="2141398"/>
            <a:ext cx="408623" cy="40862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57375" y="1517847"/>
            <a:ext cx="735520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accent1"/>
                </a:solidFill>
              </a:rPr>
              <a:t>目指す姿</a:t>
            </a:r>
            <a:endParaRPr lang="en-US" sz="1300" dirty="0"/>
          </a:p>
          <a:p>
            <a:r>
              <a:rPr lang="en-US" sz="2275" b="1" dirty="0">
                <a:solidFill>
                  <a:schemeClr val="tx2"/>
                </a:solidFill>
              </a:rPr>
              <a:t>あるべきところに、あるべきものが、適量ある</a:t>
            </a:r>
            <a:endParaRPr lang="en-US" sz="1300" dirty="0"/>
          </a:p>
        </p:txBody>
      </p:sp>
      <p:sp>
        <p:nvSpPr>
          <p:cNvPr id="7" name="step-line"/>
          <p:cNvSpPr/>
          <p:nvPr/>
        </p:nvSpPr>
        <p:spPr>
          <a:xfrm>
            <a:off x="1560195" y="4187396"/>
            <a:ext cx="676084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8" name="step-dot-1"/>
          <p:cNvSpPr/>
          <p:nvPr/>
        </p:nvSpPr>
        <p:spPr>
          <a:xfrm>
            <a:off x="1225868" y="3853068"/>
            <a:ext cx="668655" cy="66865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/>
            </a:solidFill>
            <a:prstDash val="solid"/>
          </a:ln>
        </p:spPr>
      </p:sp>
      <p:pic>
        <p:nvPicPr>
          <p:cNvPr id="9" name="step-check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6746" y="4023947"/>
            <a:ext cx="326898" cy="3268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8590" y="4670313"/>
            <a:ext cx="2823210" cy="408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ja-JP" sz="1625" b="1" dirty="0" err="1">
                <a:solidFill>
                  <a:schemeClr val="tx2"/>
                </a:solidFill>
              </a:rPr>
              <a:t>量の確認</a:t>
            </a:r>
            <a:endParaRPr lang="en-US" altLang="ja-JP" sz="1625" dirty="0"/>
          </a:p>
        </p:txBody>
      </p:sp>
      <p:sp>
        <p:nvSpPr>
          <p:cNvPr id="11" name="Text 7"/>
          <p:cNvSpPr txBox="1"/>
          <p:nvPr/>
        </p:nvSpPr>
        <p:spPr>
          <a:xfrm>
            <a:off x="148590" y="5078936"/>
            <a:ext cx="282321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300" b="1" dirty="0">
                <a:solidFill>
                  <a:schemeClr val="accent1"/>
                </a:solidFill>
              </a:rPr>
              <a:t>済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529013" y="4670313"/>
            <a:ext cx="2823210" cy="408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ja-JP" sz="1625" b="1" dirty="0" err="1">
                <a:solidFill>
                  <a:schemeClr val="tx2"/>
                </a:solidFill>
              </a:rPr>
              <a:t>ゾーニング</a:t>
            </a:r>
            <a:endParaRPr lang="en-US" altLang="ja-JP" sz="1625" dirty="0"/>
          </a:p>
        </p:txBody>
      </p:sp>
      <p:sp>
        <p:nvSpPr>
          <p:cNvPr id="14" name="Text 10"/>
          <p:cNvSpPr txBox="1"/>
          <p:nvPr/>
        </p:nvSpPr>
        <p:spPr>
          <a:xfrm>
            <a:off x="3529013" y="5078936"/>
            <a:ext cx="282321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300" b="1" dirty="0">
                <a:solidFill>
                  <a:schemeClr val="accent1"/>
                </a:solidFill>
              </a:rPr>
              <a:t>済</a:t>
            </a:r>
            <a:endParaRPr lang="en-US" altLang="ja-JP" sz="1300" dirty="0"/>
          </a:p>
        </p:txBody>
      </p:sp>
      <p:sp>
        <p:nvSpPr>
          <p:cNvPr id="15" name="step-dot-3"/>
          <p:cNvSpPr/>
          <p:nvPr/>
        </p:nvSpPr>
        <p:spPr>
          <a:xfrm>
            <a:off x="7986713" y="3853068"/>
            <a:ext cx="668655" cy="66865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09435" y="4670313"/>
            <a:ext cx="2823210" cy="408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ja-JP" sz="1625" b="1" dirty="0" err="1">
                <a:solidFill>
                  <a:schemeClr val="tx2"/>
                </a:solidFill>
              </a:rPr>
              <a:t>センター全体の整理整頓</a:t>
            </a:r>
            <a:endParaRPr lang="en-US" altLang="ja-JP" sz="1625" dirty="0"/>
          </a:p>
        </p:txBody>
      </p:sp>
      <p:sp>
        <p:nvSpPr>
          <p:cNvPr id="17" name="Text 13"/>
          <p:cNvSpPr txBox="1"/>
          <p:nvPr/>
        </p:nvSpPr>
        <p:spPr>
          <a:xfrm>
            <a:off x="6909435" y="5078936"/>
            <a:ext cx="282321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300" b="1" dirty="0">
                <a:solidFill>
                  <a:schemeClr val="accent5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19" name="step-dot-1">
            <a:extLst>
              <a:ext uri="{FF2B5EF4-FFF2-40B4-BE49-F238E27FC236}">
                <a16:creationId xmlns:a16="http://schemas.microsoft.com/office/drawing/2014/main" id="{660122A7-77F8-FC84-1321-19AA63EA4034}"/>
              </a:ext>
            </a:extLst>
          </p:cNvPr>
          <p:cNvSpPr/>
          <p:nvPr/>
        </p:nvSpPr>
        <p:spPr>
          <a:xfrm>
            <a:off x="4562068" y="3857667"/>
            <a:ext cx="668655" cy="66865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/>
            </a:solidFill>
            <a:prstDash val="solid"/>
          </a:ln>
        </p:spPr>
      </p:sp>
      <p:pic>
        <p:nvPicPr>
          <p:cNvPr id="21" name="step-check" descr="preencoded.png">
            <a:extLst>
              <a:ext uri="{FF2B5EF4-FFF2-40B4-BE49-F238E27FC236}">
                <a16:creationId xmlns:a16="http://schemas.microsoft.com/office/drawing/2014/main" id="{C8FA6F7C-ECE2-B6EB-567C-285B2916B4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947" y="4028546"/>
            <a:ext cx="326898" cy="326898"/>
          </a:xfrm>
          <a:prstGeom prst="rect">
            <a:avLst/>
          </a:prstGeom>
        </p:spPr>
      </p:pic>
      <p:sp>
        <p:nvSpPr>
          <p:cNvPr id="22" name="Text 3">
            <a:extLst>
              <a:ext uri="{FF2B5EF4-FFF2-40B4-BE49-F238E27FC236}">
                <a16:creationId xmlns:a16="http://schemas.microsoft.com/office/drawing/2014/main" id="{D45D4EF8-2F60-A391-25D4-E12B0451A030}"/>
              </a:ext>
            </a:extLst>
          </p:cNvPr>
          <p:cNvSpPr txBox="1"/>
          <p:nvPr/>
        </p:nvSpPr>
        <p:spPr>
          <a:xfrm>
            <a:off x="1829072" y="2243464"/>
            <a:ext cx="735520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ja-JP" sz="1463" dirty="0"/>
              <a:t>①：置き場所は「用途と動線」で決め、迷いが生まれる余地を消す。</a:t>
            </a:r>
          </a:p>
          <a:p>
            <a:r>
              <a:rPr lang="ja-JP" altLang="ja-JP" sz="1463" dirty="0"/>
              <a:t>②：分類は細かくしすぎず、戻す行動のハードルを最小化する。</a:t>
            </a:r>
          </a:p>
          <a:p>
            <a:r>
              <a:rPr lang="ja-JP" altLang="ja-JP" sz="1463" dirty="0"/>
              <a:t>③：探さないための“毎日の小さなメンテナンス”を習慣として組み込む。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/>
              <a:t>次は情報を</a:t>
            </a:r>
            <a:r>
              <a:rPr lang="ja-JP" altLang="en-US" dirty="0"/>
              <a:t>。</a:t>
            </a:r>
            <a:r>
              <a:rPr lang="en-US" dirty="0" err="1"/>
              <a:t>誰にとっても使いやすく</a:t>
            </a:r>
            <a:endParaRPr lang="en-US" dirty="0"/>
          </a:p>
        </p:txBody>
      </p:sp>
      <p:sp>
        <p:nvSpPr>
          <p:cNvPr id="3" name="info-1"/>
          <p:cNvSpPr/>
          <p:nvPr/>
        </p:nvSpPr>
        <p:spPr>
          <a:xfrm>
            <a:off x="445770" y="1423035"/>
            <a:ext cx="4383405" cy="163449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" name="info-icon-1-bg"/>
          <p:cNvSpPr/>
          <p:nvPr/>
        </p:nvSpPr>
        <p:spPr>
          <a:xfrm>
            <a:off x="742950" y="1831657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fo-icon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261" y="2035968"/>
            <a:ext cx="408623" cy="40862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20215"/>
            <a:ext cx="282321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chemeClr val="tx2"/>
                </a:solidFill>
              </a:rPr>
              <a:t>コンテンツ</a:t>
            </a:r>
            <a:endParaRPr lang="en-US" sz="195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03132"/>
            <a:ext cx="28232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ja-JP" altLang="en-US" sz="1463" dirty="0"/>
              <a:t>業務で作成した資料、手順書、管理ツール</a:t>
            </a:r>
            <a:endParaRPr lang="en-US" sz="1463" dirty="0"/>
          </a:p>
        </p:txBody>
      </p:sp>
      <p:sp>
        <p:nvSpPr>
          <p:cNvPr id="8" name="info-2"/>
          <p:cNvSpPr/>
          <p:nvPr/>
        </p:nvSpPr>
        <p:spPr>
          <a:xfrm>
            <a:off x="5052060" y="1423035"/>
            <a:ext cx="4383405" cy="163449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9" name="info-icon-2-bg"/>
          <p:cNvSpPr/>
          <p:nvPr/>
        </p:nvSpPr>
        <p:spPr>
          <a:xfrm>
            <a:off x="5349240" y="1831657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nfo-icon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3551" y="2035968"/>
            <a:ext cx="408623" cy="40862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89370" y="1720215"/>
            <a:ext cx="282321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chemeClr val="tx2"/>
                </a:solidFill>
              </a:rPr>
              <a:t>プロセス</a:t>
            </a:r>
            <a:endParaRPr lang="en-US" sz="1950" dirty="0"/>
          </a:p>
        </p:txBody>
      </p:sp>
      <p:sp>
        <p:nvSpPr>
          <p:cNvPr id="12" name="Text 8"/>
          <p:cNvSpPr txBox="1"/>
          <p:nvPr/>
        </p:nvSpPr>
        <p:spPr>
          <a:xfrm>
            <a:off x="6389370" y="2203132"/>
            <a:ext cx="28232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3" dirty="0"/>
              <a:t>成果物やルールが</a:t>
            </a:r>
          </a:p>
          <a:p>
            <a:r>
              <a:rPr lang="en-US" sz="1463" dirty="0"/>
              <a:t>決まった背景・理由</a:t>
            </a:r>
          </a:p>
        </p:txBody>
      </p:sp>
      <p:sp>
        <p:nvSpPr>
          <p:cNvPr id="13" name="info-3"/>
          <p:cNvSpPr/>
          <p:nvPr/>
        </p:nvSpPr>
        <p:spPr>
          <a:xfrm>
            <a:off x="445770" y="3280410"/>
            <a:ext cx="4383405" cy="163449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4" name="info-icon-3-bg"/>
          <p:cNvSpPr/>
          <p:nvPr/>
        </p:nvSpPr>
        <p:spPr>
          <a:xfrm>
            <a:off x="742950" y="3689032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nfo-icon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261" y="3893343"/>
            <a:ext cx="408623" cy="40862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577590"/>
            <a:ext cx="282321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chemeClr val="tx2"/>
                </a:solidFill>
              </a:rPr>
              <a:t>コミュニケーション</a:t>
            </a:r>
            <a:endParaRPr lang="en-US" sz="195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4060507"/>
            <a:ext cx="28232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3" dirty="0" err="1"/>
              <a:t>メール・議事録</a:t>
            </a:r>
            <a:r>
              <a:rPr lang="ja-JP" altLang="en-US" sz="1463" dirty="0"/>
              <a:t>・面談記録</a:t>
            </a:r>
            <a:endParaRPr lang="en-US" sz="1463" dirty="0"/>
          </a:p>
        </p:txBody>
      </p:sp>
      <p:sp>
        <p:nvSpPr>
          <p:cNvPr id="18" name="info-4"/>
          <p:cNvSpPr/>
          <p:nvPr/>
        </p:nvSpPr>
        <p:spPr>
          <a:xfrm>
            <a:off x="5052060" y="3280410"/>
            <a:ext cx="4383405" cy="163449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info-icon-4-bg"/>
          <p:cNvSpPr/>
          <p:nvPr/>
        </p:nvSpPr>
        <p:spPr>
          <a:xfrm>
            <a:off x="5349240" y="3689032"/>
            <a:ext cx="817245" cy="81724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nfo-icon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3551" y="3893343"/>
            <a:ext cx="408623" cy="40862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89370" y="3577590"/>
            <a:ext cx="282321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chemeClr val="tx2"/>
                </a:solidFill>
              </a:rPr>
              <a:t>KnowWho</a:t>
            </a:r>
            <a:endParaRPr lang="en-US" sz="1950" dirty="0"/>
          </a:p>
        </p:txBody>
      </p:sp>
      <p:sp>
        <p:nvSpPr>
          <p:cNvPr id="22" name="Text 16"/>
          <p:cNvSpPr txBox="1"/>
          <p:nvPr/>
        </p:nvSpPr>
        <p:spPr>
          <a:xfrm>
            <a:off x="6389370" y="4060507"/>
            <a:ext cx="28232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3" dirty="0" err="1"/>
              <a:t>詳しい人</a:t>
            </a:r>
            <a:r>
              <a:rPr lang="en-US" sz="1463" dirty="0"/>
              <a:t>・</a:t>
            </a:r>
            <a:r>
              <a:rPr lang="ja-JP" altLang="en-US" sz="1463" dirty="0"/>
              <a:t>担当</a:t>
            </a:r>
            <a:r>
              <a:rPr lang="en-US" sz="1463" dirty="0" err="1"/>
              <a:t>チーム</a:t>
            </a:r>
            <a:endParaRPr lang="en-US" sz="146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 dirty="0"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B277EC3E-D828-D45F-A997-0BDE341C80DC}"/>
              </a:ext>
            </a:extLst>
          </p:cNvPr>
          <p:cNvSpPr txBox="1"/>
          <p:nvPr/>
        </p:nvSpPr>
        <p:spPr>
          <a:xfrm>
            <a:off x="1935208" y="5527834"/>
            <a:ext cx="7500257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/>
            <a:r>
              <a:rPr lang="ja-JP" altLang="ja-JP" sz="975" dirty="0">
                <a:hlinkClick r:id="rId7"/>
              </a:rPr>
              <a:t>「”探し物”というムダな時間を無くして、生産的な仕事をしよう！」～社内SNS：SKIPによるワークスタイルチェンジ～｜BUSINESS NETWORK</a:t>
            </a:r>
            <a:endParaRPr lang="en-US" sz="9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忙しい毎日の中で、物も情報も自然に積もっていく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45770" y="1479279"/>
            <a:ext cx="512635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8" b="1" dirty="0">
                <a:solidFill>
                  <a:schemeClr val="accent1"/>
                </a:solidFill>
              </a:rPr>
              <a:t>▼ 日々の書類・物・メール・ファイルが、上から少しずつ降りつもる</a:t>
            </a:r>
            <a:endParaRPr lang="en-US" sz="1138" dirty="0"/>
          </a:p>
        </p:txBody>
      </p:sp>
      <p:sp>
        <p:nvSpPr>
          <p:cNvPr id="4" name="year-box-1"/>
          <p:cNvSpPr/>
          <p:nvPr/>
        </p:nvSpPr>
        <p:spPr>
          <a:xfrm>
            <a:off x="445770" y="1850755"/>
            <a:ext cx="1114425" cy="2971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year-1-layer-1"/>
          <p:cNvSpPr/>
          <p:nvPr/>
        </p:nvSpPr>
        <p:spPr>
          <a:xfrm>
            <a:off x="534924" y="4537856"/>
            <a:ext cx="936117" cy="173256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6" name="year-1-flake-1"/>
          <p:cNvSpPr/>
          <p:nvPr/>
        </p:nvSpPr>
        <p:spPr>
          <a:xfrm rot="1200000">
            <a:off x="703425" y="2245776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7" name="year-1-flake-2"/>
          <p:cNvSpPr/>
          <p:nvPr/>
        </p:nvSpPr>
        <p:spPr>
          <a:xfrm rot="-900000">
            <a:off x="1077872" y="2593134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8" name="year-1-flake-3"/>
          <p:cNvSpPr/>
          <p:nvPr/>
        </p:nvSpPr>
        <p:spPr>
          <a:xfrm rot="2100000">
            <a:off x="834481" y="3056279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5770" y="4896850"/>
            <a:ext cx="111442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2"/>
                </a:solidFill>
              </a:rPr>
              <a:t>1年目</a:t>
            </a:r>
            <a:endParaRPr lang="en-US" sz="1300" dirty="0"/>
          </a:p>
        </p:txBody>
      </p:sp>
      <p:sp>
        <p:nvSpPr>
          <p:cNvPr id="10" name="year-box-2"/>
          <p:cNvSpPr/>
          <p:nvPr/>
        </p:nvSpPr>
        <p:spPr>
          <a:xfrm>
            <a:off x="1783080" y="1850755"/>
            <a:ext cx="1114425" cy="2971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1" name="year-2-layer-1"/>
          <p:cNvSpPr/>
          <p:nvPr/>
        </p:nvSpPr>
        <p:spPr>
          <a:xfrm>
            <a:off x="1872234" y="3951223"/>
            <a:ext cx="936117" cy="238437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year-2-layer-2"/>
          <p:cNvSpPr/>
          <p:nvPr/>
        </p:nvSpPr>
        <p:spPr>
          <a:xfrm>
            <a:off x="1872234" y="4211949"/>
            <a:ext cx="936117" cy="238437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year-2-layer-3"/>
          <p:cNvSpPr/>
          <p:nvPr/>
        </p:nvSpPr>
        <p:spPr>
          <a:xfrm>
            <a:off x="1872234" y="4472675"/>
            <a:ext cx="936117" cy="238437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4" name="year-2-flake-1"/>
          <p:cNvSpPr/>
          <p:nvPr/>
        </p:nvSpPr>
        <p:spPr>
          <a:xfrm rot="1200000">
            <a:off x="2040735" y="2189459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year-2-flake-2"/>
          <p:cNvSpPr/>
          <p:nvPr/>
        </p:nvSpPr>
        <p:spPr>
          <a:xfrm rot="-900000">
            <a:off x="2415182" y="2452342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year-2-flake-3"/>
          <p:cNvSpPr/>
          <p:nvPr/>
        </p:nvSpPr>
        <p:spPr>
          <a:xfrm rot="2100000">
            <a:off x="2171791" y="2802853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783080" y="4896850"/>
            <a:ext cx="111442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2"/>
                </a:solidFill>
              </a:rPr>
              <a:t>5年目</a:t>
            </a:r>
            <a:endParaRPr lang="en-US" sz="1300" dirty="0"/>
          </a:p>
        </p:txBody>
      </p:sp>
      <p:sp>
        <p:nvSpPr>
          <p:cNvPr id="18" name="year-box-3"/>
          <p:cNvSpPr/>
          <p:nvPr/>
        </p:nvSpPr>
        <p:spPr>
          <a:xfrm>
            <a:off x="3120390" y="1850755"/>
            <a:ext cx="1114425" cy="2971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9" name="year-3-layer-1"/>
          <p:cNvSpPr/>
          <p:nvPr/>
        </p:nvSpPr>
        <p:spPr>
          <a:xfrm>
            <a:off x="3209544" y="3280785"/>
            <a:ext cx="936117" cy="268235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year-3-layer-2"/>
          <p:cNvSpPr/>
          <p:nvPr/>
        </p:nvSpPr>
        <p:spPr>
          <a:xfrm>
            <a:off x="3209544" y="3571308"/>
            <a:ext cx="936117" cy="268235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1" name="year-3-layer-3"/>
          <p:cNvSpPr/>
          <p:nvPr/>
        </p:nvSpPr>
        <p:spPr>
          <a:xfrm>
            <a:off x="3209544" y="3861831"/>
            <a:ext cx="936117" cy="268235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year-3-layer-4"/>
          <p:cNvSpPr/>
          <p:nvPr/>
        </p:nvSpPr>
        <p:spPr>
          <a:xfrm>
            <a:off x="3209544" y="4152354"/>
            <a:ext cx="936117" cy="268235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3" name="year-3-layer-5"/>
          <p:cNvSpPr/>
          <p:nvPr/>
        </p:nvSpPr>
        <p:spPr>
          <a:xfrm>
            <a:off x="3209544" y="4442878"/>
            <a:ext cx="936117" cy="268235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4" name="year-3-flake-1"/>
          <p:cNvSpPr/>
          <p:nvPr/>
        </p:nvSpPr>
        <p:spPr>
          <a:xfrm rot="1200000">
            <a:off x="3378045" y="2125097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5" name="year-3-flake-2"/>
          <p:cNvSpPr/>
          <p:nvPr/>
        </p:nvSpPr>
        <p:spPr>
          <a:xfrm rot="-900000">
            <a:off x="3752492" y="2291437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6" name="year-3-flake-3"/>
          <p:cNvSpPr/>
          <p:nvPr/>
        </p:nvSpPr>
        <p:spPr>
          <a:xfrm rot="2100000">
            <a:off x="3509101" y="2513223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20390" y="4896850"/>
            <a:ext cx="111442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2"/>
                </a:solidFill>
              </a:rPr>
              <a:t>10年目</a:t>
            </a:r>
            <a:endParaRPr lang="en-US" sz="1300" dirty="0"/>
          </a:p>
        </p:txBody>
      </p:sp>
      <p:sp>
        <p:nvSpPr>
          <p:cNvPr id="28" name="year-box-4"/>
          <p:cNvSpPr/>
          <p:nvPr/>
        </p:nvSpPr>
        <p:spPr>
          <a:xfrm>
            <a:off x="4457700" y="1850755"/>
            <a:ext cx="1114425" cy="2971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year-4-layer-1"/>
          <p:cNvSpPr/>
          <p:nvPr/>
        </p:nvSpPr>
        <p:spPr>
          <a:xfrm>
            <a:off x="4546854" y="2386868"/>
            <a:ext cx="936117" cy="2710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0" name="year-4-layer-2"/>
          <p:cNvSpPr/>
          <p:nvPr/>
        </p:nvSpPr>
        <p:spPr>
          <a:xfrm>
            <a:off x="4546854" y="2680184"/>
            <a:ext cx="936117" cy="2710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1" name="year-4-layer-3"/>
          <p:cNvSpPr/>
          <p:nvPr/>
        </p:nvSpPr>
        <p:spPr>
          <a:xfrm>
            <a:off x="4546854" y="2973501"/>
            <a:ext cx="936117" cy="2710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2" name="year-4-layer-4"/>
          <p:cNvSpPr/>
          <p:nvPr/>
        </p:nvSpPr>
        <p:spPr>
          <a:xfrm>
            <a:off x="4546854" y="3266817"/>
            <a:ext cx="936117" cy="2710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year-4-layer-5"/>
          <p:cNvSpPr/>
          <p:nvPr/>
        </p:nvSpPr>
        <p:spPr>
          <a:xfrm>
            <a:off x="4546854" y="3560135"/>
            <a:ext cx="936117" cy="2710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year-4-layer-6"/>
          <p:cNvSpPr/>
          <p:nvPr/>
        </p:nvSpPr>
        <p:spPr>
          <a:xfrm>
            <a:off x="4546854" y="3853451"/>
            <a:ext cx="936117" cy="2710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5" name="year-4-layer-7"/>
          <p:cNvSpPr/>
          <p:nvPr/>
        </p:nvSpPr>
        <p:spPr>
          <a:xfrm>
            <a:off x="4546854" y="4146768"/>
            <a:ext cx="936117" cy="2710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6" name="year-4-layer-8"/>
          <p:cNvSpPr/>
          <p:nvPr/>
        </p:nvSpPr>
        <p:spPr>
          <a:xfrm>
            <a:off x="4546854" y="4440084"/>
            <a:ext cx="936117" cy="2710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7" name="year-4-flake-1"/>
          <p:cNvSpPr/>
          <p:nvPr/>
        </p:nvSpPr>
        <p:spPr>
          <a:xfrm rot="1200000">
            <a:off x="4593660" y="2029063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8" name="year-4-flake-2"/>
          <p:cNvSpPr/>
          <p:nvPr/>
        </p:nvSpPr>
        <p:spPr>
          <a:xfrm rot="-900000">
            <a:off x="4940023" y="2029063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9" name="year-4-flake-3"/>
          <p:cNvSpPr/>
          <p:nvPr/>
        </p:nvSpPr>
        <p:spPr>
          <a:xfrm rot="2100000">
            <a:off x="5277025" y="2029063"/>
            <a:ext cx="148590" cy="14859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457700" y="4896850"/>
            <a:ext cx="111442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2"/>
                </a:solidFill>
              </a:rPr>
              <a:t>20年目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5770" y="3485245"/>
            <a:ext cx="111442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8" b="1" dirty="0">
                <a:solidFill>
                  <a:schemeClr val="accent1"/>
                </a:solidFill>
              </a:rPr>
              <a:t>すぐ</a:t>
            </a:r>
            <a:endParaRPr lang="en-US" sz="1138" dirty="0"/>
          </a:p>
          <a:p>
            <a:pPr algn="ctr"/>
            <a:r>
              <a:rPr lang="en-US" sz="1138" b="1" dirty="0">
                <a:solidFill>
                  <a:schemeClr val="accent1"/>
                </a:solidFill>
              </a:rPr>
              <a:t>使える</a:t>
            </a:r>
            <a:endParaRPr lang="en-US" sz="1138" dirty="0"/>
          </a:p>
        </p:txBody>
      </p:sp>
      <p:sp>
        <p:nvSpPr>
          <p:cNvPr id="42" name="buried-label-bg"/>
          <p:cNvSpPr/>
          <p:nvPr/>
        </p:nvSpPr>
        <p:spPr>
          <a:xfrm>
            <a:off x="4546854" y="3745277"/>
            <a:ext cx="936117" cy="5943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546854" y="3745277"/>
            <a:ext cx="9361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6" b="1" dirty="0">
                <a:solidFill>
                  <a:schemeClr val="tx2"/>
                </a:solidFill>
              </a:rPr>
              <a:t>探さないと</a:t>
            </a:r>
            <a:endParaRPr lang="en-US" sz="1056" dirty="0"/>
          </a:p>
          <a:p>
            <a:pPr algn="ctr"/>
            <a:r>
              <a:rPr lang="en-US" sz="1056" b="1" dirty="0">
                <a:solidFill>
                  <a:schemeClr val="tx2"/>
                </a:solidFill>
              </a:rPr>
              <a:t>見つからない</a:t>
            </a:r>
            <a:endParaRPr lang="en-US" sz="1056" dirty="0"/>
          </a:p>
        </p:txBody>
      </p:sp>
      <p:sp>
        <p:nvSpPr>
          <p:cNvPr id="44" name="Text 42"/>
          <p:cNvSpPr txBox="1"/>
          <p:nvPr/>
        </p:nvSpPr>
        <p:spPr>
          <a:xfrm>
            <a:off x="445770" y="5268325"/>
            <a:ext cx="512635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94" dirty="0">
                <a:solidFill>
                  <a:schemeClr val="accent5"/>
                </a:solidFill>
              </a:rPr>
              <a:t>※20年間の蓄積のイメージ</a:t>
            </a:r>
            <a:endParaRPr lang="en-US" sz="894" dirty="0"/>
          </a:p>
        </p:txBody>
      </p:sp>
      <p:sp>
        <p:nvSpPr>
          <p:cNvPr id="45" name="past-card"/>
          <p:cNvSpPr/>
          <p:nvPr/>
        </p:nvSpPr>
        <p:spPr>
          <a:xfrm>
            <a:off x="5869305" y="1850755"/>
            <a:ext cx="3566160" cy="1411605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9337" y="1999344"/>
            <a:ext cx="3157538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63" b="1" dirty="0">
                <a:solidFill>
                  <a:schemeClr val="accent1"/>
                </a:solidFill>
              </a:rPr>
              <a:t>これまで</a:t>
            </a:r>
            <a:endParaRPr lang="en-US" sz="1463" dirty="0"/>
          </a:p>
          <a:p>
            <a:pPr>
              <a:lnSpc>
                <a:spcPct val="115000"/>
              </a:lnSpc>
            </a:pPr>
            <a:r>
              <a:rPr lang="en-US" sz="1463" b="1" dirty="0"/>
              <a:t>誰かが怠けたのではなく、</a:t>
            </a:r>
            <a:endParaRPr lang="en-US" sz="1463" dirty="0"/>
          </a:p>
          <a:p>
            <a:pPr>
              <a:lnSpc>
                <a:spcPct val="115000"/>
              </a:lnSpc>
            </a:pPr>
            <a:r>
              <a:rPr lang="en-US" sz="1463" b="1" dirty="0"/>
              <a:t>物が上から下に落ちるように、</a:t>
            </a:r>
            <a:endParaRPr lang="en-US" sz="1463" dirty="0"/>
          </a:p>
          <a:p>
            <a:pPr>
              <a:lnSpc>
                <a:spcPct val="115000"/>
              </a:lnSpc>
            </a:pPr>
            <a:r>
              <a:rPr lang="en-US" sz="1463" b="1" dirty="0"/>
              <a:t>日々の忙しさの中の自然な流れ</a:t>
            </a:r>
            <a:endParaRPr lang="en-US" sz="1463" dirty="0"/>
          </a:p>
        </p:txBody>
      </p:sp>
      <p:sp>
        <p:nvSpPr>
          <p:cNvPr id="47" name="future-card"/>
          <p:cNvSpPr/>
          <p:nvPr/>
        </p:nvSpPr>
        <p:spPr>
          <a:xfrm>
            <a:off x="5869305" y="3410950"/>
            <a:ext cx="3566160" cy="1411605"/>
          </a:xfrm>
          <a:prstGeom prst="roundRect">
            <a:avLst>
              <a:gd name="adj" fmla="val 7895"/>
            </a:avLst>
          </a:prstGeom>
          <a:solidFill>
            <a:schemeClr val="tx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129337" y="3559539"/>
            <a:ext cx="3157538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63" b="1" dirty="0">
                <a:solidFill>
                  <a:schemeClr val="accent2"/>
                </a:solidFill>
              </a:rPr>
              <a:t>これから</a:t>
            </a:r>
            <a:endParaRPr lang="en-US" sz="1463" dirty="0"/>
          </a:p>
          <a:p>
            <a:pPr>
              <a:lnSpc>
                <a:spcPct val="115000"/>
              </a:lnSpc>
            </a:pPr>
            <a:r>
              <a:rPr lang="en-US" sz="1463" b="1" dirty="0">
                <a:solidFill>
                  <a:schemeClr val="bg1"/>
                </a:solidFill>
              </a:rPr>
              <a:t>今の働き方に合わせて見直す時期。</a:t>
            </a:r>
            <a:endParaRPr lang="en-US" sz="1463" dirty="0"/>
          </a:p>
          <a:p>
            <a:pPr>
              <a:lnSpc>
                <a:spcPct val="115000"/>
              </a:lnSpc>
            </a:pPr>
            <a:r>
              <a:rPr lang="ja-JP" altLang="en-US" sz="1463" b="1" dirty="0">
                <a:solidFill>
                  <a:schemeClr val="bg1"/>
                </a:solidFill>
              </a:rPr>
              <a:t>じわじわと時間を奪う、</a:t>
            </a:r>
            <a:r>
              <a:rPr lang="en-US" sz="1463" b="1" dirty="0">
                <a:solidFill>
                  <a:schemeClr val="bg1"/>
                </a:solidFill>
              </a:rPr>
              <a:t>物</a:t>
            </a:r>
            <a:r>
              <a:rPr lang="ja-JP" altLang="en-US" sz="1463" b="1" dirty="0">
                <a:solidFill>
                  <a:schemeClr val="bg1"/>
                </a:solidFill>
              </a:rPr>
              <a:t>・</a:t>
            </a:r>
            <a:r>
              <a:rPr lang="en-US" sz="1463" b="1" dirty="0" err="1">
                <a:solidFill>
                  <a:schemeClr val="bg1"/>
                </a:solidFill>
              </a:rPr>
              <a:t>情報</a:t>
            </a:r>
            <a:r>
              <a:rPr lang="ja-JP" altLang="en-US" sz="1463" b="1" dirty="0">
                <a:solidFill>
                  <a:schemeClr val="bg1"/>
                </a:solidFill>
              </a:rPr>
              <a:t>から脱却</a:t>
            </a:r>
            <a:endParaRPr lang="en-US" sz="1463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AIと並走して、土台も整える</a:t>
            </a:r>
          </a:p>
        </p:txBody>
      </p:sp>
      <p:sp>
        <p:nvSpPr>
          <p:cNvPr id="3" name="lanes-card"/>
          <p:cNvSpPr/>
          <p:nvPr/>
        </p:nvSpPr>
        <p:spPr>
          <a:xfrm>
            <a:off x="445770" y="1831658"/>
            <a:ext cx="4160520" cy="3640455"/>
          </a:xfrm>
          <a:prstGeom prst="roundRect">
            <a:avLst>
              <a:gd name="adj" fmla="val 3061"/>
            </a:avLst>
          </a:prstGeom>
          <a:solidFill>
            <a:schemeClr val="bg2"/>
          </a:solidFill>
          <a:ln/>
        </p:spPr>
      </p:sp>
      <p:sp>
        <p:nvSpPr>
          <p:cNvPr id="4" name="lane-1"/>
          <p:cNvSpPr/>
          <p:nvPr/>
        </p:nvSpPr>
        <p:spPr>
          <a:xfrm>
            <a:off x="705803" y="2128838"/>
            <a:ext cx="3640455" cy="891540"/>
          </a:xfrm>
          <a:prstGeom prst="homePlate">
            <a:avLst/>
          </a:prstGeom>
          <a:solidFill>
            <a:schemeClr val="accent2"/>
          </a:solidFill>
          <a:ln/>
        </p:spPr>
      </p:sp>
      <p:pic>
        <p:nvPicPr>
          <p:cNvPr id="5" name="lane-icon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8" y="2351723"/>
            <a:ext cx="445770" cy="4457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60195" y="2128838"/>
            <a:ext cx="237744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88" b="1" dirty="0">
                <a:solidFill>
                  <a:schemeClr val="bg1"/>
                </a:solidFill>
              </a:rPr>
              <a:t>AI活用</a:t>
            </a:r>
            <a:endParaRPr lang="en-US" sz="1788" dirty="0"/>
          </a:p>
        </p:txBody>
      </p:sp>
      <p:sp>
        <p:nvSpPr>
          <p:cNvPr id="7" name="lane-2"/>
          <p:cNvSpPr/>
          <p:nvPr/>
        </p:nvSpPr>
        <p:spPr>
          <a:xfrm>
            <a:off x="705803" y="3243263"/>
            <a:ext cx="3640455" cy="891540"/>
          </a:xfrm>
          <a:prstGeom prst="homePlate">
            <a:avLst/>
          </a:prstGeom>
          <a:solidFill>
            <a:schemeClr val="tx2"/>
          </a:solidFill>
          <a:ln/>
        </p:spPr>
      </p:sp>
      <p:pic>
        <p:nvPicPr>
          <p:cNvPr id="8" name="lane-icon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688" y="3466148"/>
            <a:ext cx="445770" cy="445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60195" y="3243263"/>
            <a:ext cx="237744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88" b="1" dirty="0">
                <a:solidFill>
                  <a:schemeClr val="bg1"/>
                </a:solidFill>
              </a:rPr>
              <a:t>土台づくり</a:t>
            </a:r>
            <a:endParaRPr lang="en-US" sz="1788" dirty="0"/>
          </a:p>
          <a:p>
            <a:r>
              <a:rPr lang="en-US" sz="1219" b="1" dirty="0">
                <a:solidFill>
                  <a:schemeClr val="bg1"/>
                </a:solidFill>
              </a:rPr>
              <a:t>置き方・背景・更新の仕方</a:t>
            </a:r>
            <a:endParaRPr lang="en-US" sz="1788" dirty="0"/>
          </a:p>
        </p:txBody>
      </p:sp>
      <p:sp>
        <p:nvSpPr>
          <p:cNvPr id="10" name="Text 6"/>
          <p:cNvSpPr txBox="1"/>
          <p:nvPr/>
        </p:nvSpPr>
        <p:spPr>
          <a:xfrm>
            <a:off x="445770" y="4543425"/>
            <a:ext cx="4160520" cy="705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25" b="1" dirty="0">
                <a:solidFill>
                  <a:schemeClr val="tx2"/>
                </a:solidFill>
              </a:rPr>
              <a:t>これから作るものから、</a:t>
            </a:r>
            <a:endParaRPr lang="en-US" sz="1625" dirty="0"/>
          </a:p>
          <a:p>
            <a:pPr algn="ctr"/>
            <a:r>
              <a:rPr lang="en-US" sz="1625" b="1" dirty="0">
                <a:solidFill>
                  <a:schemeClr val="tx2"/>
                </a:solidFill>
              </a:rPr>
              <a:t>この目線で</a:t>
            </a:r>
            <a:endParaRPr lang="en-US" sz="1625" dirty="0"/>
          </a:p>
        </p:txBody>
      </p:sp>
      <p:sp>
        <p:nvSpPr>
          <p:cNvPr id="11" name="why-icon-1-bg"/>
          <p:cNvSpPr/>
          <p:nvPr/>
        </p:nvSpPr>
        <p:spPr>
          <a:xfrm>
            <a:off x="4977765" y="1980248"/>
            <a:ext cx="742950" cy="74295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why-icon-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503" y="2165985"/>
            <a:ext cx="371475" cy="3714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1905953"/>
            <a:ext cx="349186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88" b="1" dirty="0">
                <a:solidFill>
                  <a:schemeClr val="tx2"/>
                </a:solidFill>
              </a:rPr>
              <a:t>AIも人も、探せる</a:t>
            </a:r>
            <a:endParaRPr lang="en-US" sz="1788" dirty="0"/>
          </a:p>
        </p:txBody>
      </p:sp>
      <p:sp>
        <p:nvSpPr>
          <p:cNvPr id="14" name="Text 9"/>
          <p:cNvSpPr txBox="1"/>
          <p:nvPr/>
        </p:nvSpPr>
        <p:spPr>
          <a:xfrm>
            <a:off x="5943600" y="2426018"/>
            <a:ext cx="3491865" cy="965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1300" dirty="0"/>
              <a:t>置き方や背景が整っていれば、</a:t>
            </a:r>
          </a:p>
          <a:p>
            <a:pPr>
              <a:lnSpc>
                <a:spcPct val="120000"/>
              </a:lnSpc>
            </a:pPr>
            <a:r>
              <a:rPr lang="en-US" sz="1300" dirty="0"/>
              <a:t>AIも人も必要な情報にたどり着けます</a:t>
            </a:r>
          </a:p>
        </p:txBody>
      </p:sp>
      <p:sp>
        <p:nvSpPr>
          <p:cNvPr id="15" name="why-icon-2-bg"/>
          <p:cNvSpPr/>
          <p:nvPr/>
        </p:nvSpPr>
        <p:spPr>
          <a:xfrm>
            <a:off x="4977765" y="3874770"/>
            <a:ext cx="742950" cy="74295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why-icon-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3503" y="4060508"/>
            <a:ext cx="371475" cy="3714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3800475"/>
            <a:ext cx="349186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88" b="1" dirty="0">
                <a:solidFill>
                  <a:schemeClr val="tx2"/>
                </a:solidFill>
              </a:rPr>
              <a:t>未来の同僚に、引き継げる</a:t>
            </a:r>
            <a:endParaRPr lang="en-US" sz="1788" dirty="0"/>
          </a:p>
        </p:txBody>
      </p:sp>
      <p:sp>
        <p:nvSpPr>
          <p:cNvPr id="18" name="Text 12"/>
          <p:cNvSpPr txBox="1"/>
          <p:nvPr/>
        </p:nvSpPr>
        <p:spPr>
          <a:xfrm>
            <a:off x="5943600" y="4320540"/>
            <a:ext cx="3491865" cy="965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1300" dirty="0"/>
              <a:t>これから大きく変わる時代。</a:t>
            </a:r>
          </a:p>
          <a:p>
            <a:pPr>
              <a:lnSpc>
                <a:spcPct val="120000"/>
              </a:lnSpc>
            </a:pPr>
            <a:r>
              <a:rPr lang="en-US" sz="1300" dirty="0"/>
              <a:t>数年後に人が入れ替わっても</a:t>
            </a:r>
          </a:p>
          <a:p>
            <a:pPr>
              <a:lnSpc>
                <a:spcPct val="120000"/>
              </a:lnSpc>
            </a:pPr>
            <a:r>
              <a:rPr lang="en-US" sz="1300" dirty="0"/>
              <a:t>引き継げる状態にしておきたい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/>
              <a:t>あるあるは、こんな動きで</a:t>
            </a:r>
            <a:r>
              <a:rPr lang="ja-JP" altLang="en-US" dirty="0"/>
              <a:t>対応中です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445770" y="1271254"/>
            <a:ext cx="319468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8" b="1" dirty="0">
                <a:solidFill>
                  <a:schemeClr val="accent3"/>
                </a:solidFill>
              </a:rPr>
              <a:t>あるある</a:t>
            </a:r>
            <a:endParaRPr lang="en-US" sz="1138" dirty="0"/>
          </a:p>
        </p:txBody>
      </p:sp>
      <p:sp>
        <p:nvSpPr>
          <p:cNvPr id="4" name="Text 2"/>
          <p:cNvSpPr txBox="1"/>
          <p:nvPr/>
        </p:nvSpPr>
        <p:spPr>
          <a:xfrm>
            <a:off x="4086225" y="1271254"/>
            <a:ext cx="408622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8" b="1" dirty="0">
                <a:solidFill>
                  <a:schemeClr val="accent1"/>
                </a:solidFill>
              </a:rPr>
              <a:t>解決の動き</a:t>
            </a:r>
            <a:endParaRPr lang="en-US" sz="1138" dirty="0"/>
          </a:p>
        </p:txBody>
      </p:sp>
      <p:sp>
        <p:nvSpPr>
          <p:cNvPr id="5" name="pain-1"/>
          <p:cNvSpPr/>
          <p:nvPr/>
        </p:nvSpPr>
        <p:spPr>
          <a:xfrm>
            <a:off x="445770" y="1605582"/>
            <a:ext cx="3194685" cy="837767"/>
          </a:xfrm>
          <a:prstGeom prst="roundRect">
            <a:avLst>
              <a:gd name="adj" fmla="val 11628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pain-icon-1-bg"/>
          <p:cNvSpPr/>
          <p:nvPr/>
        </p:nvSpPr>
        <p:spPr>
          <a:xfrm>
            <a:off x="594360" y="1821036"/>
            <a:ext cx="416052" cy="44151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pain-icon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373" y="1918307"/>
            <a:ext cx="208026" cy="22075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51572" y="1605582"/>
            <a:ext cx="2414588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前にどう答えたっけ？</a:t>
            </a:r>
            <a:endParaRPr lang="en-US" sz="1300" dirty="0"/>
          </a:p>
        </p:txBody>
      </p:sp>
      <p:pic>
        <p:nvPicPr>
          <p:cNvPr id="9" name="sol-arrow-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898" y="1813608"/>
            <a:ext cx="222885" cy="292244"/>
          </a:xfrm>
          <a:prstGeom prst="rect">
            <a:avLst/>
          </a:prstGeom>
        </p:spPr>
      </p:pic>
      <p:sp>
        <p:nvSpPr>
          <p:cNvPr id="10" name="solution-1"/>
          <p:cNvSpPr/>
          <p:nvPr/>
        </p:nvSpPr>
        <p:spPr>
          <a:xfrm>
            <a:off x="4086225" y="1605582"/>
            <a:ext cx="5349240" cy="837767"/>
          </a:xfrm>
          <a:prstGeom prst="roundRect">
            <a:avLst>
              <a:gd name="adj" fmla="val 17442"/>
            </a:avLst>
          </a:prstGeom>
          <a:solidFill>
            <a:schemeClr val="bg2"/>
          </a:solidFill>
          <a:ln w="38100">
            <a:solidFill>
              <a:schemeClr val="tx1"/>
            </a:solidFill>
            <a:prstDash val="lgDash"/>
          </a:ln>
        </p:spPr>
      </p:sp>
      <p:sp>
        <p:nvSpPr>
          <p:cNvPr id="11" name="Text 7"/>
          <p:cNvSpPr txBox="1"/>
          <p:nvPr/>
        </p:nvSpPr>
        <p:spPr>
          <a:xfrm>
            <a:off x="4309110" y="1605582"/>
            <a:ext cx="3937635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3" b="1" dirty="0">
                <a:solidFill>
                  <a:schemeClr val="tx2"/>
                </a:solidFill>
              </a:rPr>
              <a:t>FAQ</a:t>
            </a:r>
            <a:endParaRPr lang="en-US" sz="1463" dirty="0"/>
          </a:p>
          <a:p>
            <a:r>
              <a:rPr lang="en-US" sz="1056" dirty="0"/>
              <a:t>よくある質問と答えを、みんなで使える形に</a:t>
            </a:r>
            <a:endParaRPr lang="en-US" sz="1463" dirty="0"/>
          </a:p>
        </p:txBody>
      </p:sp>
      <p:sp>
        <p:nvSpPr>
          <p:cNvPr id="12" name="status-1"/>
          <p:cNvSpPr/>
          <p:nvPr/>
        </p:nvSpPr>
        <p:spPr>
          <a:xfrm>
            <a:off x="8321040" y="1769031"/>
            <a:ext cx="965835" cy="40914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321040" y="1769031"/>
            <a:ext cx="965835" cy="409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6" b="1" dirty="0">
                <a:solidFill>
                  <a:schemeClr val="bg1"/>
                </a:solidFill>
              </a:rPr>
              <a:t>取り組み中</a:t>
            </a:r>
            <a:endParaRPr lang="en-US" sz="1056" dirty="0"/>
          </a:p>
        </p:txBody>
      </p:sp>
      <p:sp>
        <p:nvSpPr>
          <p:cNvPr id="14" name="pain-2"/>
          <p:cNvSpPr/>
          <p:nvPr/>
        </p:nvSpPr>
        <p:spPr>
          <a:xfrm>
            <a:off x="445770" y="2554204"/>
            <a:ext cx="3194685" cy="837767"/>
          </a:xfrm>
          <a:prstGeom prst="roundRect">
            <a:avLst>
              <a:gd name="adj" fmla="val 11628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pain-icon-2-bg"/>
          <p:cNvSpPr/>
          <p:nvPr/>
        </p:nvSpPr>
        <p:spPr>
          <a:xfrm>
            <a:off x="594360" y="2769658"/>
            <a:ext cx="416052" cy="44151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pain-icon-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373" y="2857876"/>
            <a:ext cx="208026" cy="22075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51572" y="2554204"/>
            <a:ext cx="2414588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育ったExcelが読み解けない</a:t>
            </a:r>
            <a:endParaRPr lang="en-US" sz="1300" dirty="0"/>
          </a:p>
        </p:txBody>
      </p:sp>
      <p:pic>
        <p:nvPicPr>
          <p:cNvPr id="18" name="sol-arrow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898" y="2762230"/>
            <a:ext cx="222885" cy="292244"/>
          </a:xfrm>
          <a:prstGeom prst="rect">
            <a:avLst/>
          </a:prstGeom>
        </p:spPr>
      </p:pic>
      <p:sp>
        <p:nvSpPr>
          <p:cNvPr id="19" name="solution-2"/>
          <p:cNvSpPr/>
          <p:nvPr/>
        </p:nvSpPr>
        <p:spPr>
          <a:xfrm>
            <a:off x="4086225" y="2554204"/>
            <a:ext cx="5349240" cy="837767"/>
          </a:xfrm>
          <a:prstGeom prst="roundRect">
            <a:avLst>
              <a:gd name="adj" fmla="val 17442"/>
            </a:avLst>
          </a:prstGeom>
          <a:solidFill>
            <a:schemeClr val="bg2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4309110" y="2554204"/>
            <a:ext cx="3937635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3" b="1" dirty="0">
                <a:solidFill>
                  <a:schemeClr val="tx2"/>
                </a:solidFill>
              </a:rPr>
              <a:t>シートに「目的・更新ルール」を残す</a:t>
            </a:r>
            <a:endParaRPr lang="en-US" sz="1463" dirty="0"/>
          </a:p>
          <a:p>
            <a:r>
              <a:rPr lang="en-US" sz="1056" dirty="0"/>
              <a:t>作った背景も一緒に引き継ぐ</a:t>
            </a:r>
            <a:endParaRPr lang="en-US" sz="1463" dirty="0"/>
          </a:p>
        </p:txBody>
      </p:sp>
      <p:sp>
        <p:nvSpPr>
          <p:cNvPr id="23" name="pain-3"/>
          <p:cNvSpPr/>
          <p:nvPr/>
        </p:nvSpPr>
        <p:spPr>
          <a:xfrm>
            <a:off x="445770" y="3475663"/>
            <a:ext cx="3194685" cy="837767"/>
          </a:xfrm>
          <a:prstGeom prst="roundRect">
            <a:avLst>
              <a:gd name="adj" fmla="val 11628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pain-icon-3-bg"/>
          <p:cNvSpPr/>
          <p:nvPr/>
        </p:nvSpPr>
        <p:spPr>
          <a:xfrm>
            <a:off x="594360" y="3691117"/>
            <a:ext cx="416052" cy="44151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ain-icon-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373" y="3779335"/>
            <a:ext cx="208026" cy="22075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151572" y="3475663"/>
            <a:ext cx="2414588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去年の資料、どこに置いたっけ？</a:t>
            </a:r>
            <a:endParaRPr lang="en-US" sz="1300" dirty="0"/>
          </a:p>
        </p:txBody>
      </p:sp>
      <p:pic>
        <p:nvPicPr>
          <p:cNvPr id="27" name="sol-arrow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898" y="3683689"/>
            <a:ext cx="222885" cy="292244"/>
          </a:xfrm>
          <a:prstGeom prst="rect">
            <a:avLst/>
          </a:prstGeom>
        </p:spPr>
      </p:pic>
      <p:sp>
        <p:nvSpPr>
          <p:cNvPr id="28" name="solution-3"/>
          <p:cNvSpPr/>
          <p:nvPr/>
        </p:nvSpPr>
        <p:spPr>
          <a:xfrm>
            <a:off x="4086225" y="3475663"/>
            <a:ext cx="5349240" cy="837767"/>
          </a:xfrm>
          <a:prstGeom prst="roundRect">
            <a:avLst>
              <a:gd name="adj" fmla="val 17442"/>
            </a:avLst>
          </a:prstGeom>
          <a:solidFill>
            <a:schemeClr val="bg2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4309110" y="3475663"/>
            <a:ext cx="3937635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3" b="1" dirty="0">
                <a:solidFill>
                  <a:schemeClr val="tx2"/>
                </a:solidFill>
              </a:rPr>
              <a:t>フォルダ構成の説明とファイルパスを残す</a:t>
            </a:r>
            <a:endParaRPr lang="en-US" sz="1463" dirty="0"/>
          </a:p>
          <a:p>
            <a:r>
              <a:rPr lang="en-US" sz="1056" dirty="0"/>
              <a:t>構成を説明するシートを置く・印刷物にはファイルパスを印字する</a:t>
            </a:r>
            <a:endParaRPr lang="en-US" sz="1463" dirty="0"/>
          </a:p>
        </p:txBody>
      </p:sp>
      <p:sp>
        <p:nvSpPr>
          <p:cNvPr id="32" name="pain-4"/>
          <p:cNvSpPr/>
          <p:nvPr/>
        </p:nvSpPr>
        <p:spPr>
          <a:xfrm>
            <a:off x="445770" y="4379014"/>
            <a:ext cx="3194685" cy="837767"/>
          </a:xfrm>
          <a:prstGeom prst="roundRect">
            <a:avLst>
              <a:gd name="adj" fmla="val 11628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3" name="pain-icon-4-bg"/>
          <p:cNvSpPr/>
          <p:nvPr/>
        </p:nvSpPr>
        <p:spPr>
          <a:xfrm>
            <a:off x="594360" y="4594468"/>
            <a:ext cx="416052" cy="44151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4" name="pain-icon-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373" y="4673633"/>
            <a:ext cx="208026" cy="220755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151572" y="4379014"/>
            <a:ext cx="2414588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ケーブルが合わない。どこ？</a:t>
            </a:r>
            <a:endParaRPr lang="en-US" sz="1300" dirty="0"/>
          </a:p>
        </p:txBody>
      </p:sp>
      <p:pic>
        <p:nvPicPr>
          <p:cNvPr id="36" name="sol-arrow-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898" y="4587040"/>
            <a:ext cx="222885" cy="292244"/>
          </a:xfrm>
          <a:prstGeom prst="rect">
            <a:avLst/>
          </a:prstGeom>
        </p:spPr>
      </p:pic>
      <p:sp>
        <p:nvSpPr>
          <p:cNvPr id="37" name="solution-4"/>
          <p:cNvSpPr/>
          <p:nvPr/>
        </p:nvSpPr>
        <p:spPr>
          <a:xfrm>
            <a:off x="4086225" y="4379014"/>
            <a:ext cx="5349240" cy="837767"/>
          </a:xfrm>
          <a:prstGeom prst="roundRect">
            <a:avLst>
              <a:gd name="adj" fmla="val 17442"/>
            </a:avLst>
          </a:prstGeom>
          <a:solidFill>
            <a:schemeClr val="bg2"/>
          </a:solidFill>
          <a:ln/>
        </p:spPr>
      </p:sp>
      <p:sp>
        <p:nvSpPr>
          <p:cNvPr id="38" name="Text 28"/>
          <p:cNvSpPr txBox="1"/>
          <p:nvPr/>
        </p:nvSpPr>
        <p:spPr>
          <a:xfrm>
            <a:off x="4309110" y="4379014"/>
            <a:ext cx="3937635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sz="1463" b="1" dirty="0">
                <a:solidFill>
                  <a:schemeClr val="tx2"/>
                </a:solidFill>
              </a:rPr>
              <a:t>整理整頓</a:t>
            </a:r>
            <a:endParaRPr lang="en-US" sz="1463" dirty="0"/>
          </a:p>
          <a:p>
            <a:r>
              <a:rPr lang="en-US" sz="1056" dirty="0"/>
              <a:t>物の「住所」を決めて、迷わず取り出せる</a:t>
            </a:r>
            <a:endParaRPr lang="en-US" sz="1463" dirty="0"/>
          </a:p>
        </p:txBody>
      </p:sp>
      <p:sp>
        <p:nvSpPr>
          <p:cNvPr id="39" name="status-4"/>
          <p:cNvSpPr/>
          <p:nvPr/>
        </p:nvSpPr>
        <p:spPr>
          <a:xfrm>
            <a:off x="8321040" y="4542463"/>
            <a:ext cx="965835" cy="40914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0" name="Text 30"/>
          <p:cNvSpPr txBox="1"/>
          <p:nvPr/>
        </p:nvSpPr>
        <p:spPr>
          <a:xfrm>
            <a:off x="8321040" y="4542463"/>
            <a:ext cx="965835" cy="409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056" b="1" dirty="0">
                <a:solidFill>
                  <a:schemeClr val="tx2"/>
                </a:solidFill>
              </a:rPr>
              <a:t>これから</a:t>
            </a:r>
            <a:endParaRPr lang="en-US" sz="1056" dirty="0"/>
          </a:p>
        </p:txBody>
      </p:sp>
      <p:sp>
        <p:nvSpPr>
          <p:cNvPr id="41" name="pain-5"/>
          <p:cNvSpPr/>
          <p:nvPr/>
        </p:nvSpPr>
        <p:spPr>
          <a:xfrm>
            <a:off x="445770" y="5309528"/>
            <a:ext cx="3194685" cy="837767"/>
          </a:xfrm>
          <a:prstGeom prst="roundRect">
            <a:avLst>
              <a:gd name="adj" fmla="val 11628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2" name="pain-icon-5-bg"/>
          <p:cNvSpPr/>
          <p:nvPr/>
        </p:nvSpPr>
        <p:spPr>
          <a:xfrm>
            <a:off x="594360" y="5524982"/>
            <a:ext cx="416052" cy="44151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3" name="pain-icon-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373" y="5613200"/>
            <a:ext cx="208026" cy="220755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1151572" y="5309528"/>
            <a:ext cx="2414588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誰かが開いていて編集できない</a:t>
            </a:r>
            <a:endParaRPr lang="en-US" sz="1300" dirty="0"/>
          </a:p>
        </p:txBody>
      </p:sp>
      <p:pic>
        <p:nvPicPr>
          <p:cNvPr id="45" name="sol-arrow-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898" y="5517554"/>
            <a:ext cx="222885" cy="292244"/>
          </a:xfrm>
          <a:prstGeom prst="rect">
            <a:avLst/>
          </a:prstGeom>
        </p:spPr>
      </p:pic>
      <p:sp>
        <p:nvSpPr>
          <p:cNvPr id="46" name="solution-5"/>
          <p:cNvSpPr/>
          <p:nvPr/>
        </p:nvSpPr>
        <p:spPr>
          <a:xfrm>
            <a:off x="4086225" y="5309528"/>
            <a:ext cx="5349240" cy="837767"/>
          </a:xfrm>
          <a:prstGeom prst="roundRect">
            <a:avLst>
              <a:gd name="adj" fmla="val 17442"/>
            </a:avLst>
          </a:prstGeom>
          <a:solidFill>
            <a:schemeClr val="bg2"/>
          </a:solidFill>
          <a:ln/>
        </p:spPr>
      </p:sp>
      <p:sp>
        <p:nvSpPr>
          <p:cNvPr id="47" name="Text 35"/>
          <p:cNvSpPr txBox="1"/>
          <p:nvPr/>
        </p:nvSpPr>
        <p:spPr>
          <a:xfrm>
            <a:off x="4309110" y="5309528"/>
            <a:ext cx="3937635" cy="83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3" b="1" dirty="0">
                <a:solidFill>
                  <a:schemeClr val="tx2"/>
                </a:solidFill>
              </a:rPr>
              <a:t>同時に編集できる形で管理する</a:t>
            </a:r>
            <a:endParaRPr lang="en-US" sz="1463" dirty="0"/>
          </a:p>
          <a:p>
            <a:r>
              <a:rPr lang="en-US" sz="1056" dirty="0" err="1"/>
              <a:t>待たずに、それぞれ更新できる</a:t>
            </a:r>
            <a:endParaRPr lang="en-US" sz="1463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 dirty="0"/>
          </a:p>
        </p:txBody>
      </p:sp>
      <p:sp>
        <p:nvSpPr>
          <p:cNvPr id="52" name="status-1">
            <a:extLst>
              <a:ext uri="{FF2B5EF4-FFF2-40B4-BE49-F238E27FC236}">
                <a16:creationId xmlns:a16="http://schemas.microsoft.com/office/drawing/2014/main" id="{AEE54633-9A00-593A-01F2-CCD5F1FD9C15}"/>
              </a:ext>
            </a:extLst>
          </p:cNvPr>
          <p:cNvSpPr/>
          <p:nvPr/>
        </p:nvSpPr>
        <p:spPr>
          <a:xfrm>
            <a:off x="8321040" y="2725789"/>
            <a:ext cx="965835" cy="40914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4" name="Text 9">
            <a:extLst>
              <a:ext uri="{FF2B5EF4-FFF2-40B4-BE49-F238E27FC236}">
                <a16:creationId xmlns:a16="http://schemas.microsoft.com/office/drawing/2014/main" id="{E2F966F4-35CA-03E0-B17C-1572D733EC47}"/>
              </a:ext>
            </a:extLst>
          </p:cNvPr>
          <p:cNvSpPr txBox="1"/>
          <p:nvPr/>
        </p:nvSpPr>
        <p:spPr>
          <a:xfrm>
            <a:off x="8321040" y="2725789"/>
            <a:ext cx="965835" cy="409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6" b="1" dirty="0">
                <a:solidFill>
                  <a:schemeClr val="bg1"/>
                </a:solidFill>
              </a:rPr>
              <a:t>取り組み中</a:t>
            </a:r>
            <a:endParaRPr lang="en-US" sz="1056" dirty="0"/>
          </a:p>
        </p:txBody>
      </p:sp>
      <p:sp>
        <p:nvSpPr>
          <p:cNvPr id="56" name="status-1">
            <a:extLst>
              <a:ext uri="{FF2B5EF4-FFF2-40B4-BE49-F238E27FC236}">
                <a16:creationId xmlns:a16="http://schemas.microsoft.com/office/drawing/2014/main" id="{3D9F1A18-B28E-4157-EF5B-BC49F889DB40}"/>
              </a:ext>
            </a:extLst>
          </p:cNvPr>
          <p:cNvSpPr/>
          <p:nvPr/>
        </p:nvSpPr>
        <p:spPr>
          <a:xfrm>
            <a:off x="8321040" y="3639112"/>
            <a:ext cx="965835" cy="40914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23599FED-E1FE-4E29-8BC4-F279CA78CDD9}"/>
              </a:ext>
            </a:extLst>
          </p:cNvPr>
          <p:cNvSpPr txBox="1"/>
          <p:nvPr/>
        </p:nvSpPr>
        <p:spPr>
          <a:xfrm>
            <a:off x="8321040" y="3639112"/>
            <a:ext cx="965835" cy="409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6" b="1" dirty="0">
                <a:solidFill>
                  <a:schemeClr val="bg1"/>
                </a:solidFill>
              </a:rPr>
              <a:t>取り組み中</a:t>
            </a:r>
            <a:endParaRPr lang="en-US" sz="1056" dirty="0"/>
          </a:p>
        </p:txBody>
      </p:sp>
      <p:sp>
        <p:nvSpPr>
          <p:cNvPr id="60" name="status-4">
            <a:extLst>
              <a:ext uri="{FF2B5EF4-FFF2-40B4-BE49-F238E27FC236}">
                <a16:creationId xmlns:a16="http://schemas.microsoft.com/office/drawing/2014/main" id="{E5BBDC20-550C-F639-05BF-1E7D8D95F43A}"/>
              </a:ext>
            </a:extLst>
          </p:cNvPr>
          <p:cNvSpPr/>
          <p:nvPr/>
        </p:nvSpPr>
        <p:spPr>
          <a:xfrm>
            <a:off x="8321040" y="5491727"/>
            <a:ext cx="965835" cy="40914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2" name="Text 30">
            <a:extLst>
              <a:ext uri="{FF2B5EF4-FFF2-40B4-BE49-F238E27FC236}">
                <a16:creationId xmlns:a16="http://schemas.microsoft.com/office/drawing/2014/main" id="{6282D6D3-972F-D0CF-5086-34525B3AACAC}"/>
              </a:ext>
            </a:extLst>
          </p:cNvPr>
          <p:cNvSpPr txBox="1"/>
          <p:nvPr/>
        </p:nvSpPr>
        <p:spPr>
          <a:xfrm>
            <a:off x="8321040" y="5491727"/>
            <a:ext cx="965835" cy="409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ja-JP" altLang="en-US" sz="1056" b="1" dirty="0">
                <a:solidFill>
                  <a:schemeClr val="tx2"/>
                </a:solidFill>
              </a:rPr>
              <a:t>これから</a:t>
            </a:r>
            <a:endParaRPr lang="en-US" sz="1056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第二段階のFAQを作ってみて、見えたこと</a:t>
            </a:r>
          </a:p>
        </p:txBody>
      </p:sp>
      <p:sp>
        <p:nvSpPr>
          <p:cNvPr id="3" name="result-1"/>
          <p:cNvSpPr/>
          <p:nvPr/>
        </p:nvSpPr>
        <p:spPr>
          <a:xfrm>
            <a:off x="445770" y="1112506"/>
            <a:ext cx="4383405" cy="1086123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result-icon-1-bg"/>
          <p:cNvSpPr/>
          <p:nvPr/>
        </p:nvSpPr>
        <p:spPr>
          <a:xfrm>
            <a:off x="615588" y="1223948"/>
            <a:ext cx="898615" cy="8968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result-icon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41" y="1447717"/>
            <a:ext cx="449308" cy="4493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088" y="1116039"/>
            <a:ext cx="3092087" cy="52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13" b="1" dirty="0">
                <a:solidFill>
                  <a:schemeClr val="tx2"/>
                </a:solidFill>
              </a:rPr>
              <a:t>電話対応の習得に</a:t>
            </a:r>
            <a:endParaRPr lang="en-US" sz="2113" dirty="0"/>
          </a:p>
        </p:txBody>
      </p:sp>
      <p:sp>
        <p:nvSpPr>
          <p:cNvPr id="7" name="Text 4"/>
          <p:cNvSpPr txBox="1"/>
          <p:nvPr/>
        </p:nvSpPr>
        <p:spPr>
          <a:xfrm>
            <a:off x="1061357" y="1340698"/>
            <a:ext cx="3789045" cy="965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/>
              <a:t>認定チームが新たに電話対応を</a:t>
            </a:r>
          </a:p>
          <a:p>
            <a:pPr algn="ctr">
              <a:lnSpc>
                <a:spcPct val="120000"/>
              </a:lnSpc>
            </a:pPr>
            <a:r>
              <a:rPr lang="en-US" sz="1400" dirty="0"/>
              <a:t>習得するときに活躍しました</a:t>
            </a:r>
          </a:p>
        </p:txBody>
      </p:sp>
      <p:sp>
        <p:nvSpPr>
          <p:cNvPr id="8" name="result-2"/>
          <p:cNvSpPr/>
          <p:nvPr/>
        </p:nvSpPr>
        <p:spPr>
          <a:xfrm>
            <a:off x="5052060" y="1112506"/>
            <a:ext cx="4383405" cy="1086123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result-icon-2-bg"/>
          <p:cNvSpPr/>
          <p:nvPr/>
        </p:nvSpPr>
        <p:spPr>
          <a:xfrm>
            <a:off x="5221878" y="1223948"/>
            <a:ext cx="898615" cy="8968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result-icon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6531" y="1447717"/>
            <a:ext cx="449308" cy="4493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24804" y="1136381"/>
            <a:ext cx="3036366" cy="52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13" b="1" dirty="0">
                <a:solidFill>
                  <a:schemeClr val="tx2"/>
                </a:solidFill>
              </a:rPr>
              <a:t>自学自習に</a:t>
            </a:r>
            <a:endParaRPr lang="en-US" sz="2113" dirty="0"/>
          </a:p>
        </p:txBody>
      </p:sp>
      <p:sp>
        <p:nvSpPr>
          <p:cNvPr id="12" name="Text 8"/>
          <p:cNvSpPr txBox="1"/>
          <p:nvPr/>
        </p:nvSpPr>
        <p:spPr>
          <a:xfrm>
            <a:off x="5667647" y="1340698"/>
            <a:ext cx="3789045" cy="965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/>
              <a:t>「過去にこんなQAがあったのか」と、</a:t>
            </a:r>
          </a:p>
          <a:p>
            <a:pPr algn="ctr">
              <a:lnSpc>
                <a:spcPct val="120000"/>
              </a:lnSpc>
            </a:pPr>
            <a:r>
              <a:rPr lang="en-US" sz="1400" dirty="0"/>
              <a:t>自分で学ぶためにも使われています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5770" y="360000"/>
            <a:ext cx="8989695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作るより、育て続けるほうが難しい</a:t>
            </a:r>
          </a:p>
        </p:txBody>
      </p:sp>
      <p:sp>
        <p:nvSpPr>
          <p:cNvPr id="3" name="flow-1"/>
          <p:cNvSpPr/>
          <p:nvPr/>
        </p:nvSpPr>
        <p:spPr>
          <a:xfrm>
            <a:off x="445770" y="1469522"/>
            <a:ext cx="2823210" cy="222885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low-icon-1-bg"/>
          <p:cNvSpPr/>
          <p:nvPr/>
        </p:nvSpPr>
        <p:spPr>
          <a:xfrm>
            <a:off x="668655" y="1692407"/>
            <a:ext cx="668655" cy="668655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flow-icon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19" y="1859570"/>
            <a:ext cx="334328" cy="334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85900" y="1692407"/>
            <a:ext cx="1634490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chemeClr val="tx2"/>
                </a:solidFill>
              </a:rPr>
              <a:t>気づき</a:t>
            </a:r>
            <a:endParaRPr lang="en-US" sz="1950" dirty="0"/>
          </a:p>
        </p:txBody>
      </p:sp>
      <p:sp>
        <p:nvSpPr>
          <p:cNvPr id="7" name="Text 4"/>
          <p:cNvSpPr txBox="1"/>
          <p:nvPr/>
        </p:nvSpPr>
        <p:spPr>
          <a:xfrm>
            <a:off x="668655" y="2509652"/>
            <a:ext cx="237744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63" dirty="0"/>
              <a:t>今は役立っていても、</a:t>
            </a:r>
          </a:p>
          <a:p>
            <a:pPr>
              <a:lnSpc>
                <a:spcPct val="115000"/>
              </a:lnSpc>
            </a:pPr>
            <a:r>
              <a:rPr lang="en-US" sz="1463" dirty="0"/>
              <a:t>管理・更新が難しく、</a:t>
            </a:r>
          </a:p>
          <a:p>
            <a:pPr>
              <a:lnSpc>
                <a:spcPct val="115000"/>
              </a:lnSpc>
            </a:pPr>
            <a:r>
              <a:rPr lang="en-US" sz="1463" dirty="0"/>
              <a:t>未来につなげにくい</a:t>
            </a:r>
          </a:p>
        </p:txBody>
      </p:sp>
      <p:pic>
        <p:nvPicPr>
          <p:cNvPr id="8" name="flow-arrow-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0987" y="2502222"/>
            <a:ext cx="163449" cy="163449"/>
          </a:xfrm>
          <a:prstGeom prst="rect">
            <a:avLst/>
          </a:prstGeom>
        </p:spPr>
      </p:pic>
      <p:sp>
        <p:nvSpPr>
          <p:cNvPr id="9" name="flow-2"/>
          <p:cNvSpPr/>
          <p:nvPr/>
        </p:nvSpPr>
        <p:spPr>
          <a:xfrm>
            <a:off x="3529013" y="1469522"/>
            <a:ext cx="2823210" cy="222885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flow-icon-2-bg"/>
          <p:cNvSpPr/>
          <p:nvPr/>
        </p:nvSpPr>
        <p:spPr>
          <a:xfrm>
            <a:off x="3751898" y="1692407"/>
            <a:ext cx="668655" cy="668655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flow-icon-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9061" y="1859570"/>
            <a:ext cx="334328" cy="3343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69143" y="1692407"/>
            <a:ext cx="1634490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chemeClr val="tx2"/>
                </a:solidFill>
              </a:rPr>
              <a:t>いま</a:t>
            </a:r>
            <a:endParaRPr lang="en-US" sz="1950" dirty="0"/>
          </a:p>
        </p:txBody>
      </p:sp>
      <p:sp>
        <p:nvSpPr>
          <p:cNvPr id="13" name="Text 8"/>
          <p:cNvSpPr txBox="1"/>
          <p:nvPr/>
        </p:nvSpPr>
        <p:spPr>
          <a:xfrm>
            <a:off x="3751898" y="2509652"/>
            <a:ext cx="237744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63" dirty="0"/>
              <a:t>続けられる形を</a:t>
            </a:r>
          </a:p>
          <a:p>
            <a:pPr>
              <a:lnSpc>
                <a:spcPct val="115000"/>
              </a:lnSpc>
            </a:pPr>
            <a:r>
              <a:rPr lang="en-US" sz="1463" dirty="0"/>
              <a:t>試行中</a:t>
            </a:r>
          </a:p>
        </p:txBody>
      </p:sp>
      <p:pic>
        <p:nvPicPr>
          <p:cNvPr id="14" name="flow-arrow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4229" y="2502222"/>
            <a:ext cx="163449" cy="163449"/>
          </a:xfrm>
          <a:prstGeom prst="rect">
            <a:avLst/>
          </a:prstGeom>
        </p:spPr>
      </p:pic>
      <p:sp>
        <p:nvSpPr>
          <p:cNvPr id="15" name="flow-3"/>
          <p:cNvSpPr/>
          <p:nvPr/>
        </p:nvSpPr>
        <p:spPr>
          <a:xfrm>
            <a:off x="6612255" y="1469522"/>
            <a:ext cx="2823210" cy="222885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6" name="flow-icon-3-bg"/>
          <p:cNvSpPr/>
          <p:nvPr/>
        </p:nvSpPr>
        <p:spPr>
          <a:xfrm>
            <a:off x="6835140" y="1692407"/>
            <a:ext cx="668655" cy="668655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flow-icon-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2304" y="1859570"/>
            <a:ext cx="334328" cy="33432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652385" y="1692407"/>
            <a:ext cx="1634490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chemeClr val="tx2"/>
                </a:solidFill>
              </a:rPr>
              <a:t>展望</a:t>
            </a:r>
            <a:endParaRPr lang="en-US" sz="1950" dirty="0"/>
          </a:p>
        </p:txBody>
      </p:sp>
      <p:sp>
        <p:nvSpPr>
          <p:cNvPr id="19" name="Text 12"/>
          <p:cNvSpPr txBox="1"/>
          <p:nvPr/>
        </p:nvSpPr>
        <p:spPr>
          <a:xfrm>
            <a:off x="6835140" y="2509652"/>
            <a:ext cx="237744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63" dirty="0" err="1"/>
              <a:t>第一段階を</a:t>
            </a:r>
            <a:r>
              <a:rPr lang="ja-JP" altLang="en-US" sz="1463" dirty="0"/>
              <a:t>はじめ、</a:t>
            </a:r>
            <a:endParaRPr lang="en-US" sz="1463" dirty="0"/>
          </a:p>
          <a:p>
            <a:pPr>
              <a:lnSpc>
                <a:spcPct val="115000"/>
              </a:lnSpc>
            </a:pPr>
            <a:r>
              <a:rPr lang="en-US" sz="1463" dirty="0"/>
              <a:t>他チームにも横展開したい</a:t>
            </a:r>
          </a:p>
        </p:txBody>
      </p:sp>
      <p:sp>
        <p:nvSpPr>
          <p:cNvPr id="20" name="outlook-card"/>
          <p:cNvSpPr/>
          <p:nvPr/>
        </p:nvSpPr>
        <p:spPr>
          <a:xfrm>
            <a:off x="445770" y="4283393"/>
            <a:ext cx="8989695" cy="1188720"/>
          </a:xfrm>
          <a:prstGeom prst="roundRect">
            <a:avLst>
              <a:gd name="adj" fmla="val 9375"/>
            </a:avLst>
          </a:prstGeom>
          <a:solidFill>
            <a:schemeClr val="tx2"/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742950" y="4283393"/>
            <a:ext cx="19316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25" b="1" dirty="0">
                <a:solidFill>
                  <a:schemeClr val="accent2"/>
                </a:solidFill>
              </a:rPr>
              <a:t>横展開すると…</a:t>
            </a:r>
            <a:endParaRPr lang="en-US" sz="1625" dirty="0"/>
          </a:p>
        </p:txBody>
      </p:sp>
      <p:sp>
        <p:nvSpPr>
          <p:cNvPr id="22" name="merit-icon-1-bg"/>
          <p:cNvSpPr/>
          <p:nvPr/>
        </p:nvSpPr>
        <p:spPr>
          <a:xfrm>
            <a:off x="2823210" y="4580573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merit-icon-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1800" y="4729163"/>
            <a:ext cx="297180" cy="2971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566160" y="4394835"/>
            <a:ext cx="2451735" cy="965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63" b="1" dirty="0">
                <a:solidFill>
                  <a:schemeClr val="bg1"/>
                </a:solidFill>
              </a:rPr>
              <a:t>お互いの対応範囲が</a:t>
            </a:r>
            <a:endParaRPr lang="en-US" sz="1463" dirty="0"/>
          </a:p>
          <a:p>
            <a:pPr>
              <a:lnSpc>
                <a:spcPct val="115000"/>
              </a:lnSpc>
            </a:pPr>
            <a:r>
              <a:rPr lang="en-US" sz="1463" b="1" dirty="0">
                <a:solidFill>
                  <a:schemeClr val="bg1"/>
                </a:solidFill>
              </a:rPr>
              <a:t>すぐわかる</a:t>
            </a:r>
            <a:endParaRPr lang="en-US" sz="1463" dirty="0"/>
          </a:p>
        </p:txBody>
      </p:sp>
      <p:sp>
        <p:nvSpPr>
          <p:cNvPr id="25" name="merit-icon-2-bg"/>
          <p:cNvSpPr/>
          <p:nvPr/>
        </p:nvSpPr>
        <p:spPr>
          <a:xfrm>
            <a:off x="6092190" y="4580573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merit-icon-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0780" y="4729163"/>
            <a:ext cx="297180" cy="2971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835140" y="4394835"/>
            <a:ext cx="2451735" cy="965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63" b="1" dirty="0">
                <a:solidFill>
                  <a:schemeClr val="bg1"/>
                </a:solidFill>
              </a:rPr>
              <a:t>チームを越えて</a:t>
            </a:r>
            <a:endParaRPr lang="en-US" sz="1463" dirty="0"/>
          </a:p>
          <a:p>
            <a:pPr>
              <a:lnSpc>
                <a:spcPct val="115000"/>
              </a:lnSpc>
            </a:pPr>
            <a:r>
              <a:rPr lang="en-US" sz="1463" b="1" dirty="0">
                <a:solidFill>
                  <a:schemeClr val="bg1"/>
                </a:solidFill>
              </a:rPr>
              <a:t>ブラッシュアップが進む</a:t>
            </a:r>
            <a:endParaRPr lang="en-US" sz="1463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138285" y="6480000"/>
            <a:ext cx="445770" cy="26003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94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68655" y="2351723"/>
            <a:ext cx="854392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ja-JP" altLang="en-US" dirty="0"/>
              <a:t>それぞれの</a:t>
            </a:r>
            <a:r>
              <a:rPr lang="en-US" altLang="ja-JP" dirty="0"/>
              <a:t>20</a:t>
            </a:r>
            <a:r>
              <a:rPr lang="ja-JP" altLang="en-US" dirty="0"/>
              <a:t>分を</a:t>
            </a:r>
            <a:r>
              <a:rPr lang="en-US" dirty="0"/>
              <a:t>、</a:t>
            </a:r>
          </a:p>
          <a:p>
            <a:r>
              <a:rPr lang="ja-JP" altLang="en-US" dirty="0"/>
              <a:t>本来</a:t>
            </a:r>
            <a:r>
              <a:rPr lang="en-US" dirty="0" err="1"/>
              <a:t>やりたい仕事の時間へ</a:t>
            </a:r>
            <a:endParaRPr lang="en-US" dirty="0"/>
          </a:p>
        </p:txBody>
      </p:sp>
      <p:pic>
        <p:nvPicPr>
          <p:cNvPr id="3" name="seed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5270" y="1311593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42950" y="3837623"/>
            <a:ext cx="8469630" cy="965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463" dirty="0">
                <a:solidFill>
                  <a:schemeClr val="accent4"/>
                </a:solidFill>
              </a:rPr>
              <a:t>FAQを使い始めて、「育てる」ことの難しさが見えてきました。</a:t>
            </a:r>
            <a:endParaRPr lang="en-US" sz="1463" dirty="0"/>
          </a:p>
          <a:p>
            <a:pPr>
              <a:lnSpc>
                <a:spcPct val="130000"/>
              </a:lnSpc>
            </a:pPr>
            <a:r>
              <a:rPr lang="en-US" sz="1463" dirty="0" err="1">
                <a:solidFill>
                  <a:schemeClr val="accent4"/>
                </a:solidFill>
              </a:rPr>
              <a:t>勉強代で終わらせるのはもったいないので</a:t>
            </a:r>
            <a:r>
              <a:rPr lang="en-US" sz="1463" dirty="0">
                <a:solidFill>
                  <a:schemeClr val="accent4"/>
                </a:solidFill>
              </a:rPr>
              <a:t>、</a:t>
            </a:r>
            <a:endParaRPr lang="en-US" sz="1463" dirty="0"/>
          </a:p>
          <a:p>
            <a:pPr>
              <a:lnSpc>
                <a:spcPct val="130000"/>
              </a:lnSpc>
            </a:pPr>
            <a:r>
              <a:rPr lang="ja-JP" altLang="en-US" sz="1463" dirty="0">
                <a:solidFill>
                  <a:schemeClr val="accent4"/>
                </a:solidFill>
              </a:rPr>
              <a:t>今後</a:t>
            </a:r>
            <a:r>
              <a:rPr lang="en-US" sz="1463" dirty="0">
                <a:solidFill>
                  <a:schemeClr val="accent4"/>
                </a:solidFill>
              </a:rPr>
              <a:t>「もっとこうしたら」の意見、ぜひ言い合えたらうれしいです。</a:t>
            </a:r>
            <a:endParaRPr lang="en-US" sz="146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gasu Purple">
  <a:themeElements>
    <a:clrScheme name="Sagasu Purple">
      <a:dk1>
        <a:srgbClr val="2B2735"/>
      </a:dk1>
      <a:lt1>
        <a:srgbClr val="FFFFFF"/>
      </a:lt1>
      <a:dk2>
        <a:srgbClr val="3D2C63"/>
      </a:dk2>
      <a:lt2>
        <a:srgbClr val="F2EEF8"/>
      </a:lt2>
      <a:accent1>
        <a:srgbClr val="6B4FA0"/>
      </a:accent1>
      <a:accent2>
        <a:srgbClr val="F0A53A"/>
      </a:accent2>
      <a:accent3>
        <a:srgbClr val="E0705A"/>
      </a:accent3>
      <a:accent4>
        <a:srgbClr val="B9A8DD"/>
      </a:accent4>
      <a:accent5>
        <a:srgbClr val="8E8A99"/>
      </a:accent5>
      <a:accent6>
        <a:srgbClr val="4F7396"/>
      </a:accent6>
      <a:hlink>
        <a:srgbClr val="6B4FA0"/>
      </a:hlink>
      <a:folHlink>
        <a:srgbClr val="4F7396"/>
      </a:folHlink>
    </a:clrScheme>
    <a:fontScheme name="Sagasu Purple">
      <a:majorFont>
        <a:latin typeface="Meiryo UI"/>
        <a:ea typeface="Meiryo UI"/>
        <a:cs typeface=""/>
        <a:font script="Jpan" typeface="Meiryo UI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Meiryo UI"/>
        <a:cs typeface=""/>
        <a:font script="Jpan" typeface="Meiryo UI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Meiryo UI"/>
        <a:cs typeface=""/>
        <a:font script="Jpan" typeface="Meiryo UI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Meiryo UI"/>
        <a:cs typeface=""/>
        <a:font script="Jpan" typeface="Meiryo UI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995</Words>
  <Application>Microsoft Office PowerPoint</Application>
  <PresentationFormat>A4 210 x 297 mm</PresentationFormat>
  <Paragraphs>241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Meiryo UI</vt:lpstr>
      <vt:lpstr>Arial</vt:lpstr>
      <vt:lpstr>Cascadia Code ExtraLight</vt:lpstr>
      <vt:lpstr>Sagasu Purple</vt:lpstr>
      <vt:lpstr>探す時間を、 やりたい仕事の時間へ</vt:lpstr>
      <vt:lpstr>私の原点：最初のアサインで出会った「あるある」</vt:lpstr>
      <vt:lpstr>だから私は、チーム運営でこれを大事にしています</vt:lpstr>
      <vt:lpstr>まずは、昨日1日をふり返ってみてください</vt:lpstr>
      <vt:lpstr>答え：一般的な会社員は「B」と言われています</vt:lpstr>
      <vt:lpstr>例えば、こんな「探す・確認する・聞く・待つ」</vt:lpstr>
      <vt:lpstr>本来やるべき業務までの、4つのつまずき</vt:lpstr>
      <vt:lpstr>まずは物から。整理はゴールが見えている状態。</vt:lpstr>
      <vt:lpstr>次は情報を。誰にとっても使いやすく</vt:lpstr>
      <vt:lpstr>忙しい毎日の中で、物も情報も自然に積もっていく</vt:lpstr>
      <vt:lpstr>AIと並走して、土台も整える</vt:lpstr>
      <vt:lpstr>あるあるは、こんな動きで対応中です</vt:lpstr>
      <vt:lpstr>第二段階のFAQを作ってみて、見えたこと</vt:lpstr>
      <vt:lpstr>作るより、育て続けるほうが難しい</vt:lpstr>
      <vt:lpstr>それぞれの20分を、 本来やりたい仕事の時間へ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探す時間を、やりたい仕事の時間へ</dc:title>
  <dc:subject>PptxGenJS Presentation</dc:subject>
  <dc:creator>PptxGenJS</dc:creator>
  <cp:lastModifiedBy>ちゅ ちなー</cp:lastModifiedBy>
  <cp:revision>37</cp:revision>
  <dcterms:created xsi:type="dcterms:W3CDTF">2026-10-12T05:04:07Z</dcterms:created>
  <dcterms:modified xsi:type="dcterms:W3CDTF">2026-10-12T06:56:35Z</dcterms:modified>
</cp:coreProperties>
</file>